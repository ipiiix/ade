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23" r:id="rId3"/>
    <p:sldId id="322" r:id="rId4"/>
    <p:sldId id="321" r:id="rId5"/>
    <p:sldId id="320" r:id="rId6"/>
    <p:sldId id="326" r:id="rId7"/>
    <p:sldId id="325" r:id="rId8"/>
    <p:sldId id="324" r:id="rId9"/>
    <p:sldId id="319" r:id="rId10"/>
    <p:sldId id="327" r:id="rId11"/>
    <p:sldId id="328" r:id="rId12"/>
    <p:sldId id="332" r:id="rId13"/>
    <p:sldId id="342" r:id="rId14"/>
    <p:sldId id="340" r:id="rId15"/>
    <p:sldId id="346" r:id="rId16"/>
    <p:sldId id="348" r:id="rId17"/>
    <p:sldId id="347" r:id="rId18"/>
    <p:sldId id="331" r:id="rId19"/>
    <p:sldId id="330" r:id="rId20"/>
    <p:sldId id="329" r:id="rId21"/>
    <p:sldId id="333" r:id="rId22"/>
    <p:sldId id="335" r:id="rId23"/>
    <p:sldId id="336" r:id="rId24"/>
    <p:sldId id="338" r:id="rId25"/>
    <p:sldId id="337" r:id="rId26"/>
    <p:sldId id="341" r:id="rId27"/>
    <p:sldId id="334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ilde Lafuente Lechuga" initials="MLL" lastIdx="1" clrIdx="0">
    <p:extLst>
      <p:ext uri="{19B8F6BF-5375-455C-9EA6-DF929625EA0E}">
        <p15:presenceInfo xmlns:p15="http://schemas.microsoft.com/office/powerpoint/2012/main" userId="Matilde Lafuente Lechug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38CE1"/>
    <a:srgbClr val="FFFF99"/>
    <a:srgbClr val="99CCFF"/>
    <a:srgbClr val="ED7D31"/>
    <a:srgbClr val="FAE5DE"/>
    <a:srgbClr val="FCE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636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2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36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06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21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8512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84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73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740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71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5091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CF576-0001-4F20-992A-2A914F02A613}" type="datetimeFigureOut">
              <a:rPr lang="es-ES" smtClean="0"/>
              <a:t>10/04/2017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92A4D-5C03-4CFD-8B6A-C9F59B2971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414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0433C-A6FD-494E-9439-4741394F9850}" type="slidenum">
              <a:rPr lang="es-ES" smtClean="0"/>
              <a:t>1</a:t>
            </a:fld>
            <a:endParaRPr lang="es-ES"/>
          </a:p>
        </p:txBody>
      </p:sp>
      <p:pic>
        <p:nvPicPr>
          <p:cNvPr id="3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896" y="198884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2374661" y="1020270"/>
            <a:ext cx="93634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 smtClean="0">
                <a:solidFill>
                  <a:schemeClr val="accent2"/>
                </a:solidFill>
                <a:latin typeface="AvantGarde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Áreas de triángulos y paralelogramos</a:t>
            </a:r>
            <a:endParaRPr lang="es-ES" sz="4000" b="1" dirty="0">
              <a:solidFill>
                <a:schemeClr val="accent2"/>
              </a:solidFill>
              <a:latin typeface="AvantGarde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5087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90600" y="1349374"/>
            <a:ext cx="2133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dirty="0" err="1">
                <a:solidFill>
                  <a:srgbClr val="038CE1"/>
                </a:solidFill>
                <a:latin typeface="+mj-lt"/>
                <a:ea typeface="+mj-ea"/>
                <a:cs typeface="+mj-cs"/>
              </a:rPr>
              <a:t>Área</a:t>
            </a:r>
            <a:endParaRPr lang="en-US" altLang="es-ES" sz="4400" dirty="0">
              <a:solidFill>
                <a:srgbClr val="038CE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066799" y="1981200"/>
            <a:ext cx="10336307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/>
            <a:r>
              <a:rPr lang="en-US" altLang="es-ES" sz="3200" dirty="0" err="1" smtClean="0">
                <a:latin typeface="Times New Roman" panose="02020603050405020304" pitchFamily="18" charset="0"/>
              </a:rPr>
              <a:t>Medida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de la region o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superficie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encerrada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dentro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de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una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figura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geométrica</a:t>
            </a:r>
            <a:r>
              <a:rPr lang="en-US" altLang="es-ES" sz="3200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914400" y="4191000"/>
            <a:ext cx="32766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dirty="0" err="1">
                <a:solidFill>
                  <a:srgbClr val="038CE1"/>
                </a:solidFill>
                <a:latin typeface="+mj-lt"/>
                <a:ea typeface="+mj-ea"/>
                <a:cs typeface="+mj-cs"/>
              </a:rPr>
              <a:t>Polígono</a:t>
            </a:r>
            <a:endParaRPr lang="en-US" altLang="es-ES" sz="4400" dirty="0">
              <a:solidFill>
                <a:srgbClr val="038CE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00200" y="4876800"/>
            <a:ext cx="938864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dirty="0" err="1" smtClean="0">
                <a:latin typeface="Times New Roman" panose="02020603050405020304" pitchFamily="18" charset="0"/>
              </a:rPr>
              <a:t>Figura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plana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compuesta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por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una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secuencia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finita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de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segmentos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rectos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consecutivos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que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encierran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una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region en el </a:t>
            </a:r>
            <a:r>
              <a:rPr lang="en-US" altLang="es-ES" sz="3200" dirty="0" err="1" smtClean="0">
                <a:latin typeface="Times New Roman" panose="02020603050405020304" pitchFamily="18" charset="0"/>
              </a:rPr>
              <a:t>plano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.</a:t>
            </a:r>
            <a:endParaRPr lang="en-US" altLang="es-ES" sz="32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11" name="WordArt 6"/>
          <p:cNvSpPr>
            <a:spLocks noChangeArrowheads="1" noChangeShapeType="1" noTextEdit="1"/>
          </p:cNvSpPr>
          <p:nvPr/>
        </p:nvSpPr>
        <p:spPr bwMode="auto">
          <a:xfrm>
            <a:off x="2057400" y="228600"/>
            <a:ext cx="5607424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 smtClean="0">
                <a:solidFill>
                  <a:schemeClr val="accent2"/>
                </a:solidFill>
                <a:latin typeface="AvantGarde" pitchFamily="34" charset="0"/>
              </a:rPr>
              <a:t>Polígonos    </a:t>
            </a:r>
            <a:endParaRPr lang="es-ES" sz="3600" b="1" dirty="0">
              <a:solidFill>
                <a:schemeClr val="accent2"/>
              </a:solidFill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6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5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utoUpdateAnimBg="0"/>
      <p:bldP spid="9" grpId="0" autoUpdateAnimBg="0"/>
      <p:bldP spid="1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3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544637" y="1143000"/>
            <a:ext cx="527580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600" dirty="0" err="1" smtClean="0">
                <a:latin typeface="Times New Roman" panose="02020603050405020304" pitchFamily="18" charset="0"/>
              </a:rPr>
              <a:t>Señala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todos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los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polígonos</a:t>
            </a:r>
            <a:r>
              <a:rPr lang="en-US" altLang="es-ES" sz="4800" dirty="0" smtClean="0">
                <a:latin typeface="Times New Roman" panose="02020603050405020304" pitchFamily="18" charset="0"/>
              </a:rPr>
              <a:t>.</a:t>
            </a:r>
            <a:endParaRPr lang="en-US" altLang="es-ES" sz="4800" dirty="0">
              <a:latin typeface="Times New Roman" panose="02020603050405020304" pitchFamily="18" charset="0"/>
            </a:endParaRPr>
          </a:p>
        </p:txBody>
      </p:sp>
      <p:sp>
        <p:nvSpPr>
          <p:cNvPr id="7" name="Freeform 3"/>
          <p:cNvSpPr>
            <a:spLocks/>
          </p:cNvSpPr>
          <p:nvPr/>
        </p:nvSpPr>
        <p:spPr bwMode="auto">
          <a:xfrm>
            <a:off x="838200" y="2425700"/>
            <a:ext cx="990600" cy="792163"/>
          </a:xfrm>
          <a:custGeom>
            <a:avLst/>
            <a:gdLst>
              <a:gd name="T0" fmla="*/ 792480 w 720"/>
              <a:gd name="T1" fmla="*/ 0 h 576"/>
              <a:gd name="T2" fmla="*/ 0 w 720"/>
              <a:gd name="T3" fmla="*/ 0 h 576"/>
              <a:gd name="T4" fmla="*/ 0 w 720"/>
              <a:gd name="T5" fmla="*/ 792163 h 576"/>
              <a:gd name="T6" fmla="*/ 990600 w 720"/>
              <a:gd name="T7" fmla="*/ 792163 h 576"/>
              <a:gd name="T8" fmla="*/ 396240 w 720"/>
              <a:gd name="T9" fmla="*/ 396082 h 576"/>
              <a:gd name="T10" fmla="*/ 792480 w 720"/>
              <a:gd name="T11" fmla="*/ 0 h 5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20" h="576">
                <a:moveTo>
                  <a:pt x="576" y="0"/>
                </a:moveTo>
                <a:lnTo>
                  <a:pt x="0" y="0"/>
                </a:lnTo>
                <a:lnTo>
                  <a:pt x="0" y="576"/>
                </a:lnTo>
                <a:lnTo>
                  <a:pt x="720" y="576"/>
                </a:lnTo>
                <a:lnTo>
                  <a:pt x="288" y="288"/>
                </a:lnTo>
                <a:lnTo>
                  <a:pt x="576" y="0"/>
                </a:lnTo>
                <a:close/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0" name="Oval 5"/>
          <p:cNvSpPr>
            <a:spLocks noChangeArrowheads="1"/>
          </p:cNvSpPr>
          <p:nvPr/>
        </p:nvSpPr>
        <p:spPr bwMode="auto">
          <a:xfrm>
            <a:off x="4953000" y="2349500"/>
            <a:ext cx="990600" cy="990600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876300" y="3746500"/>
            <a:ext cx="866775" cy="990600"/>
          </a:xfrm>
          <a:custGeom>
            <a:avLst/>
            <a:gdLst>
              <a:gd name="T0" fmla="*/ 866775 w 672"/>
              <a:gd name="T1" fmla="*/ 0 h 768"/>
              <a:gd name="T2" fmla="*/ 0 w 672"/>
              <a:gd name="T3" fmla="*/ 0 h 768"/>
              <a:gd name="T4" fmla="*/ 0 w 672"/>
              <a:gd name="T5" fmla="*/ 990600 h 768"/>
              <a:gd name="T6" fmla="*/ 866775 w 672"/>
              <a:gd name="T7" fmla="*/ 990600 h 768"/>
              <a:gd name="T8" fmla="*/ 804863 w 672"/>
              <a:gd name="T9" fmla="*/ 804863 h 768"/>
              <a:gd name="T10" fmla="*/ 309563 w 672"/>
              <a:gd name="T11" fmla="*/ 804863 h 768"/>
              <a:gd name="T12" fmla="*/ 309563 w 672"/>
              <a:gd name="T13" fmla="*/ 619125 h 768"/>
              <a:gd name="T14" fmla="*/ 619125 w 672"/>
              <a:gd name="T15" fmla="*/ 619125 h 768"/>
              <a:gd name="T16" fmla="*/ 619125 w 672"/>
              <a:gd name="T17" fmla="*/ 371475 h 768"/>
              <a:gd name="T18" fmla="*/ 309563 w 672"/>
              <a:gd name="T19" fmla="*/ 371475 h 768"/>
              <a:gd name="T20" fmla="*/ 309563 w 672"/>
              <a:gd name="T21" fmla="*/ 185738 h 768"/>
              <a:gd name="T22" fmla="*/ 866775 w 672"/>
              <a:gd name="T23" fmla="*/ 185738 h 768"/>
              <a:gd name="T24" fmla="*/ 866775 w 672"/>
              <a:gd name="T25" fmla="*/ 0 h 76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672" h="768">
                <a:moveTo>
                  <a:pt x="672" y="0"/>
                </a:moveTo>
                <a:lnTo>
                  <a:pt x="0" y="0"/>
                </a:lnTo>
                <a:lnTo>
                  <a:pt x="0" y="768"/>
                </a:lnTo>
                <a:lnTo>
                  <a:pt x="672" y="768"/>
                </a:lnTo>
                <a:lnTo>
                  <a:pt x="624" y="624"/>
                </a:lnTo>
                <a:lnTo>
                  <a:pt x="240" y="624"/>
                </a:lnTo>
                <a:lnTo>
                  <a:pt x="240" y="480"/>
                </a:lnTo>
                <a:lnTo>
                  <a:pt x="480" y="480"/>
                </a:lnTo>
                <a:lnTo>
                  <a:pt x="480" y="288"/>
                </a:lnTo>
                <a:lnTo>
                  <a:pt x="240" y="288"/>
                </a:lnTo>
                <a:lnTo>
                  <a:pt x="240" y="144"/>
                </a:lnTo>
                <a:lnTo>
                  <a:pt x="672" y="144"/>
                </a:lnTo>
                <a:lnTo>
                  <a:pt x="672" y="0"/>
                </a:lnTo>
                <a:close/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2882900" y="3797300"/>
            <a:ext cx="812800" cy="914400"/>
          </a:xfrm>
          <a:custGeom>
            <a:avLst/>
            <a:gdLst>
              <a:gd name="T0" fmla="*/ 12700 w 512"/>
              <a:gd name="T1" fmla="*/ 0 h 576"/>
              <a:gd name="T2" fmla="*/ 804863 w 512"/>
              <a:gd name="T3" fmla="*/ 0 h 576"/>
              <a:gd name="T4" fmla="*/ 0 w 512"/>
              <a:gd name="T5" fmla="*/ 533400 h 576"/>
              <a:gd name="T6" fmla="*/ 12700 w 512"/>
              <a:gd name="T7" fmla="*/ 914400 h 576"/>
              <a:gd name="T8" fmla="*/ 800100 w 512"/>
              <a:gd name="T9" fmla="*/ 914400 h 576"/>
              <a:gd name="T10" fmla="*/ 812800 w 512"/>
              <a:gd name="T11" fmla="*/ 546100 h 576"/>
              <a:gd name="T12" fmla="*/ 12700 w 512"/>
              <a:gd name="T13" fmla="*/ 0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12" h="576">
                <a:moveTo>
                  <a:pt x="8" y="0"/>
                </a:moveTo>
                <a:lnTo>
                  <a:pt x="507" y="0"/>
                </a:lnTo>
                <a:lnTo>
                  <a:pt x="0" y="336"/>
                </a:lnTo>
                <a:lnTo>
                  <a:pt x="8" y="576"/>
                </a:lnTo>
                <a:lnTo>
                  <a:pt x="504" y="576"/>
                </a:lnTo>
                <a:lnTo>
                  <a:pt x="512" y="344"/>
                </a:lnTo>
                <a:lnTo>
                  <a:pt x="8" y="0"/>
                </a:lnTo>
                <a:close/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3" name="Freeform 8"/>
          <p:cNvSpPr>
            <a:spLocks/>
          </p:cNvSpPr>
          <p:nvPr/>
        </p:nvSpPr>
        <p:spPr bwMode="auto">
          <a:xfrm>
            <a:off x="5181600" y="3797300"/>
            <a:ext cx="792163" cy="914400"/>
          </a:xfrm>
          <a:custGeom>
            <a:avLst/>
            <a:gdLst>
              <a:gd name="T0" fmla="*/ 0 w 624"/>
              <a:gd name="T1" fmla="*/ 0 h 720"/>
              <a:gd name="T2" fmla="*/ 0 w 624"/>
              <a:gd name="T3" fmla="*/ 914400 h 720"/>
              <a:gd name="T4" fmla="*/ 792163 w 624"/>
              <a:gd name="T5" fmla="*/ 426720 h 720"/>
              <a:gd name="T6" fmla="*/ 243742 w 624"/>
              <a:gd name="T7" fmla="*/ 304800 h 72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720">
                <a:moveTo>
                  <a:pt x="0" y="0"/>
                </a:moveTo>
                <a:lnTo>
                  <a:pt x="0" y="720"/>
                </a:lnTo>
                <a:lnTo>
                  <a:pt x="624" y="336"/>
                </a:lnTo>
                <a:lnTo>
                  <a:pt x="192" y="240"/>
                </a:lnTo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4" name="Freeform 9"/>
          <p:cNvSpPr>
            <a:spLocks/>
          </p:cNvSpPr>
          <p:nvPr/>
        </p:nvSpPr>
        <p:spPr bwMode="auto">
          <a:xfrm>
            <a:off x="6934200" y="3873500"/>
            <a:ext cx="1600200" cy="923925"/>
          </a:xfrm>
          <a:custGeom>
            <a:avLst/>
            <a:gdLst>
              <a:gd name="T0" fmla="*/ 1200150 w 1344"/>
              <a:gd name="T1" fmla="*/ 0 h 720"/>
              <a:gd name="T2" fmla="*/ 457200 w 1344"/>
              <a:gd name="T3" fmla="*/ 0 h 720"/>
              <a:gd name="T4" fmla="*/ 0 w 1344"/>
              <a:gd name="T5" fmla="*/ 554355 h 720"/>
              <a:gd name="T6" fmla="*/ 342900 w 1344"/>
              <a:gd name="T7" fmla="*/ 431165 h 720"/>
              <a:gd name="T8" fmla="*/ 400050 w 1344"/>
              <a:gd name="T9" fmla="*/ 862330 h 720"/>
              <a:gd name="T10" fmla="*/ 571500 w 1344"/>
              <a:gd name="T11" fmla="*/ 492760 h 720"/>
              <a:gd name="T12" fmla="*/ 800100 w 1344"/>
              <a:gd name="T13" fmla="*/ 862330 h 720"/>
              <a:gd name="T14" fmla="*/ 857250 w 1344"/>
              <a:gd name="T15" fmla="*/ 431165 h 720"/>
              <a:gd name="T16" fmla="*/ 1143000 w 1344"/>
              <a:gd name="T17" fmla="*/ 923925 h 720"/>
              <a:gd name="T18" fmla="*/ 1143000 w 1344"/>
              <a:gd name="T19" fmla="*/ 431165 h 720"/>
              <a:gd name="T20" fmla="*/ 1600200 w 1344"/>
              <a:gd name="T21" fmla="*/ 677545 h 720"/>
              <a:gd name="T22" fmla="*/ 1200150 w 1344"/>
              <a:gd name="T23" fmla="*/ 0 h 72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344" h="720">
                <a:moveTo>
                  <a:pt x="1008" y="0"/>
                </a:moveTo>
                <a:lnTo>
                  <a:pt x="384" y="0"/>
                </a:lnTo>
                <a:lnTo>
                  <a:pt x="0" y="432"/>
                </a:lnTo>
                <a:lnTo>
                  <a:pt x="288" y="336"/>
                </a:lnTo>
                <a:lnTo>
                  <a:pt x="336" y="672"/>
                </a:lnTo>
                <a:lnTo>
                  <a:pt x="480" y="384"/>
                </a:lnTo>
                <a:lnTo>
                  <a:pt x="672" y="672"/>
                </a:lnTo>
                <a:lnTo>
                  <a:pt x="720" y="336"/>
                </a:lnTo>
                <a:lnTo>
                  <a:pt x="960" y="720"/>
                </a:lnTo>
                <a:lnTo>
                  <a:pt x="960" y="336"/>
                </a:lnTo>
                <a:lnTo>
                  <a:pt x="1344" y="528"/>
                </a:lnTo>
                <a:lnTo>
                  <a:pt x="1008" y="0"/>
                </a:lnTo>
                <a:close/>
              </a:path>
            </a:pathLst>
          </a:cu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0" y="5181600"/>
            <a:ext cx="388503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400" dirty="0" err="1" smtClean="0">
                <a:solidFill>
                  <a:srgbClr val="038CE1"/>
                </a:solidFill>
                <a:latin typeface="+mj-lt"/>
                <a:ea typeface="+mj-ea"/>
                <a:cs typeface="+mj-cs"/>
              </a:rPr>
              <a:t>Polígono</a:t>
            </a:r>
            <a:r>
              <a:rPr lang="en-US" altLang="es-ES" sz="4400" dirty="0" smtClean="0">
                <a:solidFill>
                  <a:srgbClr val="038CE1"/>
                </a:solidFill>
                <a:latin typeface="+mj-lt"/>
                <a:ea typeface="+mj-ea"/>
                <a:cs typeface="+mj-cs"/>
              </a:rPr>
              <a:t> regular</a:t>
            </a:r>
            <a:endParaRPr lang="en-US" altLang="es-ES" sz="4400" dirty="0">
              <a:solidFill>
                <a:srgbClr val="038CE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3883025" y="5263282"/>
            <a:ext cx="6407150" cy="108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s-ES" sz="3600" dirty="0">
                <a:latin typeface="Times New Roman" panose="02020603050405020304" pitchFamily="18" charset="0"/>
              </a:rPr>
              <a:t>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Polígono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cuyos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lados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y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ángulos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interiores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son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iguales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entre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sí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.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17" name="AutoShape 12"/>
          <p:cNvSpPr>
            <a:spLocks noChangeArrowheads="1"/>
          </p:cNvSpPr>
          <p:nvPr/>
        </p:nvSpPr>
        <p:spPr bwMode="auto">
          <a:xfrm>
            <a:off x="7086600" y="2413000"/>
            <a:ext cx="1066800" cy="914400"/>
          </a:xfrm>
          <a:prstGeom prst="hexagon">
            <a:avLst>
              <a:gd name="adj" fmla="val 29167"/>
              <a:gd name="vf" fmla="val 115470"/>
            </a:avLst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18" name="Oval 13"/>
          <p:cNvSpPr>
            <a:spLocks noChangeArrowheads="1"/>
          </p:cNvSpPr>
          <p:nvPr/>
        </p:nvSpPr>
        <p:spPr bwMode="auto">
          <a:xfrm>
            <a:off x="444500" y="2171700"/>
            <a:ext cx="16764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H="1">
            <a:off x="2895600" y="23876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2895600" y="23876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 flipH="1">
            <a:off x="4953000" y="23622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4953000" y="23622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val 18"/>
          <p:cNvSpPr>
            <a:spLocks noChangeArrowheads="1"/>
          </p:cNvSpPr>
          <p:nvPr/>
        </p:nvSpPr>
        <p:spPr bwMode="auto">
          <a:xfrm>
            <a:off x="6794500" y="2222500"/>
            <a:ext cx="1676400" cy="1295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19"/>
          <p:cNvSpPr>
            <a:spLocks noChangeArrowheads="1"/>
          </p:cNvSpPr>
          <p:nvPr/>
        </p:nvSpPr>
        <p:spPr bwMode="auto">
          <a:xfrm>
            <a:off x="406400" y="3530600"/>
            <a:ext cx="1828800" cy="1447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 flipH="1">
            <a:off x="2794000" y="37973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2794000" y="37973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 flipH="1">
            <a:off x="4953000" y="37973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Line 23"/>
          <p:cNvSpPr>
            <a:spLocks noChangeShapeType="1"/>
          </p:cNvSpPr>
          <p:nvPr/>
        </p:nvSpPr>
        <p:spPr bwMode="auto">
          <a:xfrm>
            <a:off x="4953000" y="3797300"/>
            <a:ext cx="990600" cy="990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4"/>
          <p:cNvSpPr>
            <a:spLocks noChangeArrowheads="1"/>
          </p:cNvSpPr>
          <p:nvPr/>
        </p:nvSpPr>
        <p:spPr bwMode="auto">
          <a:xfrm>
            <a:off x="6781800" y="3657600"/>
            <a:ext cx="1905000" cy="1371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WordArt 25"/>
          <p:cNvSpPr>
            <a:spLocks noChangeArrowheads="1" noChangeShapeType="1" noTextEdit="1"/>
          </p:cNvSpPr>
          <p:nvPr/>
        </p:nvSpPr>
        <p:spPr bwMode="auto">
          <a:xfrm>
            <a:off x="1743075" y="254000"/>
            <a:ext cx="5029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Polígonos</a:t>
            </a:r>
            <a:endParaRPr lang="es-E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folHlink"/>
                  </a:gs>
                </a:gsLst>
                <a:lin ang="5400000" scaled="1"/>
              </a:gradFill>
              <a:latin typeface="Gill Sans Ultra Bold Condensed"/>
            </a:endParaRPr>
          </a:p>
        </p:txBody>
      </p:sp>
      <p:sp>
        <p:nvSpPr>
          <p:cNvPr id="3" name="Acorde 2"/>
          <p:cNvSpPr/>
          <p:nvPr/>
        </p:nvSpPr>
        <p:spPr>
          <a:xfrm>
            <a:off x="2971800" y="2311400"/>
            <a:ext cx="1009600" cy="1028700"/>
          </a:xfrm>
          <a:prstGeom prst="chord">
            <a:avLst/>
          </a:prstGeom>
          <a:noFill/>
          <a:ln w="5715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23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3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4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8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40"/>
                            </p:stCondLst>
                            <p:childTnLst>
                              <p:par>
                                <p:cTn id="9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nimBg="1"/>
      <p:bldP spid="11" grpId="0" animBg="1"/>
      <p:bldP spid="12" grpId="0" animBg="1"/>
      <p:bldP spid="13" grpId="0" animBg="1"/>
      <p:bldP spid="14" grpId="0" animBg="1"/>
      <p:bldP spid="15" grpId="0" autoUpdateAnimBg="0"/>
      <p:bldP spid="16" grpId="0" autoUpdateAnimBg="0"/>
      <p:bldP spid="19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4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438350" y="1191345"/>
            <a:ext cx="17942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Polígonos</a:t>
            </a:r>
            <a:endParaRPr lang="en-US" altLang="es-ES" sz="3200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421387" y="1189758"/>
            <a:ext cx="3431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Polígonos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regulares</a:t>
            </a:r>
            <a:endParaRPr lang="en-US" altLang="es-ES" sz="3200" dirty="0">
              <a:latin typeface="+mn-lt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874912" y="1708870"/>
            <a:ext cx="14037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Nombre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995312" y="1710457"/>
            <a:ext cx="1873251" cy="523874"/>
            <a:chOff x="134" y="372"/>
            <a:chExt cx="1180" cy="330"/>
          </a:xfrm>
        </p:grpSpPr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34" y="372"/>
              <a:ext cx="11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s-ES" sz="2800" b="1" dirty="0">
                  <a:solidFill>
                    <a:srgbClr val="038CE1"/>
                  </a:solidFill>
                  <a:latin typeface="Calibri" panose="020F0502020204030204" pitchFamily="34" charset="0"/>
                </a:rPr>
                <a:t>Nº</a:t>
              </a:r>
              <a:r>
                <a:rPr lang="en-US" altLang="es-ES" sz="2800" b="1" dirty="0" smtClean="0">
                  <a:solidFill>
                    <a:srgbClr val="038CE1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es-ES" sz="2800" b="1" dirty="0">
                  <a:solidFill>
                    <a:srgbClr val="038CE1"/>
                  </a:solidFill>
                  <a:latin typeface="Calibri" panose="020F0502020204030204" pitchFamily="34" charset="0"/>
                </a:rPr>
                <a:t>de</a:t>
              </a:r>
              <a:r>
                <a:rPr lang="en-US" altLang="es-ES" sz="2800" b="1" dirty="0" smtClean="0">
                  <a:solidFill>
                    <a:srgbClr val="038CE1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es-ES" sz="2800" b="1" dirty="0" err="1">
                  <a:solidFill>
                    <a:srgbClr val="038CE1"/>
                  </a:solidFill>
                  <a:latin typeface="Calibri" panose="020F0502020204030204" pitchFamily="34" charset="0"/>
                </a:rPr>
                <a:t>lados</a:t>
              </a:r>
              <a:endParaRPr lang="en-US" altLang="es-ES" sz="2800" b="1" dirty="0">
                <a:solidFill>
                  <a:srgbClr val="038CE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52" y="648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306837" y="1707283"/>
            <a:ext cx="11673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Dibujo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7858841" y="1724355"/>
            <a:ext cx="14037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>
                <a:solidFill>
                  <a:srgbClr val="038CE1"/>
                </a:solidFill>
                <a:latin typeface="Calibri" panose="020F0502020204030204" pitchFamily="34" charset="0"/>
              </a:rPr>
              <a:t>N</a:t>
            </a:r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ombre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6192787" y="1707283"/>
            <a:ext cx="11673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Dibujo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>
            <a:off x="5948312" y="1412008"/>
            <a:ext cx="15875" cy="5113337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512837" y="2351808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6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390933" y="2453730"/>
            <a:ext cx="17317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s-ES"/>
            </a:defPPr>
            <a:lvl1pPr>
              <a:defRPr sz="3200">
                <a:cs typeface="Arial" panose="020B0604020202020204" pitchFamily="34" charset="0"/>
              </a:defRPr>
            </a:lvl1pPr>
            <a:lvl2pPr marL="742950" indent="-285750"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dirty="0" err="1" smtClean="0"/>
              <a:t>Triángulo</a:t>
            </a:r>
            <a:endParaRPr lang="en-US" altLang="es-ES" dirty="0"/>
          </a:p>
        </p:txBody>
      </p:sp>
      <p:sp>
        <p:nvSpPr>
          <p:cNvPr id="19" name="AutoShape 14"/>
          <p:cNvSpPr>
            <a:spLocks noChangeArrowheads="1"/>
          </p:cNvSpPr>
          <p:nvPr/>
        </p:nvSpPr>
        <p:spPr bwMode="auto">
          <a:xfrm>
            <a:off x="4652912" y="2410545"/>
            <a:ext cx="914400" cy="609600"/>
          </a:xfrm>
          <a:prstGeom prst="rtTriangl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7789810" y="2310450"/>
            <a:ext cx="3720872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s-ES" sz="3200" dirty="0" err="1" smtClean="0">
                <a:latin typeface="+mn-lt"/>
              </a:rPr>
              <a:t>Triángulo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equilátero</a:t>
            </a:r>
            <a:endParaRPr lang="en-US" altLang="es-ES" sz="3200" dirty="0">
              <a:latin typeface="+mn-lt"/>
            </a:endParaRPr>
          </a:p>
        </p:txBody>
      </p:sp>
      <p:grpSp>
        <p:nvGrpSpPr>
          <p:cNvPr id="21" name="Group 16"/>
          <p:cNvGrpSpPr>
            <a:grpSpLocks/>
          </p:cNvGrpSpPr>
          <p:nvPr/>
        </p:nvGrpSpPr>
        <p:grpSpPr bwMode="auto">
          <a:xfrm>
            <a:off x="6481712" y="2435945"/>
            <a:ext cx="762000" cy="685800"/>
            <a:chOff x="3600" y="720"/>
            <a:chExt cx="480" cy="432"/>
          </a:xfrm>
        </p:grpSpPr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3600" y="720"/>
              <a:ext cx="480" cy="38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3680" y="896"/>
              <a:ext cx="96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H="1">
              <a:off x="3912" y="896"/>
              <a:ext cx="96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3840" y="1056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3664" y="1000"/>
              <a:ext cx="48" cy="96"/>
            </a:xfrm>
            <a:custGeom>
              <a:avLst/>
              <a:gdLst>
                <a:gd name="T0" fmla="*/ 0 w 48"/>
                <a:gd name="T1" fmla="*/ 0 h 96"/>
                <a:gd name="T2" fmla="*/ 48 w 48"/>
                <a:gd name="T3" fmla="*/ 40 h 96"/>
                <a:gd name="T4" fmla="*/ 48 w 48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0" y="0"/>
                  </a:moveTo>
                  <a:lnTo>
                    <a:pt x="48" y="40"/>
                  </a:lnTo>
                  <a:lnTo>
                    <a:pt x="48" y="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 flipH="1">
              <a:off x="3968" y="1008"/>
              <a:ext cx="48" cy="96"/>
            </a:xfrm>
            <a:custGeom>
              <a:avLst/>
              <a:gdLst>
                <a:gd name="T0" fmla="*/ 0 w 48"/>
                <a:gd name="T1" fmla="*/ 0 h 96"/>
                <a:gd name="T2" fmla="*/ 48 w 48"/>
                <a:gd name="T3" fmla="*/ 40 h 96"/>
                <a:gd name="T4" fmla="*/ 48 w 48"/>
                <a:gd name="T5" fmla="*/ 96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96">
                  <a:moveTo>
                    <a:pt x="0" y="0"/>
                  </a:moveTo>
                  <a:lnTo>
                    <a:pt x="48" y="40"/>
                  </a:lnTo>
                  <a:lnTo>
                    <a:pt x="48" y="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3784" y="824"/>
              <a:ext cx="127" cy="23"/>
            </a:xfrm>
            <a:custGeom>
              <a:avLst/>
              <a:gdLst>
                <a:gd name="T0" fmla="*/ 0 w 96"/>
                <a:gd name="T1" fmla="*/ 0 h 16"/>
                <a:gd name="T2" fmla="*/ 64 w 96"/>
                <a:gd name="T3" fmla="*/ 23 h 16"/>
                <a:gd name="T4" fmla="*/ 127 w 96"/>
                <a:gd name="T5" fmla="*/ 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16">
                  <a:moveTo>
                    <a:pt x="0" y="0"/>
                  </a:moveTo>
                  <a:lnTo>
                    <a:pt x="48" y="16"/>
                  </a:lnTo>
                  <a:lnTo>
                    <a:pt x="96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29" name="Text Box 24"/>
          <p:cNvSpPr txBox="1">
            <a:spLocks noChangeArrowheads="1"/>
          </p:cNvSpPr>
          <p:nvPr/>
        </p:nvSpPr>
        <p:spPr bwMode="auto">
          <a:xfrm>
            <a:off x="1503312" y="3456708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6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2366912" y="3545608"/>
            <a:ext cx="22489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Cuadrilátero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7869254" y="3621808"/>
            <a:ext cx="1798506" cy="49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s-ES" sz="3200" dirty="0" err="1" smtClean="0">
                <a:latin typeface="+mn-lt"/>
              </a:rPr>
              <a:t>Cuadrado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32" name="Freeform 27"/>
          <p:cNvSpPr>
            <a:spLocks/>
          </p:cNvSpPr>
          <p:nvPr/>
        </p:nvSpPr>
        <p:spPr bwMode="auto">
          <a:xfrm>
            <a:off x="4652912" y="3477345"/>
            <a:ext cx="762000" cy="685800"/>
          </a:xfrm>
          <a:custGeom>
            <a:avLst/>
            <a:gdLst>
              <a:gd name="T0" fmla="*/ 533400 w 480"/>
              <a:gd name="T1" fmla="*/ 0 h 432"/>
              <a:gd name="T2" fmla="*/ 0 w 480"/>
              <a:gd name="T3" fmla="*/ 533400 h 432"/>
              <a:gd name="T4" fmla="*/ 457200 w 480"/>
              <a:gd name="T5" fmla="*/ 457200 h 432"/>
              <a:gd name="T6" fmla="*/ 762000 w 480"/>
              <a:gd name="T7" fmla="*/ 685800 h 432"/>
              <a:gd name="T8" fmla="*/ 533400 w 480"/>
              <a:gd name="T9" fmla="*/ 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0" h="432">
                <a:moveTo>
                  <a:pt x="336" y="0"/>
                </a:moveTo>
                <a:lnTo>
                  <a:pt x="0" y="336"/>
                </a:lnTo>
                <a:lnTo>
                  <a:pt x="288" y="288"/>
                </a:lnTo>
                <a:lnTo>
                  <a:pt x="480" y="432"/>
                </a:lnTo>
                <a:lnTo>
                  <a:pt x="336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33" name="Group 28"/>
          <p:cNvGrpSpPr>
            <a:grpSpLocks/>
          </p:cNvGrpSpPr>
          <p:nvPr/>
        </p:nvGrpSpPr>
        <p:grpSpPr bwMode="auto">
          <a:xfrm>
            <a:off x="6481712" y="3401145"/>
            <a:ext cx="838200" cy="825500"/>
            <a:chOff x="3600" y="1248"/>
            <a:chExt cx="528" cy="520"/>
          </a:xfrm>
        </p:grpSpPr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3648" y="1296"/>
              <a:ext cx="96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auto">
            <a:xfrm>
              <a:off x="3984" y="1296"/>
              <a:ext cx="96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3648" y="1632"/>
              <a:ext cx="96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37" name="Rectangle 32"/>
            <p:cNvSpPr>
              <a:spLocks noChangeArrowheads="1"/>
            </p:cNvSpPr>
            <p:nvPr/>
          </p:nvSpPr>
          <p:spPr bwMode="auto">
            <a:xfrm>
              <a:off x="3984" y="1632"/>
              <a:ext cx="96" cy="9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38" name="Rectangle 33"/>
            <p:cNvSpPr>
              <a:spLocks noChangeArrowheads="1"/>
            </p:cNvSpPr>
            <p:nvPr/>
          </p:nvSpPr>
          <p:spPr bwMode="auto">
            <a:xfrm>
              <a:off x="3648" y="1296"/>
              <a:ext cx="432" cy="4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3864" y="167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3864" y="1248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3600" y="152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>
              <a:off x="4032" y="152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3" name="Text Box 38"/>
          <p:cNvSpPr txBox="1">
            <a:spLocks noChangeArrowheads="1"/>
          </p:cNvSpPr>
          <p:nvPr/>
        </p:nvSpPr>
        <p:spPr bwMode="auto">
          <a:xfrm>
            <a:off x="1503312" y="4510808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6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4" name="Text Box 39"/>
          <p:cNvSpPr txBox="1">
            <a:spLocks noChangeArrowheads="1"/>
          </p:cNvSpPr>
          <p:nvPr/>
        </p:nvSpPr>
        <p:spPr bwMode="auto">
          <a:xfrm>
            <a:off x="2397698" y="4559445"/>
            <a:ext cx="19746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Pentágono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45" name="Text Box 40"/>
          <p:cNvSpPr txBox="1">
            <a:spLocks noChangeArrowheads="1"/>
          </p:cNvSpPr>
          <p:nvPr/>
        </p:nvSpPr>
        <p:spPr bwMode="auto">
          <a:xfrm>
            <a:off x="7858841" y="4606851"/>
            <a:ext cx="3253263" cy="49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s-ES" sz="3200" dirty="0" err="1" smtClean="0">
                <a:latin typeface="+mn-lt"/>
              </a:rPr>
              <a:t>Pentágono</a:t>
            </a:r>
            <a:r>
              <a:rPr lang="en-US" altLang="es-ES" sz="3200" dirty="0" smtClean="0">
                <a:latin typeface="+mn-lt"/>
              </a:rPr>
              <a:t> regular</a:t>
            </a:r>
            <a:endParaRPr lang="en-US" altLang="es-ES" sz="3200" dirty="0">
              <a:latin typeface="+mn-lt"/>
            </a:endParaRPr>
          </a:p>
        </p:txBody>
      </p:sp>
      <p:sp>
        <p:nvSpPr>
          <p:cNvPr id="46" name="Freeform 41"/>
          <p:cNvSpPr>
            <a:spLocks/>
          </p:cNvSpPr>
          <p:nvPr/>
        </p:nvSpPr>
        <p:spPr bwMode="auto">
          <a:xfrm>
            <a:off x="4652912" y="4544145"/>
            <a:ext cx="685800" cy="609600"/>
          </a:xfrm>
          <a:custGeom>
            <a:avLst/>
            <a:gdLst>
              <a:gd name="T0" fmla="*/ 0 w 432"/>
              <a:gd name="T1" fmla="*/ 0 h 384"/>
              <a:gd name="T2" fmla="*/ 0 w 432"/>
              <a:gd name="T3" fmla="*/ 609600 h 384"/>
              <a:gd name="T4" fmla="*/ 685800 w 432"/>
              <a:gd name="T5" fmla="*/ 609600 h 384"/>
              <a:gd name="T6" fmla="*/ 304800 w 432"/>
              <a:gd name="T7" fmla="*/ 304800 h 384"/>
              <a:gd name="T8" fmla="*/ 685800 w 432"/>
              <a:gd name="T9" fmla="*/ 0 h 384"/>
              <a:gd name="T10" fmla="*/ 0 w 432"/>
              <a:gd name="T11" fmla="*/ 0 h 3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432" h="384">
                <a:moveTo>
                  <a:pt x="0" y="0"/>
                </a:moveTo>
                <a:lnTo>
                  <a:pt x="0" y="384"/>
                </a:lnTo>
                <a:lnTo>
                  <a:pt x="432" y="384"/>
                </a:lnTo>
                <a:lnTo>
                  <a:pt x="192" y="192"/>
                </a:lnTo>
                <a:lnTo>
                  <a:pt x="432" y="0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47" name="Group 42"/>
          <p:cNvGrpSpPr>
            <a:grpSpLocks/>
          </p:cNvGrpSpPr>
          <p:nvPr/>
        </p:nvGrpSpPr>
        <p:grpSpPr bwMode="auto">
          <a:xfrm>
            <a:off x="6481712" y="4480645"/>
            <a:ext cx="850900" cy="825500"/>
            <a:chOff x="3600" y="1896"/>
            <a:chExt cx="536" cy="520"/>
          </a:xfrm>
        </p:grpSpPr>
        <p:sp>
          <p:nvSpPr>
            <p:cNvPr id="48" name="Freeform 43"/>
            <p:cNvSpPr>
              <a:spLocks/>
            </p:cNvSpPr>
            <p:nvPr/>
          </p:nvSpPr>
          <p:spPr bwMode="auto">
            <a:xfrm>
              <a:off x="3640" y="2024"/>
              <a:ext cx="56" cy="144"/>
            </a:xfrm>
            <a:custGeom>
              <a:avLst/>
              <a:gdLst>
                <a:gd name="T0" fmla="*/ 48 w 56"/>
                <a:gd name="T1" fmla="*/ 0 h 144"/>
                <a:gd name="T2" fmla="*/ 56 w 56"/>
                <a:gd name="T3" fmla="*/ 88 h 144"/>
                <a:gd name="T4" fmla="*/ 0 w 56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auto">
            <a:xfrm rot="20228710" flipV="1">
              <a:off x="3695" y="2242"/>
              <a:ext cx="69" cy="144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88 h 144"/>
                <a:gd name="T4" fmla="*/ 0 w 56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0" name="Freeform 45"/>
            <p:cNvSpPr>
              <a:spLocks/>
            </p:cNvSpPr>
            <p:nvPr/>
          </p:nvSpPr>
          <p:spPr bwMode="auto">
            <a:xfrm rot="1371290" flipH="1" flipV="1">
              <a:off x="3963" y="2248"/>
              <a:ext cx="69" cy="144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88 h 144"/>
                <a:gd name="T4" fmla="*/ 0 w 56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1" name="Freeform 46"/>
            <p:cNvSpPr>
              <a:spLocks/>
            </p:cNvSpPr>
            <p:nvPr/>
          </p:nvSpPr>
          <p:spPr bwMode="auto">
            <a:xfrm flipH="1">
              <a:off x="4040" y="2032"/>
              <a:ext cx="56" cy="144"/>
            </a:xfrm>
            <a:custGeom>
              <a:avLst/>
              <a:gdLst>
                <a:gd name="T0" fmla="*/ 48 w 56"/>
                <a:gd name="T1" fmla="*/ 0 h 144"/>
                <a:gd name="T2" fmla="*/ 56 w 56"/>
                <a:gd name="T3" fmla="*/ 88 h 144"/>
                <a:gd name="T4" fmla="*/ 0 w 56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auto">
            <a:xfrm rot="6784573" flipV="1">
              <a:off x="3837" y="1883"/>
              <a:ext cx="69" cy="144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88 h 144"/>
                <a:gd name="T4" fmla="*/ 0 w 56"/>
                <a:gd name="T5" fmla="*/ 144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3" name="AutoShape 48"/>
            <p:cNvSpPr>
              <a:spLocks noChangeArrowheads="1"/>
            </p:cNvSpPr>
            <p:nvPr/>
          </p:nvSpPr>
          <p:spPr bwMode="auto">
            <a:xfrm>
              <a:off x="3600" y="1896"/>
              <a:ext cx="528" cy="480"/>
            </a:xfrm>
            <a:prstGeom prst="pentagon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3864" y="232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 flipV="1">
              <a:off x="3600" y="2208"/>
              <a:ext cx="96" cy="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 flipH="1" flipV="1">
              <a:off x="4040" y="2208"/>
              <a:ext cx="96" cy="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>
              <a:off x="3696" y="1960"/>
              <a:ext cx="69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 flipH="1">
              <a:off x="3955" y="1944"/>
              <a:ext cx="69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59" name="Text Box 54"/>
          <p:cNvSpPr txBox="1">
            <a:spLocks noChangeArrowheads="1"/>
          </p:cNvSpPr>
          <p:nvPr/>
        </p:nvSpPr>
        <p:spPr bwMode="auto">
          <a:xfrm>
            <a:off x="1566812" y="5603008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6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0" name="Text Box 55"/>
          <p:cNvSpPr txBox="1">
            <a:spLocks noChangeArrowheads="1"/>
          </p:cNvSpPr>
          <p:nvPr/>
        </p:nvSpPr>
        <p:spPr bwMode="auto">
          <a:xfrm>
            <a:off x="2475114" y="5648831"/>
            <a:ext cx="18465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Hexágono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61" name="Text Box 56"/>
          <p:cNvSpPr txBox="1">
            <a:spLocks noChangeArrowheads="1"/>
          </p:cNvSpPr>
          <p:nvPr/>
        </p:nvSpPr>
        <p:spPr bwMode="auto">
          <a:xfrm>
            <a:off x="7929928" y="5526861"/>
            <a:ext cx="3125151" cy="49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s-ES" sz="3200" dirty="0" err="1" smtClean="0">
                <a:latin typeface="+mn-lt"/>
              </a:rPr>
              <a:t>Hexágono</a:t>
            </a:r>
            <a:r>
              <a:rPr lang="en-US" altLang="es-ES" sz="3200" dirty="0" smtClean="0">
                <a:latin typeface="+mn-lt"/>
              </a:rPr>
              <a:t> regular</a:t>
            </a:r>
            <a:endParaRPr lang="en-US" altLang="es-ES" sz="3200" dirty="0">
              <a:latin typeface="+mn-lt"/>
            </a:endParaRPr>
          </a:p>
        </p:txBody>
      </p:sp>
      <p:sp>
        <p:nvSpPr>
          <p:cNvPr id="62" name="Freeform 57"/>
          <p:cNvSpPr>
            <a:spLocks/>
          </p:cNvSpPr>
          <p:nvPr/>
        </p:nvSpPr>
        <p:spPr bwMode="auto">
          <a:xfrm>
            <a:off x="4614812" y="5636345"/>
            <a:ext cx="914400" cy="685800"/>
          </a:xfrm>
          <a:custGeom>
            <a:avLst/>
            <a:gdLst>
              <a:gd name="T0" fmla="*/ 0 w 576"/>
              <a:gd name="T1" fmla="*/ 0 h 432"/>
              <a:gd name="T2" fmla="*/ 0 w 576"/>
              <a:gd name="T3" fmla="*/ 685800 h 432"/>
              <a:gd name="T4" fmla="*/ 914400 w 576"/>
              <a:gd name="T5" fmla="*/ 685800 h 432"/>
              <a:gd name="T6" fmla="*/ 914400 w 576"/>
              <a:gd name="T7" fmla="*/ 304800 h 432"/>
              <a:gd name="T8" fmla="*/ 533400 w 576"/>
              <a:gd name="T9" fmla="*/ 304800 h 432"/>
              <a:gd name="T10" fmla="*/ 533400 w 576"/>
              <a:gd name="T11" fmla="*/ 0 h 432"/>
              <a:gd name="T12" fmla="*/ 0 w 576"/>
              <a:gd name="T13" fmla="*/ 0 h 43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" h="432">
                <a:moveTo>
                  <a:pt x="0" y="0"/>
                </a:moveTo>
                <a:lnTo>
                  <a:pt x="0" y="432"/>
                </a:lnTo>
                <a:lnTo>
                  <a:pt x="576" y="432"/>
                </a:lnTo>
                <a:lnTo>
                  <a:pt x="576" y="192"/>
                </a:lnTo>
                <a:lnTo>
                  <a:pt x="336" y="192"/>
                </a:lnTo>
                <a:lnTo>
                  <a:pt x="336" y="0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63" name="Group 58"/>
          <p:cNvGrpSpPr>
            <a:grpSpLocks/>
          </p:cNvGrpSpPr>
          <p:nvPr/>
        </p:nvGrpSpPr>
        <p:grpSpPr bwMode="auto">
          <a:xfrm>
            <a:off x="6481712" y="5534745"/>
            <a:ext cx="914400" cy="901700"/>
            <a:chOff x="3576" y="2480"/>
            <a:chExt cx="576" cy="568"/>
          </a:xfrm>
        </p:grpSpPr>
        <p:sp>
          <p:nvSpPr>
            <p:cNvPr id="64" name="AutoShape 59"/>
            <p:cNvSpPr>
              <a:spLocks noChangeArrowheads="1"/>
            </p:cNvSpPr>
            <p:nvPr/>
          </p:nvSpPr>
          <p:spPr bwMode="auto">
            <a:xfrm>
              <a:off x="3576" y="2528"/>
              <a:ext cx="576" cy="480"/>
            </a:xfrm>
            <a:prstGeom prst="hexagon">
              <a:avLst>
                <a:gd name="adj" fmla="val 30000"/>
                <a:gd name="vf" fmla="val 11547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65" name="Line 60"/>
            <p:cNvSpPr>
              <a:spLocks noChangeShapeType="1"/>
            </p:cNvSpPr>
            <p:nvPr/>
          </p:nvSpPr>
          <p:spPr bwMode="auto">
            <a:xfrm>
              <a:off x="3864" y="248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3616" y="2616"/>
              <a:ext cx="81" cy="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67" name="Line 62"/>
            <p:cNvSpPr>
              <a:spLocks noChangeShapeType="1"/>
            </p:cNvSpPr>
            <p:nvPr/>
          </p:nvSpPr>
          <p:spPr bwMode="auto">
            <a:xfrm>
              <a:off x="3864" y="2952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68" name="Line 63"/>
            <p:cNvSpPr>
              <a:spLocks noChangeShapeType="1"/>
            </p:cNvSpPr>
            <p:nvPr/>
          </p:nvSpPr>
          <p:spPr bwMode="auto">
            <a:xfrm flipH="1">
              <a:off x="4039" y="2616"/>
              <a:ext cx="81" cy="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69" name="Line 64"/>
            <p:cNvSpPr>
              <a:spLocks noChangeShapeType="1"/>
            </p:cNvSpPr>
            <p:nvPr/>
          </p:nvSpPr>
          <p:spPr bwMode="auto">
            <a:xfrm flipV="1">
              <a:off x="3608" y="2858"/>
              <a:ext cx="81" cy="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0" name="Line 65"/>
            <p:cNvSpPr>
              <a:spLocks noChangeShapeType="1"/>
            </p:cNvSpPr>
            <p:nvPr/>
          </p:nvSpPr>
          <p:spPr bwMode="auto">
            <a:xfrm flipH="1" flipV="1">
              <a:off x="4039" y="2858"/>
              <a:ext cx="81" cy="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1" name="Freeform 66"/>
            <p:cNvSpPr>
              <a:spLocks/>
            </p:cNvSpPr>
            <p:nvPr/>
          </p:nvSpPr>
          <p:spPr bwMode="auto">
            <a:xfrm rot="2100000">
              <a:off x="3719" y="2499"/>
              <a:ext cx="69" cy="127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78 h 144"/>
                <a:gd name="T4" fmla="*/ 0 w 56"/>
                <a:gd name="T5" fmla="*/ 127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2" name="Freeform 67"/>
            <p:cNvSpPr>
              <a:spLocks/>
            </p:cNvSpPr>
            <p:nvPr/>
          </p:nvSpPr>
          <p:spPr bwMode="auto">
            <a:xfrm rot="19500000" flipH="1">
              <a:off x="3939" y="2496"/>
              <a:ext cx="69" cy="127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78 h 144"/>
                <a:gd name="T4" fmla="*/ 0 w 56"/>
                <a:gd name="T5" fmla="*/ 127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3" name="Freeform 68"/>
            <p:cNvSpPr>
              <a:spLocks/>
            </p:cNvSpPr>
            <p:nvPr/>
          </p:nvSpPr>
          <p:spPr bwMode="auto">
            <a:xfrm rot="19500000" flipV="1">
              <a:off x="3720" y="2913"/>
              <a:ext cx="69" cy="127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78 h 144"/>
                <a:gd name="T4" fmla="*/ 0 w 56"/>
                <a:gd name="T5" fmla="*/ 127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4" name="Freeform 69"/>
            <p:cNvSpPr>
              <a:spLocks/>
            </p:cNvSpPr>
            <p:nvPr/>
          </p:nvSpPr>
          <p:spPr bwMode="auto">
            <a:xfrm rot="2100000" flipH="1" flipV="1">
              <a:off x="3948" y="2910"/>
              <a:ext cx="69" cy="127"/>
            </a:xfrm>
            <a:custGeom>
              <a:avLst/>
              <a:gdLst>
                <a:gd name="T0" fmla="*/ 59 w 56"/>
                <a:gd name="T1" fmla="*/ 0 h 144"/>
                <a:gd name="T2" fmla="*/ 69 w 56"/>
                <a:gd name="T3" fmla="*/ 78 h 144"/>
                <a:gd name="T4" fmla="*/ 0 w 56"/>
                <a:gd name="T5" fmla="*/ 127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4">
                  <a:moveTo>
                    <a:pt x="48" y="0"/>
                  </a:moveTo>
                  <a:lnTo>
                    <a:pt x="56" y="88"/>
                  </a:lnTo>
                  <a:lnTo>
                    <a:pt x="0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5" name="Freeform 70"/>
            <p:cNvSpPr>
              <a:spLocks/>
            </p:cNvSpPr>
            <p:nvPr/>
          </p:nvSpPr>
          <p:spPr bwMode="auto">
            <a:xfrm>
              <a:off x="3624" y="2696"/>
              <a:ext cx="35" cy="138"/>
            </a:xfrm>
            <a:custGeom>
              <a:avLst/>
              <a:gdLst>
                <a:gd name="T0" fmla="*/ 0 w 40"/>
                <a:gd name="T1" fmla="*/ 0 h 144"/>
                <a:gd name="T2" fmla="*/ 35 w 40"/>
                <a:gd name="T3" fmla="*/ 69 h 144"/>
                <a:gd name="T4" fmla="*/ 1 w 40"/>
                <a:gd name="T5" fmla="*/ 138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44">
                  <a:moveTo>
                    <a:pt x="0" y="0"/>
                  </a:moveTo>
                  <a:lnTo>
                    <a:pt x="40" y="72"/>
                  </a:lnTo>
                  <a:lnTo>
                    <a:pt x="1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76" name="Freeform 71"/>
            <p:cNvSpPr>
              <a:spLocks/>
            </p:cNvSpPr>
            <p:nvPr/>
          </p:nvSpPr>
          <p:spPr bwMode="auto">
            <a:xfrm flipH="1" flipV="1">
              <a:off x="4069" y="2696"/>
              <a:ext cx="35" cy="138"/>
            </a:xfrm>
            <a:custGeom>
              <a:avLst/>
              <a:gdLst>
                <a:gd name="T0" fmla="*/ 0 w 40"/>
                <a:gd name="T1" fmla="*/ 0 h 144"/>
                <a:gd name="T2" fmla="*/ 35 w 40"/>
                <a:gd name="T3" fmla="*/ 69 h 144"/>
                <a:gd name="T4" fmla="*/ 1 w 40"/>
                <a:gd name="T5" fmla="*/ 138 h 1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44">
                  <a:moveTo>
                    <a:pt x="0" y="0"/>
                  </a:moveTo>
                  <a:lnTo>
                    <a:pt x="40" y="72"/>
                  </a:lnTo>
                  <a:lnTo>
                    <a:pt x="1" y="1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78" name="WordArt 25"/>
          <p:cNvSpPr>
            <a:spLocks noChangeArrowheads="1" noChangeShapeType="1" noTextEdit="1"/>
          </p:cNvSpPr>
          <p:nvPr/>
        </p:nvSpPr>
        <p:spPr bwMode="auto">
          <a:xfrm>
            <a:off x="1743075" y="254000"/>
            <a:ext cx="5029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Polígonos</a:t>
            </a:r>
            <a:endParaRPr lang="es-E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folHlink"/>
                  </a:gs>
                </a:gsLst>
                <a:lin ang="5400000" scaled="1"/>
              </a:gradFill>
              <a:latin typeface="Gill Sans Ultra Bold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30844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1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12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2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920"/>
                            </p:stCondLst>
                            <p:childTnLst>
                              <p:par>
                                <p:cTn id="2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12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12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20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12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12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20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20"/>
                            </p:stCondLst>
                            <p:childTnLst>
                              <p:par>
                                <p:cTn id="67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9" dur="12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0" dur="12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2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40"/>
                            </p:stCondLst>
                            <p:childTnLst>
                              <p:par>
                                <p:cTn id="7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340"/>
                            </p:stCondLst>
                            <p:childTnLst>
                              <p:par>
                                <p:cTn id="7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500"/>
                            </p:stCondLst>
                            <p:childTnLst>
                              <p:par>
                                <p:cTn id="17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utoUpdateAnimBg="0"/>
      <p:bldP spid="13" grpId="0" autoUpdateAnimBg="0"/>
      <p:bldP spid="14" grpId="0" autoUpdateAnimBg="0"/>
      <p:bldP spid="15" grpId="0" autoUpdateAnimBg="0"/>
      <p:bldP spid="16" grpId="0" animBg="1"/>
      <p:bldP spid="17" grpId="0" autoUpdateAnimBg="0"/>
      <p:bldP spid="18" grpId="0" autoUpdateAnimBg="0"/>
      <p:bldP spid="20" grpId="0" autoUpdateAnimBg="0"/>
      <p:bldP spid="29" grpId="0" autoUpdateAnimBg="0"/>
      <p:bldP spid="30" grpId="0" autoUpdateAnimBg="0"/>
      <p:bldP spid="31" grpId="0" autoUpdateAnimBg="0"/>
      <p:bldP spid="32" grpId="0" animBg="1"/>
      <p:bldP spid="43" grpId="0" autoUpdateAnimBg="0"/>
      <p:bldP spid="44" grpId="0" autoUpdateAnimBg="0"/>
      <p:bldP spid="45" grpId="0" autoUpdateAnimBg="0"/>
      <p:bldP spid="46" grpId="0" animBg="1"/>
      <p:bldP spid="59" grpId="0" autoUpdateAnimBg="0"/>
      <p:bldP spid="60" grpId="0" autoUpdateAnimBg="0"/>
      <p:bldP spid="61" grpId="0" autoUpdateAnimBg="0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5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490738" y="1344532"/>
            <a:ext cx="17942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Polígonos</a:t>
            </a:r>
            <a:endParaRPr lang="en-US" altLang="es-ES" sz="3200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40488" y="1249283"/>
            <a:ext cx="3431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Polígonos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regulares</a:t>
            </a:r>
            <a:endParaRPr lang="en-US" altLang="es-ES" sz="3200" dirty="0">
              <a:latin typeface="+mn-lt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927300" y="1862057"/>
            <a:ext cx="14037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Nombre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1047700" y="1863644"/>
            <a:ext cx="1908176" cy="523874"/>
            <a:chOff x="134" y="372"/>
            <a:chExt cx="1202" cy="330"/>
          </a:xfrm>
        </p:grpSpPr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134" y="372"/>
              <a:ext cx="12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s-ES" sz="2800" b="1" dirty="0">
                  <a:solidFill>
                    <a:srgbClr val="038CE1"/>
                  </a:solidFill>
                  <a:latin typeface="Calibri" panose="020F0502020204030204" pitchFamily="34" charset="0"/>
                </a:rPr>
                <a:t>Nº de </a:t>
              </a:r>
              <a:r>
                <a:rPr lang="en-US" altLang="es-ES" sz="2800" b="1" dirty="0" err="1">
                  <a:solidFill>
                    <a:srgbClr val="038CE1"/>
                  </a:solidFill>
                  <a:latin typeface="Calibri" panose="020F0502020204030204" pitchFamily="34" charset="0"/>
                </a:rPr>
                <a:t>lados</a:t>
              </a:r>
              <a:endParaRPr lang="en-US" altLang="es-ES" sz="2800" b="1" dirty="0">
                <a:solidFill>
                  <a:srgbClr val="038CE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52" y="648"/>
              <a:ext cx="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4359225" y="1860470"/>
            <a:ext cx="11673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Dibujo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8378775" y="1862057"/>
            <a:ext cx="14037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Nombre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6245175" y="1860470"/>
            <a:ext cx="11673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2800" b="1" dirty="0" err="1" smtClean="0">
                <a:solidFill>
                  <a:srgbClr val="038CE1"/>
                </a:solidFill>
                <a:latin typeface="Calibri" panose="020F0502020204030204" pitchFamily="34" charset="0"/>
              </a:rPr>
              <a:t>Dibujo</a:t>
            </a:r>
            <a:endParaRPr lang="en-US" altLang="es-ES" sz="2800" b="1" dirty="0">
              <a:solidFill>
                <a:srgbClr val="038CE1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H="1">
            <a:off x="6000700" y="1565195"/>
            <a:ext cx="15875" cy="5113337"/>
          </a:xfrm>
          <a:prstGeom prst="line">
            <a:avLst/>
          </a:prstGeom>
          <a:noFill/>
          <a:ln w="28575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1733500" y="3397170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0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635200" y="3546401"/>
            <a:ext cx="18208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Octógono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7930526" y="3473196"/>
            <a:ext cx="3099503" cy="48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s-ES" sz="3200" dirty="0" err="1" smtClean="0">
                <a:latin typeface="+mn-lt"/>
              </a:rPr>
              <a:t>Octógono</a:t>
            </a:r>
            <a:r>
              <a:rPr lang="en-US" altLang="es-ES" sz="3200" dirty="0" smtClean="0">
                <a:latin typeface="+mn-lt"/>
              </a:rPr>
              <a:t> regular</a:t>
            </a:r>
            <a:endParaRPr lang="en-US" altLang="es-ES" sz="3200" dirty="0">
              <a:latin typeface="+mn-lt"/>
            </a:endParaRPr>
          </a:p>
        </p:txBody>
      </p:sp>
      <p:sp>
        <p:nvSpPr>
          <p:cNvPr id="20" name="Freeform 15"/>
          <p:cNvSpPr>
            <a:spLocks/>
          </p:cNvSpPr>
          <p:nvPr/>
        </p:nvSpPr>
        <p:spPr bwMode="auto">
          <a:xfrm>
            <a:off x="4781500" y="3478132"/>
            <a:ext cx="914400" cy="685800"/>
          </a:xfrm>
          <a:custGeom>
            <a:avLst/>
            <a:gdLst>
              <a:gd name="T0" fmla="*/ 0 w 576"/>
              <a:gd name="T1" fmla="*/ 0 h 432"/>
              <a:gd name="T2" fmla="*/ 215900 w 576"/>
              <a:gd name="T3" fmla="*/ 355600 h 432"/>
              <a:gd name="T4" fmla="*/ 0 w 576"/>
              <a:gd name="T5" fmla="*/ 685800 h 432"/>
              <a:gd name="T6" fmla="*/ 914400 w 576"/>
              <a:gd name="T7" fmla="*/ 685800 h 432"/>
              <a:gd name="T8" fmla="*/ 558800 w 576"/>
              <a:gd name="T9" fmla="*/ 457200 h 432"/>
              <a:gd name="T10" fmla="*/ 901700 w 576"/>
              <a:gd name="T11" fmla="*/ 292100 h 432"/>
              <a:gd name="T12" fmla="*/ 495300 w 576"/>
              <a:gd name="T13" fmla="*/ 190500 h 432"/>
              <a:gd name="T14" fmla="*/ 685800 w 576"/>
              <a:gd name="T15" fmla="*/ 0 h 432"/>
              <a:gd name="T16" fmla="*/ 0 w 576"/>
              <a:gd name="T17" fmla="*/ 0 h 4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" h="432">
                <a:moveTo>
                  <a:pt x="0" y="0"/>
                </a:moveTo>
                <a:lnTo>
                  <a:pt x="136" y="224"/>
                </a:lnTo>
                <a:lnTo>
                  <a:pt x="0" y="432"/>
                </a:lnTo>
                <a:lnTo>
                  <a:pt x="576" y="432"/>
                </a:lnTo>
                <a:lnTo>
                  <a:pt x="352" y="288"/>
                </a:lnTo>
                <a:lnTo>
                  <a:pt x="568" y="184"/>
                </a:lnTo>
                <a:lnTo>
                  <a:pt x="312" y="120"/>
                </a:lnTo>
                <a:lnTo>
                  <a:pt x="432" y="0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1492200" y="5276770"/>
            <a:ext cx="692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0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2635200" y="5413295"/>
            <a:ext cx="18487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Decágono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23" name="Text Box 18"/>
          <p:cNvSpPr txBox="1">
            <a:spLocks noChangeArrowheads="1"/>
          </p:cNvSpPr>
          <p:nvPr/>
        </p:nvSpPr>
        <p:spPr bwMode="auto">
          <a:xfrm>
            <a:off x="8069797" y="5313282"/>
            <a:ext cx="3145050" cy="496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s-ES" sz="3200" dirty="0" err="1" smtClean="0">
                <a:latin typeface="+mn-lt"/>
              </a:rPr>
              <a:t>Decágono</a:t>
            </a:r>
            <a:r>
              <a:rPr lang="en-US" altLang="es-ES" sz="3200" dirty="0" smtClean="0">
                <a:latin typeface="+mn-lt"/>
              </a:rPr>
              <a:t> regular </a:t>
            </a:r>
            <a:endParaRPr lang="en-US" altLang="es-ES" sz="3200" dirty="0">
              <a:latin typeface="+mn-lt"/>
            </a:endParaRPr>
          </a:p>
        </p:txBody>
      </p:sp>
      <p:sp>
        <p:nvSpPr>
          <p:cNvPr id="24" name="Freeform 19"/>
          <p:cNvSpPr>
            <a:spLocks/>
          </p:cNvSpPr>
          <p:nvPr/>
        </p:nvSpPr>
        <p:spPr bwMode="auto">
          <a:xfrm>
            <a:off x="4464000" y="5383132"/>
            <a:ext cx="1219200" cy="609600"/>
          </a:xfrm>
          <a:custGeom>
            <a:avLst/>
            <a:gdLst>
              <a:gd name="T0" fmla="*/ 0 w 768"/>
              <a:gd name="T1" fmla="*/ 0 h 384"/>
              <a:gd name="T2" fmla="*/ 0 w 768"/>
              <a:gd name="T3" fmla="*/ 609600 h 384"/>
              <a:gd name="T4" fmla="*/ 1219200 w 768"/>
              <a:gd name="T5" fmla="*/ 609600 h 384"/>
              <a:gd name="T6" fmla="*/ 1219200 w 768"/>
              <a:gd name="T7" fmla="*/ 228600 h 384"/>
              <a:gd name="T8" fmla="*/ 838200 w 768"/>
              <a:gd name="T9" fmla="*/ 228600 h 384"/>
              <a:gd name="T10" fmla="*/ 838200 w 768"/>
              <a:gd name="T11" fmla="*/ 0 h 384"/>
              <a:gd name="T12" fmla="*/ 609600 w 768"/>
              <a:gd name="T13" fmla="*/ 0 h 384"/>
              <a:gd name="T14" fmla="*/ 609600 w 768"/>
              <a:gd name="T15" fmla="*/ 228600 h 384"/>
              <a:gd name="T16" fmla="*/ 304800 w 768"/>
              <a:gd name="T17" fmla="*/ 228600 h 384"/>
              <a:gd name="T18" fmla="*/ 304800 w 768"/>
              <a:gd name="T19" fmla="*/ 0 h 384"/>
              <a:gd name="T20" fmla="*/ 0 w 768"/>
              <a:gd name="T21" fmla="*/ 0 h 3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8" h="384">
                <a:moveTo>
                  <a:pt x="0" y="0"/>
                </a:moveTo>
                <a:lnTo>
                  <a:pt x="0" y="384"/>
                </a:lnTo>
                <a:lnTo>
                  <a:pt x="768" y="384"/>
                </a:lnTo>
                <a:lnTo>
                  <a:pt x="768" y="144"/>
                </a:lnTo>
                <a:lnTo>
                  <a:pt x="528" y="144"/>
                </a:lnTo>
                <a:lnTo>
                  <a:pt x="528" y="0"/>
                </a:lnTo>
                <a:lnTo>
                  <a:pt x="384" y="0"/>
                </a:lnTo>
                <a:lnTo>
                  <a:pt x="384" y="144"/>
                </a:lnTo>
                <a:lnTo>
                  <a:pt x="192" y="144"/>
                </a:lnTo>
                <a:lnTo>
                  <a:pt x="192" y="0"/>
                </a:lnTo>
                <a:lnTo>
                  <a:pt x="0" y="0"/>
                </a:lnTo>
                <a:close/>
              </a:path>
            </a:pathLst>
          </a:custGeom>
          <a:noFill/>
          <a:ln w="38100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grpSp>
        <p:nvGrpSpPr>
          <p:cNvPr id="25" name="Group 20"/>
          <p:cNvGrpSpPr>
            <a:grpSpLocks/>
          </p:cNvGrpSpPr>
          <p:nvPr/>
        </p:nvGrpSpPr>
        <p:grpSpPr bwMode="auto">
          <a:xfrm>
            <a:off x="6610300" y="3351132"/>
            <a:ext cx="914400" cy="914400"/>
            <a:chOff x="3552" y="3064"/>
            <a:chExt cx="576" cy="576"/>
          </a:xfrm>
        </p:grpSpPr>
        <p:sp>
          <p:nvSpPr>
            <p:cNvPr id="26" name="AutoShape 21"/>
            <p:cNvSpPr>
              <a:spLocks noChangeArrowheads="1"/>
            </p:cNvSpPr>
            <p:nvPr/>
          </p:nvSpPr>
          <p:spPr bwMode="auto">
            <a:xfrm>
              <a:off x="3600" y="3120"/>
              <a:ext cx="480" cy="480"/>
            </a:xfrm>
            <a:prstGeom prst="octagon">
              <a:avLst>
                <a:gd name="adj" fmla="val 29287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s-E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3624" y="3160"/>
              <a:ext cx="96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H="1">
              <a:off x="3960" y="3152"/>
              <a:ext cx="96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3624" y="3499"/>
              <a:ext cx="96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 flipV="1">
              <a:off x="3960" y="3491"/>
              <a:ext cx="96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3848" y="306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3840" y="354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3552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4032" y="3360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35" name="Group 30"/>
          <p:cNvGrpSpPr>
            <a:grpSpLocks/>
          </p:cNvGrpSpPr>
          <p:nvPr/>
        </p:nvGrpSpPr>
        <p:grpSpPr bwMode="auto">
          <a:xfrm>
            <a:off x="6457900" y="5230732"/>
            <a:ext cx="927100" cy="889000"/>
            <a:chOff x="3528" y="3680"/>
            <a:chExt cx="584" cy="560"/>
          </a:xfrm>
        </p:grpSpPr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3576" y="3704"/>
              <a:ext cx="504" cy="520"/>
            </a:xfrm>
            <a:custGeom>
              <a:avLst/>
              <a:gdLst>
                <a:gd name="T0" fmla="*/ 96 w 504"/>
                <a:gd name="T1" fmla="*/ 40 h 520"/>
                <a:gd name="T2" fmla="*/ 288 w 504"/>
                <a:gd name="T3" fmla="*/ 0 h 520"/>
                <a:gd name="T4" fmla="*/ 440 w 504"/>
                <a:gd name="T5" fmla="*/ 96 h 520"/>
                <a:gd name="T6" fmla="*/ 504 w 504"/>
                <a:gd name="T7" fmla="*/ 256 h 520"/>
                <a:gd name="T8" fmla="*/ 464 w 504"/>
                <a:gd name="T9" fmla="*/ 416 h 520"/>
                <a:gd name="T10" fmla="*/ 296 w 504"/>
                <a:gd name="T11" fmla="*/ 520 h 520"/>
                <a:gd name="T12" fmla="*/ 112 w 504"/>
                <a:gd name="T13" fmla="*/ 472 h 520"/>
                <a:gd name="T14" fmla="*/ 0 w 504"/>
                <a:gd name="T15" fmla="*/ 352 h 520"/>
                <a:gd name="T16" fmla="*/ 0 w 504"/>
                <a:gd name="T17" fmla="*/ 176 h 520"/>
                <a:gd name="T18" fmla="*/ 96 w 504"/>
                <a:gd name="T19" fmla="*/ 40 h 5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04" h="520">
                  <a:moveTo>
                    <a:pt x="96" y="40"/>
                  </a:moveTo>
                  <a:lnTo>
                    <a:pt x="288" y="0"/>
                  </a:lnTo>
                  <a:lnTo>
                    <a:pt x="440" y="96"/>
                  </a:lnTo>
                  <a:lnTo>
                    <a:pt x="504" y="256"/>
                  </a:lnTo>
                  <a:lnTo>
                    <a:pt x="464" y="416"/>
                  </a:lnTo>
                  <a:lnTo>
                    <a:pt x="296" y="520"/>
                  </a:lnTo>
                  <a:lnTo>
                    <a:pt x="112" y="472"/>
                  </a:lnTo>
                  <a:lnTo>
                    <a:pt x="0" y="352"/>
                  </a:lnTo>
                  <a:lnTo>
                    <a:pt x="0" y="176"/>
                  </a:lnTo>
                  <a:lnTo>
                    <a:pt x="96" y="40"/>
                  </a:lnTo>
                  <a:close/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3528" y="3976"/>
              <a:ext cx="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 rot="1658759">
              <a:off x="3576" y="3823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rot="4566853">
              <a:off x="3712" y="3727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 rot="7200000">
              <a:off x="3896" y="3751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 rot="-2569622">
              <a:off x="3584" y="4111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2" name="Line 37"/>
            <p:cNvSpPr>
              <a:spLocks noChangeShapeType="1"/>
            </p:cNvSpPr>
            <p:nvPr/>
          </p:nvSpPr>
          <p:spPr bwMode="auto">
            <a:xfrm rot="-4136667">
              <a:off x="3721" y="4191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3" name="Line 38"/>
            <p:cNvSpPr>
              <a:spLocks noChangeShapeType="1"/>
            </p:cNvSpPr>
            <p:nvPr/>
          </p:nvSpPr>
          <p:spPr bwMode="auto">
            <a:xfrm rot="3120000" flipH="1">
              <a:off x="3920" y="4176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rot="540000">
              <a:off x="4016" y="4032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5" name="Line 40"/>
            <p:cNvSpPr>
              <a:spLocks noChangeShapeType="1"/>
            </p:cNvSpPr>
            <p:nvPr/>
          </p:nvSpPr>
          <p:spPr bwMode="auto">
            <a:xfrm rot="-1140000">
              <a:off x="4000" y="3880"/>
              <a:ext cx="96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6" name="Text Box 41"/>
          <p:cNvSpPr txBox="1">
            <a:spLocks noChangeArrowheads="1"/>
          </p:cNvSpPr>
          <p:nvPr/>
        </p:nvSpPr>
        <p:spPr bwMode="auto">
          <a:xfrm>
            <a:off x="1809700" y="2411332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0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7" name="Text Box 42"/>
          <p:cNvSpPr txBox="1">
            <a:spLocks noChangeArrowheads="1"/>
          </p:cNvSpPr>
          <p:nvPr/>
        </p:nvSpPr>
        <p:spPr bwMode="auto">
          <a:xfrm>
            <a:off x="2552650" y="2634020"/>
            <a:ext cx="20297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Heptágono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48" name="Text Box 43"/>
          <p:cNvSpPr txBox="1">
            <a:spLocks noChangeArrowheads="1"/>
          </p:cNvSpPr>
          <p:nvPr/>
        </p:nvSpPr>
        <p:spPr bwMode="auto">
          <a:xfrm>
            <a:off x="1733500" y="4316332"/>
            <a:ext cx="438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0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9" name="Text Box 44"/>
          <p:cNvSpPr txBox="1">
            <a:spLocks noChangeArrowheads="1"/>
          </p:cNvSpPr>
          <p:nvPr/>
        </p:nvSpPr>
        <p:spPr bwMode="auto">
          <a:xfrm>
            <a:off x="2635200" y="4374781"/>
            <a:ext cx="19195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Nonágono</a:t>
            </a:r>
            <a:endParaRPr lang="en-US" altLang="es-ES" sz="3200" dirty="0">
              <a:latin typeface="+mn-lt"/>
            </a:endParaRPr>
          </a:p>
        </p:txBody>
      </p:sp>
      <p:sp>
        <p:nvSpPr>
          <p:cNvPr id="51" name="WordArt 25"/>
          <p:cNvSpPr>
            <a:spLocks noChangeArrowheads="1" noChangeShapeType="1" noTextEdit="1"/>
          </p:cNvSpPr>
          <p:nvPr/>
        </p:nvSpPr>
        <p:spPr bwMode="auto">
          <a:xfrm>
            <a:off x="1743075" y="254000"/>
            <a:ext cx="5029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Polígonos</a:t>
            </a:r>
            <a:endParaRPr lang="es-E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folHlink"/>
                  </a:gs>
                </a:gsLst>
                <a:lin ang="5400000" scaled="1"/>
              </a:gradFill>
              <a:latin typeface="Gill Sans Ultra Bold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291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utoUpdateAnimBg="0"/>
      <p:bldP spid="18" grpId="0" autoUpdateAnimBg="0"/>
      <p:bldP spid="19" grpId="0" autoUpdateAnimBg="0"/>
      <p:bldP spid="20" grpId="0" animBg="1"/>
      <p:bldP spid="21" grpId="0" autoUpdateAnimBg="0"/>
      <p:bldP spid="22" grpId="0" autoUpdateAnimBg="0"/>
      <p:bldP spid="23" grpId="0" autoUpdateAnimBg="0"/>
      <p:bldP spid="24" grpId="0" animBg="1"/>
      <p:bldP spid="46" grpId="0" autoUpdateAnimBg="0"/>
      <p:bldP spid="47" grpId="0" autoUpdateAnimBg="0"/>
      <p:bldP spid="48" grpId="0" autoUpdateAnimBg="0"/>
      <p:bldP spid="4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6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689006" y="3384177"/>
            <a:ext cx="3733800" cy="1752600"/>
          </a:xfrm>
          <a:prstGeom prst="rect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669706" y="1410633"/>
            <a:ext cx="1010624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dirty="0" smtClean="0">
                <a:latin typeface="Times New Roman" panose="02020603050405020304" pitchFamily="18" charset="0"/>
              </a:rPr>
              <a:t>El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área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de un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rectángulo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es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el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producto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de la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longitud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de la base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por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la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altura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.  </a:t>
            </a:r>
            <a:endParaRPr lang="en-US" altLang="es-ES" sz="2800" dirty="0">
              <a:latin typeface="Times New Roman" panose="02020603050405020304" pitchFamily="18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2317406" y="3681039"/>
            <a:ext cx="137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dirty="0" err="1" smtClean="0">
                <a:latin typeface="+mn-lt"/>
              </a:rPr>
              <a:t>Altura</a:t>
            </a:r>
            <a:endParaRPr lang="en-US" altLang="es-ES" sz="3200" dirty="0"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01868" y="5159002"/>
            <a:ext cx="1143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600" dirty="0" smtClean="0">
                <a:latin typeface="+mn-lt"/>
              </a:rPr>
              <a:t>Base</a:t>
            </a:r>
            <a:endParaRPr lang="en-US" altLang="es-ES" sz="3600" dirty="0">
              <a:latin typeface="+mn-lt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622206" y="4146177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600" dirty="0" smtClean="0">
                <a:latin typeface="Times New Roman" panose="02020603050405020304" pitchFamily="18" charset="0"/>
              </a:rPr>
              <a:t>(a)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5975006" y="5136777"/>
            <a:ext cx="935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600">
                <a:latin typeface="Times New Roman" panose="02020603050405020304" pitchFamily="18" charset="0"/>
              </a:rPr>
              <a:t>(b)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7865198" y="3765177"/>
            <a:ext cx="276730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800" dirty="0" err="1" smtClean="0">
                <a:latin typeface="Times New Roman" panose="02020603050405020304" pitchFamily="18" charset="0"/>
              </a:rPr>
              <a:t>Área</a:t>
            </a:r>
            <a:r>
              <a:rPr lang="en-US" altLang="es-ES" sz="4800" dirty="0">
                <a:latin typeface="Times New Roman" panose="02020603050405020304" pitchFamily="18" charset="0"/>
              </a:rPr>
              <a:t> 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=</a:t>
            </a:r>
            <a:endParaRPr lang="en-US" altLang="es-ES" sz="4000" dirty="0">
              <a:latin typeface="Times New Roman" panose="02020603050405020304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9632606" y="3761456"/>
            <a:ext cx="176189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dirty="0">
                <a:latin typeface="Times New Roman" panose="02020603050405020304" pitchFamily="18" charset="0"/>
              </a:rPr>
              <a:t>b</a:t>
            </a:r>
            <a:r>
              <a:rPr lang="en-US" altLang="es-ES" sz="4400" dirty="0" smtClean="0">
                <a:latin typeface="Times New Roman" panose="02020603050405020304" pitchFamily="18" charset="0"/>
              </a:rPr>
              <a:t> x a</a:t>
            </a:r>
            <a:endParaRPr lang="en-US" altLang="es-ES" sz="4400" dirty="0">
              <a:latin typeface="Times New Roman" panose="02020603050405020304" pitchFamily="18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679606" y="6584577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s-ES" altLang="es-ES" sz="2400">
              <a:latin typeface="Times New Roman" panose="02020603050405020304" pitchFamily="18" charset="0"/>
            </a:endParaRPr>
          </a:p>
        </p:txBody>
      </p:sp>
      <p:sp>
        <p:nvSpPr>
          <p:cNvPr id="19" name="WordArt 14"/>
          <p:cNvSpPr>
            <a:spLocks noChangeArrowheads="1" noChangeShapeType="1" noTextEdit="1"/>
          </p:cNvSpPr>
          <p:nvPr/>
        </p:nvSpPr>
        <p:spPr bwMode="auto">
          <a:xfrm>
            <a:off x="1669706" y="336177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rectángulo</a:t>
            </a:r>
          </a:p>
        </p:txBody>
      </p:sp>
    </p:spTree>
    <p:extLst>
      <p:ext uri="{BB962C8B-B14F-4D97-AF65-F5344CB8AC3E}">
        <p14:creationId xmlns:p14="http://schemas.microsoft.com/office/powerpoint/2010/main" val="343339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7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90509" y="1015440"/>
            <a:ext cx="9144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s-ES" sz="4400" b="1" dirty="0">
                <a:solidFill>
                  <a:srgbClr val="F77509"/>
                </a:solidFill>
              </a:rPr>
              <a:t/>
            </a:r>
            <a:br>
              <a:rPr lang="en-US" altLang="es-ES" sz="4400" b="1" dirty="0">
                <a:solidFill>
                  <a:srgbClr val="F77509"/>
                </a:solidFill>
              </a:rPr>
            </a:br>
            <a:r>
              <a:rPr lang="en-US" altLang="es-ES" sz="3600" dirty="0" smtClean="0"/>
              <a:t>¿</a:t>
            </a:r>
            <a:r>
              <a:rPr lang="en-US" altLang="es-ES" sz="3600" dirty="0" err="1" smtClean="0"/>
              <a:t>Cuál</a:t>
            </a:r>
            <a:r>
              <a:rPr lang="en-US" altLang="es-ES" sz="3600" dirty="0" smtClean="0"/>
              <a:t> </a:t>
            </a:r>
            <a:r>
              <a:rPr lang="en-US" altLang="es-ES" sz="3600" dirty="0" err="1" smtClean="0"/>
              <a:t>es</a:t>
            </a:r>
            <a:r>
              <a:rPr lang="en-US" altLang="es-ES" sz="3600" dirty="0" smtClean="0"/>
              <a:t> el </a:t>
            </a:r>
            <a:r>
              <a:rPr lang="en-US" altLang="es-ES" sz="3600" dirty="0" err="1" smtClean="0"/>
              <a:t>área</a:t>
            </a:r>
            <a:r>
              <a:rPr lang="en-US" altLang="es-ES" sz="3600" dirty="0" smtClean="0"/>
              <a:t> de </a:t>
            </a:r>
            <a:r>
              <a:rPr lang="en-US" altLang="es-ES" sz="3600" dirty="0" err="1" smtClean="0"/>
              <a:t>este</a:t>
            </a:r>
            <a:r>
              <a:rPr lang="en-US" altLang="es-ES" sz="3600" dirty="0" smtClean="0"/>
              <a:t> </a:t>
            </a:r>
            <a:r>
              <a:rPr lang="en-US" altLang="es-ES" sz="3600" dirty="0" err="1" smtClean="0"/>
              <a:t>rectángulo</a:t>
            </a:r>
            <a:r>
              <a:rPr lang="en-US" altLang="es-ES" sz="3600" dirty="0" smtClean="0"/>
              <a:t>?</a:t>
            </a:r>
            <a:endParaRPr lang="en-US" altLang="es-ES" sz="3600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27859" y="2690951"/>
            <a:ext cx="132440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 dirty="0">
                <a:latin typeface="Times New Roman" panose="02020603050405020304" pitchFamily="18" charset="0"/>
              </a:rPr>
              <a:t>2 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cm.</a:t>
            </a:r>
            <a:endParaRPr lang="en-US" altLang="es-ES" sz="4000" dirty="0">
              <a:latin typeface="Times New Roman" panose="02020603050405020304" pitchFamily="18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200400" y="3810000"/>
            <a:ext cx="17739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 dirty="0">
                <a:latin typeface="Times New Roman" panose="02020603050405020304" pitchFamily="18" charset="0"/>
              </a:rPr>
              <a:t>6 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cm.</a:t>
            </a:r>
            <a:endParaRPr lang="en-US" altLang="es-ES" sz="4000" dirty="0">
              <a:latin typeface="Times New Roman" panose="02020603050405020304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676400" y="2438400"/>
            <a:ext cx="4114800" cy="1295400"/>
          </a:xfrm>
          <a:prstGeom prst="rect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1676400" y="3048000"/>
            <a:ext cx="4114800" cy="0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3733800" y="2438400"/>
            <a:ext cx="0" cy="1296988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4419600" y="2438400"/>
            <a:ext cx="1588" cy="1296988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H="1">
            <a:off x="5105400" y="2438400"/>
            <a:ext cx="0" cy="1295400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 flipH="1">
            <a:off x="3048000" y="2438400"/>
            <a:ext cx="0" cy="1296988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 flipH="1">
            <a:off x="2362200" y="2438400"/>
            <a:ext cx="0" cy="1296988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1143000" y="4953000"/>
            <a:ext cx="8787384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s-ES" sz="4800" dirty="0">
                <a:solidFill>
                  <a:srgbClr val="038CE1"/>
                </a:solidFill>
                <a:latin typeface="+mn-lt"/>
              </a:rPr>
              <a:t>12 </a:t>
            </a:r>
            <a:r>
              <a:rPr lang="en-US" altLang="es-ES" sz="4800" dirty="0" smtClean="0">
                <a:solidFill>
                  <a:srgbClr val="038CE1"/>
                </a:solidFill>
                <a:latin typeface="+mn-lt"/>
              </a:rPr>
              <a:t>cm</a:t>
            </a:r>
            <a:r>
              <a:rPr lang="en-US" altLang="es-ES" sz="5400" baseline="40000" dirty="0" smtClean="0">
                <a:solidFill>
                  <a:srgbClr val="038CE1"/>
                </a:solidFill>
                <a:latin typeface="+mn-lt"/>
              </a:rPr>
              <a:t>2</a:t>
            </a:r>
            <a:r>
              <a:rPr lang="en-US" altLang="es-ES" sz="48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4800" dirty="0">
                <a:solidFill>
                  <a:srgbClr val="038CE1"/>
                </a:solidFill>
                <a:latin typeface="+mn-lt"/>
              </a:rPr>
              <a:t>or </a:t>
            </a:r>
            <a:r>
              <a:rPr lang="en-US" altLang="es-ES" sz="4800" dirty="0" err="1" smtClean="0">
                <a:solidFill>
                  <a:srgbClr val="038CE1"/>
                </a:solidFill>
                <a:latin typeface="+mn-lt"/>
              </a:rPr>
              <a:t>centímetros</a:t>
            </a:r>
            <a:r>
              <a:rPr lang="en-US" altLang="es-ES" sz="48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4800" dirty="0" err="1" smtClean="0">
                <a:solidFill>
                  <a:srgbClr val="038CE1"/>
                </a:solidFill>
                <a:latin typeface="+mn-lt"/>
              </a:rPr>
              <a:t>cuadrados</a:t>
            </a:r>
            <a:endParaRPr lang="en-US" altLang="es-ES" sz="4800" baseline="400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25" name="WordArt 14"/>
          <p:cNvSpPr>
            <a:spLocks noChangeArrowheads="1" noChangeShapeType="1" noTextEdit="1"/>
          </p:cNvSpPr>
          <p:nvPr/>
        </p:nvSpPr>
        <p:spPr bwMode="auto">
          <a:xfrm>
            <a:off x="1669706" y="336177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 smtClean="0">
                <a:solidFill>
                  <a:schemeClr val="accent2"/>
                </a:solidFill>
                <a:latin typeface="AvantGarde" pitchFamily="34" charset="0"/>
              </a:rPr>
              <a:t>Área de un rectángulo   </a:t>
            </a:r>
            <a:endParaRPr lang="es-ES" sz="3600" b="1" dirty="0">
              <a:solidFill>
                <a:schemeClr val="accent2"/>
              </a:solidFill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19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4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8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09344" y="1451947"/>
            <a:ext cx="9381744" cy="1905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s-ES" sz="3600" dirty="0" smtClean="0"/>
              <a:t>Un </a:t>
            </a:r>
            <a:r>
              <a:rPr lang="en-US" altLang="es-ES" sz="3600" dirty="0" err="1" smtClean="0"/>
              <a:t>cuadrado</a:t>
            </a:r>
            <a:r>
              <a:rPr lang="en-US" altLang="es-ES" sz="3600" dirty="0" smtClean="0"/>
              <a:t> </a:t>
            </a:r>
            <a:r>
              <a:rPr lang="en-US" altLang="es-ES" sz="3600" dirty="0" err="1" smtClean="0"/>
              <a:t>es</a:t>
            </a:r>
            <a:r>
              <a:rPr lang="en-US" altLang="es-ES" sz="3600" dirty="0" smtClean="0"/>
              <a:t> un </a:t>
            </a:r>
            <a:r>
              <a:rPr lang="en-US" altLang="es-ES" sz="3600" dirty="0" err="1" smtClean="0"/>
              <a:t>tipo</a:t>
            </a:r>
            <a:r>
              <a:rPr lang="en-US" altLang="es-ES" sz="3600" dirty="0" smtClean="0"/>
              <a:t> </a:t>
            </a:r>
            <a:r>
              <a:rPr lang="en-US" altLang="es-ES" sz="3600" b="1" dirty="0" smtClean="0">
                <a:solidFill>
                  <a:srgbClr val="00B0F0"/>
                </a:solidFill>
              </a:rPr>
              <a:t>especial de </a:t>
            </a:r>
            <a:r>
              <a:rPr lang="en-US" altLang="es-ES" sz="3600" b="1" dirty="0" err="1" smtClean="0">
                <a:solidFill>
                  <a:srgbClr val="00B0F0"/>
                </a:solidFill>
              </a:rPr>
              <a:t>rectángulo</a:t>
            </a:r>
            <a:r>
              <a:rPr lang="en-US" altLang="es-ES" sz="3600" dirty="0" smtClean="0"/>
              <a:t>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s-ES" sz="3600" dirty="0" smtClean="0"/>
              <a:t>Dado </a:t>
            </a:r>
            <a:r>
              <a:rPr lang="en-US" altLang="es-ES" sz="3600" dirty="0" err="1" smtClean="0"/>
              <a:t>que</a:t>
            </a:r>
            <a:r>
              <a:rPr lang="en-US" altLang="es-ES" sz="3600" dirty="0" smtClean="0"/>
              <a:t> la base y la </a:t>
            </a:r>
            <a:r>
              <a:rPr lang="en-US" altLang="es-ES" sz="3600" dirty="0" err="1" smtClean="0"/>
              <a:t>altura</a:t>
            </a:r>
            <a:r>
              <a:rPr lang="en-US" altLang="es-ES" sz="3600" dirty="0" smtClean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s-ES" sz="3600" b="1" dirty="0">
                <a:solidFill>
                  <a:srgbClr val="00B0F0"/>
                </a:solidFill>
              </a:rPr>
              <a:t>s</a:t>
            </a:r>
            <a:r>
              <a:rPr lang="en-US" altLang="es-ES" sz="3600" b="1" dirty="0" smtClean="0">
                <a:solidFill>
                  <a:srgbClr val="00B0F0"/>
                </a:solidFill>
              </a:rPr>
              <a:t>on </a:t>
            </a:r>
            <a:r>
              <a:rPr lang="en-US" altLang="es-ES" sz="3600" b="1" dirty="0" err="1" smtClean="0">
                <a:solidFill>
                  <a:srgbClr val="00B0F0"/>
                </a:solidFill>
              </a:rPr>
              <a:t>iguales</a:t>
            </a:r>
            <a:r>
              <a:rPr lang="en-US" altLang="es-ES" sz="3600" dirty="0" smtClean="0"/>
              <a:t>, </a:t>
            </a:r>
            <a:r>
              <a:rPr lang="en-US" altLang="es-ES" sz="3600" dirty="0" err="1" smtClean="0"/>
              <a:t>podemos</a:t>
            </a:r>
            <a:r>
              <a:rPr lang="en-US" altLang="es-ES" sz="3600" dirty="0" smtClean="0"/>
              <a:t> </a:t>
            </a:r>
            <a:r>
              <a:rPr lang="en-US" altLang="es-ES" sz="3600" dirty="0" err="1" smtClean="0"/>
              <a:t>denotar</a:t>
            </a:r>
            <a:r>
              <a:rPr lang="en-US" altLang="es-ES" sz="3600" dirty="0" smtClean="0"/>
              <a:t> a </a:t>
            </a:r>
            <a:r>
              <a:rPr lang="en-US" altLang="es-ES" sz="3600" dirty="0" err="1" smtClean="0"/>
              <a:t>cada</a:t>
            </a:r>
            <a:r>
              <a:rPr lang="en-US" altLang="es-ES" sz="3600" dirty="0" smtClean="0"/>
              <a:t> </a:t>
            </a:r>
            <a:r>
              <a:rPr lang="en-US" altLang="es-ES" sz="3600" dirty="0" err="1" smtClean="0"/>
              <a:t>lado</a:t>
            </a:r>
            <a:r>
              <a:rPr lang="en-US" altLang="es-ES" sz="3600" dirty="0" smtClean="0"/>
              <a:t> </a:t>
            </a:r>
            <a:r>
              <a:rPr lang="en-US" altLang="es-ES" sz="3600" dirty="0" err="1" smtClean="0"/>
              <a:t>como</a:t>
            </a:r>
            <a:r>
              <a:rPr lang="en-US" altLang="es-ES" sz="3600" dirty="0" smtClean="0"/>
              <a:t> </a:t>
            </a:r>
            <a:r>
              <a:rPr lang="en-US" altLang="es-ES" sz="4000" dirty="0" smtClean="0"/>
              <a:t>(</a:t>
            </a:r>
            <a:r>
              <a:rPr lang="en-US" altLang="es-ES" sz="4000" dirty="0" smtClean="0">
                <a:solidFill>
                  <a:schemeClr val="folHlink"/>
                </a:solidFill>
              </a:rPr>
              <a:t>L</a:t>
            </a:r>
            <a:r>
              <a:rPr lang="en-US" altLang="es-ES" sz="4000" dirty="0" smtClean="0"/>
              <a:t>)</a:t>
            </a:r>
            <a:r>
              <a:rPr lang="en-US" altLang="es-ES" sz="3600" dirty="0" smtClean="0"/>
              <a:t> en </a:t>
            </a:r>
            <a:r>
              <a:rPr lang="en-US" altLang="es-ES" sz="3600" dirty="0" err="1" smtClean="0"/>
              <a:t>lugar</a:t>
            </a:r>
            <a:r>
              <a:rPr lang="en-US" altLang="es-ES" sz="3600" dirty="0" smtClean="0"/>
              <a:t> de base y </a:t>
            </a:r>
            <a:r>
              <a:rPr lang="en-US" altLang="es-ES" sz="3600" dirty="0" err="1" smtClean="0"/>
              <a:t>altura</a:t>
            </a:r>
            <a:r>
              <a:rPr lang="en-US" altLang="es-ES" sz="3600" dirty="0" smtClean="0"/>
              <a:t>.</a:t>
            </a:r>
          </a:p>
          <a:p>
            <a:pPr lvl="1">
              <a:buFontTx/>
              <a:buNone/>
            </a:pPr>
            <a:endParaRPr lang="en-US" altLang="es-ES" sz="3200" dirty="0" smtClean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733544" y="4118947"/>
            <a:ext cx="1219200" cy="1143000"/>
          </a:xfrm>
          <a:prstGeom prst="rect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352544" y="4347547"/>
            <a:ext cx="5334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dirty="0" smtClean="0">
                <a:latin typeface="Times New Roman" panose="02020603050405020304" pitchFamily="18" charset="0"/>
              </a:rPr>
              <a:t>l</a:t>
            </a:r>
            <a:endParaRPr lang="en-US" altLang="es-ES" sz="4000" dirty="0">
              <a:latin typeface="Times New Roman" panose="02020603050405020304" pitchFamily="18" charset="0"/>
            </a:endParaRP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3742944" y="4118947"/>
            <a:ext cx="533400" cy="1143000"/>
            <a:chOff x="1200" y="2544"/>
            <a:chExt cx="336" cy="720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392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1200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3" name="Line 8"/>
            <p:cNvSpPr>
              <a:spLocks noChangeShapeType="1"/>
            </p:cNvSpPr>
            <p:nvPr/>
          </p:nvSpPr>
          <p:spPr bwMode="auto">
            <a:xfrm>
              <a:off x="12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2218944" y="4423747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800" b="1" dirty="0" err="1" smtClean="0">
                <a:latin typeface="Times New Roman" panose="02020603050405020304" pitchFamily="18" charset="0"/>
              </a:rPr>
              <a:t>altura</a:t>
            </a:r>
            <a:r>
              <a:rPr lang="en-US" altLang="es-ES" sz="2800" b="1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2800" b="1" dirty="0">
                <a:latin typeface="Times New Roman" panose="02020603050405020304" pitchFamily="18" charset="0"/>
              </a:rPr>
              <a:t>= </a:t>
            </a:r>
            <a:r>
              <a:rPr lang="en-US" altLang="es-ES" sz="2800" b="1" dirty="0" smtClean="0">
                <a:latin typeface="Times New Roman" panose="02020603050405020304" pitchFamily="18" charset="0"/>
              </a:rPr>
              <a:t>L</a:t>
            </a:r>
            <a:endParaRPr lang="en-US" altLang="es-ES" sz="2800" b="1" dirty="0">
              <a:latin typeface="Times New Roman" panose="02020603050405020304" pitchFamily="18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114544" y="4576147"/>
            <a:ext cx="457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dirty="0">
                <a:latin typeface="Times New Roman" panose="02020603050405020304" pitchFamily="18" charset="0"/>
              </a:rPr>
              <a:t> 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l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 </a:t>
            </a:r>
            <a:endParaRPr lang="en-US" altLang="es-ES" sz="3200" dirty="0">
              <a:latin typeface="Times New Roman" panose="02020603050405020304" pitchFamily="18" charset="0"/>
            </a:endParaRPr>
          </a:p>
        </p:txBody>
      </p:sp>
      <p:grpSp>
        <p:nvGrpSpPr>
          <p:cNvPr id="16" name="Group 11"/>
          <p:cNvGrpSpPr>
            <a:grpSpLocks/>
          </p:cNvGrpSpPr>
          <p:nvPr/>
        </p:nvGrpSpPr>
        <p:grpSpPr bwMode="auto">
          <a:xfrm rot="5400000">
            <a:off x="5038344" y="5261947"/>
            <a:ext cx="533400" cy="1143000"/>
            <a:chOff x="1200" y="2544"/>
            <a:chExt cx="336" cy="720"/>
          </a:xfrm>
        </p:grpSpPr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392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200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2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4504944" y="6100147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800" b="1" dirty="0">
                <a:latin typeface="Times New Roman" panose="02020603050405020304" pitchFamily="18" charset="0"/>
              </a:rPr>
              <a:t>base = </a:t>
            </a:r>
            <a:r>
              <a:rPr lang="en-US" altLang="es-ES" sz="2800" b="1" dirty="0" smtClean="0">
                <a:latin typeface="Times New Roman" panose="02020603050405020304" pitchFamily="18" charset="0"/>
              </a:rPr>
              <a:t>L</a:t>
            </a:r>
            <a:endParaRPr lang="en-US" altLang="es-ES" sz="2800" b="1" dirty="0">
              <a:latin typeface="Times New Roman" panose="02020603050405020304" pitchFamily="18" charset="0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6638544" y="3966547"/>
            <a:ext cx="49194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cap="rnd" algn="ctr">
                <a:solidFill>
                  <a:schemeClr val="folHlink"/>
                </a:solidFill>
                <a:prstDash val="sys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s-ES" sz="6000" dirty="0" err="1" smtClean="0">
                <a:latin typeface="Times New Roman" panose="02020603050405020304" pitchFamily="18" charset="0"/>
              </a:rPr>
              <a:t>Área</a:t>
            </a:r>
            <a:r>
              <a:rPr lang="en-US" altLang="es-ES" sz="6000" dirty="0" smtClean="0">
                <a:latin typeface="Times New Roman" panose="02020603050405020304" pitchFamily="18" charset="0"/>
              </a:rPr>
              <a:t>=L</a:t>
            </a:r>
            <a:r>
              <a:rPr lang="en-US" altLang="es-ES" sz="6000" baseline="52000" dirty="0" smtClean="0">
                <a:latin typeface="Times New Roman" panose="02020603050405020304" pitchFamily="18" charset="0"/>
              </a:rPr>
              <a:t>2</a:t>
            </a:r>
            <a:r>
              <a:rPr lang="en-US" altLang="es-ES" sz="6000" dirty="0" smtClean="0">
                <a:latin typeface="Times New Roman" panose="02020603050405020304" pitchFamily="18" charset="0"/>
              </a:rPr>
              <a:t>= 1</a:t>
            </a:r>
            <a:endParaRPr lang="en-US" altLang="es-ES" sz="6000" baseline="52000" dirty="0">
              <a:latin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endParaRPr lang="en-US" altLang="es-ES" sz="6000" baseline="52000" dirty="0">
              <a:latin typeface="Times New Roman" panose="02020603050405020304" pitchFamily="18" charset="0"/>
            </a:endParaRPr>
          </a:p>
        </p:txBody>
      </p:sp>
      <p:sp>
        <p:nvSpPr>
          <p:cNvPr id="22" name="WordArt 17"/>
          <p:cNvSpPr>
            <a:spLocks noChangeArrowheads="1" noChangeShapeType="1" noTextEdit="1"/>
          </p:cNvSpPr>
          <p:nvPr/>
        </p:nvSpPr>
        <p:spPr bwMode="auto">
          <a:xfrm>
            <a:off x="1876044" y="294660"/>
            <a:ext cx="6477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</a:t>
            </a:r>
            <a:r>
              <a:rPr lang="es-ES" sz="3600" b="1" dirty="0" smtClean="0">
                <a:solidFill>
                  <a:schemeClr val="accent2"/>
                </a:solidFill>
                <a:latin typeface="AvantGarde" pitchFamily="34" charset="0"/>
              </a:rPr>
              <a:t>cuadrado   </a:t>
            </a:r>
            <a:endParaRPr lang="es-ES" sz="3600" b="1" dirty="0">
              <a:solidFill>
                <a:schemeClr val="accent2"/>
              </a:solidFill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23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40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4" grpId="0" autoUpdateAnimBg="0"/>
      <p:bldP spid="15" grpId="0" autoUpdateAnimBg="0"/>
      <p:bldP spid="2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9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69606" y="1222433"/>
            <a:ext cx="8534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s-ES" sz="4400" b="1" dirty="0"/>
              <a:t/>
            </a:r>
            <a:br>
              <a:rPr lang="en-US" altLang="es-ES" sz="4400" b="1" dirty="0"/>
            </a:br>
            <a:r>
              <a:rPr lang="en-US" altLang="es-ES" sz="4400" b="1" dirty="0"/>
              <a:t>   </a:t>
            </a:r>
            <a:r>
              <a:rPr lang="en-US" altLang="es-ES" sz="4400" b="1" dirty="0" smtClean="0"/>
              <a:t>¿</a:t>
            </a:r>
            <a:r>
              <a:rPr lang="en-US" altLang="es-ES" sz="4400" dirty="0" err="1" smtClean="0">
                <a:latin typeface="+mn-lt"/>
              </a:rPr>
              <a:t>Cuál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err="1" smtClean="0">
                <a:latin typeface="+mn-lt"/>
              </a:rPr>
              <a:t>es</a:t>
            </a:r>
            <a:r>
              <a:rPr lang="en-US" altLang="es-ES" sz="4400" dirty="0" smtClean="0">
                <a:latin typeface="+mn-lt"/>
              </a:rPr>
              <a:t> el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 de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este</a:t>
            </a:r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cuadrado</a:t>
            </a:r>
            <a:r>
              <a:rPr lang="en-US" altLang="es-ES" sz="4400" dirty="0" smtClean="0"/>
              <a:t>?</a:t>
            </a:r>
            <a:endParaRPr lang="en-US" altLang="es-ES" sz="4400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936406" y="3051233"/>
            <a:ext cx="10874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>
                <a:latin typeface="Times New Roman" panose="02020603050405020304" pitchFamily="18" charset="0"/>
              </a:rPr>
              <a:t>4 m.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993806" y="4880033"/>
            <a:ext cx="1143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>
                <a:latin typeface="Times New Roman" panose="02020603050405020304" pitchFamily="18" charset="0"/>
              </a:rPr>
              <a:t>4 m.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3155606" y="2594033"/>
            <a:ext cx="2743200" cy="2438400"/>
          </a:xfrm>
          <a:prstGeom prst="rect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3155606" y="3203633"/>
            <a:ext cx="2743200" cy="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5898806" y="2594033"/>
            <a:ext cx="0" cy="243840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H="1">
            <a:off x="5213006" y="2594033"/>
            <a:ext cx="0" cy="243840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H="1">
            <a:off x="4527206" y="2594033"/>
            <a:ext cx="0" cy="243840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3155606" y="3813233"/>
            <a:ext cx="2743200" cy="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3155606" y="4422833"/>
            <a:ext cx="2743200" cy="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H="1">
            <a:off x="3841406" y="2594033"/>
            <a:ext cx="0" cy="2438400"/>
          </a:xfrm>
          <a:prstGeom prst="line">
            <a:avLst/>
          </a:prstGeom>
          <a:noFill/>
          <a:ln w="57150">
            <a:solidFill>
              <a:srgbClr val="ED7D3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1936406" y="5581708"/>
            <a:ext cx="7010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s-ES" sz="4800" dirty="0">
                <a:solidFill>
                  <a:srgbClr val="038CE1"/>
                </a:solidFill>
                <a:latin typeface="+mn-lt"/>
              </a:rPr>
              <a:t>16 m</a:t>
            </a:r>
            <a:r>
              <a:rPr lang="en-US" altLang="es-ES" sz="5400" baseline="40000" dirty="0">
                <a:solidFill>
                  <a:srgbClr val="038CE1"/>
                </a:solidFill>
                <a:latin typeface="+mn-lt"/>
              </a:rPr>
              <a:t>2</a:t>
            </a:r>
            <a:r>
              <a:rPr lang="en-US" altLang="es-ES" sz="4800" dirty="0">
                <a:solidFill>
                  <a:srgbClr val="038CE1"/>
                </a:solidFill>
                <a:latin typeface="+mn-lt"/>
              </a:rPr>
              <a:t> or </a:t>
            </a:r>
            <a:r>
              <a:rPr lang="en-US" altLang="es-ES" sz="4800" dirty="0" smtClean="0">
                <a:solidFill>
                  <a:srgbClr val="038CE1"/>
                </a:solidFill>
                <a:latin typeface="+mn-lt"/>
              </a:rPr>
              <a:t>metros </a:t>
            </a:r>
            <a:r>
              <a:rPr lang="en-US" altLang="es-ES" sz="4800" dirty="0" err="1" smtClean="0">
                <a:solidFill>
                  <a:srgbClr val="038CE1"/>
                </a:solidFill>
                <a:latin typeface="+mn-lt"/>
              </a:rPr>
              <a:t>cuadrados</a:t>
            </a:r>
            <a:endParaRPr lang="en-US" altLang="es-ES" sz="4800" baseline="400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25" name="WordArt 20"/>
          <p:cNvSpPr>
            <a:spLocks noChangeArrowheads="1" noChangeShapeType="1" noTextEdit="1"/>
          </p:cNvSpPr>
          <p:nvPr/>
        </p:nvSpPr>
        <p:spPr bwMode="auto">
          <a:xfrm>
            <a:off x="1898306" y="384233"/>
            <a:ext cx="6477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cuadrado   </a:t>
            </a:r>
          </a:p>
        </p:txBody>
      </p:sp>
    </p:spTree>
    <p:extLst>
      <p:ext uri="{BB962C8B-B14F-4D97-AF65-F5344CB8AC3E}">
        <p14:creationId xmlns:p14="http://schemas.microsoft.com/office/powerpoint/2010/main" val="68221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6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10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45704" y="1838129"/>
            <a:ext cx="8305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s-ES" sz="5400" dirty="0" smtClean="0">
                <a:latin typeface="+mn-lt"/>
              </a:rPr>
              <a:t>Dada la </a:t>
            </a:r>
            <a:r>
              <a:rPr lang="en-US" altLang="es-ES" sz="5400" dirty="0" err="1" smtClean="0">
                <a:latin typeface="+mn-lt"/>
              </a:rPr>
              <a:t>fórmla</a:t>
            </a:r>
            <a:r>
              <a:rPr lang="en-US" altLang="es-ES" sz="5400" dirty="0" smtClean="0">
                <a:latin typeface="+mn-lt"/>
              </a:rPr>
              <a:t> del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54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rectángulo</a:t>
            </a:r>
            <a:r>
              <a:rPr lang="en-US" altLang="es-ES" sz="5400" dirty="0" smtClean="0">
                <a:latin typeface="+mn-lt"/>
              </a:rPr>
              <a:t>, </a:t>
            </a:r>
            <a:r>
              <a:rPr lang="en-US" altLang="es-ES" sz="5400" dirty="0" err="1" smtClean="0">
                <a:latin typeface="+mn-lt"/>
              </a:rPr>
              <a:t>vamos</a:t>
            </a:r>
            <a:r>
              <a:rPr lang="en-US" altLang="es-ES" sz="5400" dirty="0" smtClean="0">
                <a:latin typeface="+mn-lt"/>
              </a:rPr>
              <a:t> a </a:t>
            </a:r>
            <a:r>
              <a:rPr lang="en-US" altLang="es-ES" sz="5400" dirty="0" err="1" smtClean="0">
                <a:latin typeface="+mn-lt"/>
              </a:rPr>
              <a:t>calcular</a:t>
            </a:r>
            <a:r>
              <a:rPr lang="en-US" altLang="es-ES" sz="5400" dirty="0" smtClean="0">
                <a:latin typeface="+mn-lt"/>
              </a:rPr>
              <a:t> la formula del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54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paralelogramo</a:t>
            </a:r>
            <a:endParaRPr lang="en-US" altLang="es-ES" sz="54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9" name="WordArt 4"/>
          <p:cNvSpPr>
            <a:spLocks noChangeArrowheads="1" noChangeShapeType="1" noTextEdit="1"/>
          </p:cNvSpPr>
          <p:nvPr/>
        </p:nvSpPr>
        <p:spPr bwMode="auto">
          <a:xfrm>
            <a:off x="1945704" y="390329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</a:t>
            </a:r>
            <a:r>
              <a:rPr lang="es-ES" sz="3600" b="1" dirty="0" smtClean="0">
                <a:solidFill>
                  <a:schemeClr val="accent2"/>
                </a:solidFill>
                <a:latin typeface="AvantGarde" pitchFamily="34" charset="0"/>
              </a:rPr>
              <a:t>paralelogramo   </a:t>
            </a:r>
            <a:endParaRPr lang="es-ES" sz="3600" b="1" dirty="0">
              <a:solidFill>
                <a:schemeClr val="accent2"/>
              </a:solidFill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61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11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4917504" y="1437757"/>
            <a:ext cx="2743200" cy="1295400"/>
          </a:xfrm>
          <a:prstGeom prst="parallelogram">
            <a:avLst>
              <a:gd name="adj" fmla="val 52941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5603304" y="1437757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9" name="Freeform 4"/>
          <p:cNvSpPr>
            <a:spLocks/>
          </p:cNvSpPr>
          <p:nvPr/>
        </p:nvSpPr>
        <p:spPr bwMode="auto">
          <a:xfrm>
            <a:off x="5146104" y="5019157"/>
            <a:ext cx="2057400" cy="1295400"/>
          </a:xfrm>
          <a:custGeom>
            <a:avLst/>
            <a:gdLst>
              <a:gd name="T0" fmla="*/ 0 w 1296"/>
              <a:gd name="T1" fmla="*/ 1295400 h 816"/>
              <a:gd name="T2" fmla="*/ 0 w 1296"/>
              <a:gd name="T3" fmla="*/ 0 h 816"/>
              <a:gd name="T4" fmla="*/ 2057400 w 1296"/>
              <a:gd name="T5" fmla="*/ 0 h 816"/>
              <a:gd name="T6" fmla="*/ 1371600 w 1296"/>
              <a:gd name="T7" fmla="*/ 1295400 h 816"/>
              <a:gd name="T8" fmla="*/ 0 w 1296"/>
              <a:gd name="T9" fmla="*/ 129540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96" h="816">
                <a:moveTo>
                  <a:pt x="0" y="816"/>
                </a:moveTo>
                <a:lnTo>
                  <a:pt x="0" y="0"/>
                </a:lnTo>
                <a:lnTo>
                  <a:pt x="1296" y="0"/>
                </a:lnTo>
                <a:lnTo>
                  <a:pt x="864" y="816"/>
                </a:lnTo>
                <a:lnTo>
                  <a:pt x="0" y="816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 flipH="1">
            <a:off x="4460304" y="5019157"/>
            <a:ext cx="685800" cy="12954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098103" y="2961757"/>
            <a:ext cx="935595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600" dirty="0" err="1" smtClean="0">
                <a:latin typeface="+mn-lt"/>
              </a:rPr>
              <a:t>Dibuja</a:t>
            </a:r>
            <a:r>
              <a:rPr lang="en-US" altLang="es-ES" sz="3600" dirty="0" smtClean="0">
                <a:latin typeface="+mn-lt"/>
              </a:rPr>
              <a:t> </a:t>
            </a:r>
            <a:r>
              <a:rPr lang="en-US" altLang="es-ES" sz="3600" dirty="0" err="1" smtClean="0">
                <a:latin typeface="+mn-lt"/>
              </a:rPr>
              <a:t>una</a:t>
            </a:r>
            <a:r>
              <a:rPr lang="en-US" altLang="es-ES" sz="3600" dirty="0" smtClean="0">
                <a:latin typeface="+mn-lt"/>
              </a:rPr>
              <a:t> </a:t>
            </a:r>
            <a:r>
              <a:rPr lang="en-US" altLang="es-ES" sz="36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3600" dirty="0" err="1" smtClean="0">
                <a:solidFill>
                  <a:srgbClr val="038CE1"/>
                </a:solidFill>
                <a:latin typeface="+mn-lt"/>
              </a:rPr>
              <a:t>línea</a:t>
            </a:r>
            <a:r>
              <a:rPr lang="en-US" altLang="es-ES" sz="3600" dirty="0" smtClean="0">
                <a:solidFill>
                  <a:srgbClr val="038CE1"/>
                </a:solidFill>
                <a:latin typeface="+mn-lt"/>
              </a:rPr>
              <a:t> recta </a:t>
            </a:r>
            <a:r>
              <a:rPr lang="en-US" altLang="es-ES" sz="3600" dirty="0" err="1" smtClean="0">
                <a:latin typeface="+mn-lt"/>
              </a:rPr>
              <a:t>desde</a:t>
            </a:r>
            <a:r>
              <a:rPr lang="en-US" altLang="es-ES" sz="3600" dirty="0" smtClean="0">
                <a:latin typeface="+mn-lt"/>
              </a:rPr>
              <a:t> el </a:t>
            </a:r>
            <a:r>
              <a:rPr lang="en-US" altLang="es-ES" sz="3600" dirty="0" err="1" smtClean="0">
                <a:latin typeface="+mn-lt"/>
              </a:rPr>
              <a:t>vértice</a:t>
            </a:r>
            <a:r>
              <a:rPr lang="en-US" altLang="es-ES" sz="3600" dirty="0" smtClean="0">
                <a:latin typeface="+mn-lt"/>
              </a:rPr>
              <a:t> superior </a:t>
            </a:r>
            <a:r>
              <a:rPr lang="en-US" altLang="es-ES" sz="3600" dirty="0" err="1" smtClean="0">
                <a:latin typeface="+mn-lt"/>
              </a:rPr>
              <a:t>izquierdo</a:t>
            </a:r>
            <a:r>
              <a:rPr lang="en-US" altLang="es-ES" sz="3600" dirty="0" smtClean="0">
                <a:latin typeface="+mn-lt"/>
              </a:rPr>
              <a:t> </a:t>
            </a:r>
            <a:r>
              <a:rPr lang="en-US" altLang="es-ES" sz="3600" dirty="0" err="1" smtClean="0">
                <a:latin typeface="+mn-lt"/>
              </a:rPr>
              <a:t>que</a:t>
            </a:r>
            <a:r>
              <a:rPr lang="en-US" altLang="es-ES" sz="3600" dirty="0" smtClean="0">
                <a:latin typeface="+mn-lt"/>
              </a:rPr>
              <a:t> sea perpendicular a la base</a:t>
            </a:r>
            <a:endParaRPr lang="en-US" altLang="es-ES" sz="3600" dirty="0">
              <a:latin typeface="+mn-lt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717104" y="4257157"/>
            <a:ext cx="98957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600" dirty="0">
                <a:solidFill>
                  <a:srgbClr val="FFFF66"/>
                </a:solidFill>
                <a:latin typeface="+mn-lt"/>
              </a:rPr>
              <a:t>    </a:t>
            </a:r>
            <a:r>
              <a:rPr lang="en-US" altLang="es-ES" sz="3600" dirty="0" err="1" smtClean="0">
                <a:solidFill>
                  <a:srgbClr val="038CE1"/>
                </a:solidFill>
                <a:latin typeface="+mn-lt"/>
              </a:rPr>
              <a:t>Corta</a:t>
            </a:r>
            <a:r>
              <a:rPr lang="en-US" altLang="es-ES" sz="3600" dirty="0" smtClean="0">
                <a:solidFill>
                  <a:srgbClr val="038CE1"/>
                </a:solidFill>
                <a:latin typeface="+mn-lt"/>
              </a:rPr>
              <a:t> el </a:t>
            </a:r>
            <a:r>
              <a:rPr lang="en-US" altLang="es-ES" sz="3600" dirty="0" err="1" smtClean="0">
                <a:solidFill>
                  <a:srgbClr val="038CE1"/>
                </a:solidFill>
                <a:latin typeface="+mn-lt"/>
              </a:rPr>
              <a:t>triángulo</a:t>
            </a:r>
            <a:r>
              <a:rPr lang="en-US" altLang="es-ES" sz="36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3600" dirty="0" smtClean="0">
                <a:latin typeface="+mn-lt"/>
              </a:rPr>
              <a:t>y </a:t>
            </a:r>
            <a:r>
              <a:rPr lang="en-US" altLang="es-ES" sz="3600" dirty="0" err="1" smtClean="0">
                <a:latin typeface="+mn-lt"/>
              </a:rPr>
              <a:t>llévalo</a:t>
            </a:r>
            <a:r>
              <a:rPr lang="en-US" altLang="es-ES" sz="3600" dirty="0" smtClean="0">
                <a:latin typeface="+mn-lt"/>
              </a:rPr>
              <a:t> al </a:t>
            </a:r>
            <a:r>
              <a:rPr lang="en-US" altLang="es-ES" sz="3600" dirty="0" err="1" smtClean="0">
                <a:latin typeface="+mn-lt"/>
              </a:rPr>
              <a:t>otro</a:t>
            </a:r>
            <a:r>
              <a:rPr lang="en-US" altLang="es-ES" sz="3600" dirty="0" smtClean="0">
                <a:latin typeface="+mn-lt"/>
              </a:rPr>
              <a:t> </a:t>
            </a:r>
            <a:r>
              <a:rPr lang="en-US" altLang="es-ES" sz="3600" dirty="0" err="1" smtClean="0">
                <a:latin typeface="+mn-lt"/>
              </a:rPr>
              <a:t>lado</a:t>
            </a:r>
            <a:endParaRPr lang="en-US" altLang="es-ES" sz="3600" dirty="0">
              <a:latin typeface="+mn-lt"/>
            </a:endParaRPr>
          </a:p>
        </p:txBody>
      </p:sp>
      <p:grpSp>
        <p:nvGrpSpPr>
          <p:cNvPr id="13" name="Group 8"/>
          <p:cNvGrpSpPr>
            <a:grpSpLocks/>
          </p:cNvGrpSpPr>
          <p:nvPr/>
        </p:nvGrpSpPr>
        <p:grpSpPr bwMode="auto">
          <a:xfrm>
            <a:off x="5603304" y="2428357"/>
            <a:ext cx="228600" cy="304800"/>
            <a:chOff x="3744" y="1440"/>
            <a:chExt cx="144" cy="144"/>
          </a:xfrm>
        </p:grpSpPr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3744" y="1440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3888" y="1440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2098104" y="4866757"/>
            <a:ext cx="23622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b="1" dirty="0" smtClean="0">
                <a:latin typeface="+mn-lt"/>
              </a:rPr>
              <a:t>¿</a:t>
            </a:r>
            <a:r>
              <a:rPr lang="en-US" altLang="es-ES" sz="3200" b="1" dirty="0" err="1" smtClean="0">
                <a:latin typeface="+mn-lt"/>
              </a:rPr>
              <a:t>Qué</a:t>
            </a:r>
            <a:r>
              <a:rPr lang="en-US" altLang="es-ES" sz="3200" b="1" dirty="0" smtClean="0">
                <a:latin typeface="+mn-lt"/>
              </a:rPr>
              <a:t> forma </a:t>
            </a:r>
            <a:r>
              <a:rPr lang="en-US" altLang="es-ES" sz="3200" b="1" dirty="0" err="1" smtClean="0">
                <a:latin typeface="+mn-lt"/>
              </a:rPr>
              <a:t>obtienes</a:t>
            </a:r>
            <a:r>
              <a:rPr lang="en-US" altLang="es-ES" sz="3200" b="1" dirty="0" smtClean="0">
                <a:latin typeface="+mn-lt"/>
              </a:rPr>
              <a:t>?  </a:t>
            </a:r>
            <a:r>
              <a:rPr lang="en-US" altLang="es-ES" sz="2800" b="1" dirty="0" smtClean="0">
                <a:latin typeface="+mn-lt"/>
              </a:rPr>
              <a:t>   </a:t>
            </a:r>
            <a:endParaRPr lang="en-US" altLang="es-ES" sz="2800" b="1" dirty="0">
              <a:latin typeface="+mn-lt"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8498904" y="5019157"/>
            <a:ext cx="27432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dirty="0" err="1" smtClean="0">
                <a:solidFill>
                  <a:schemeClr val="folHlink"/>
                </a:solidFill>
                <a:latin typeface="+mn-lt"/>
              </a:rPr>
              <a:t>Rectángulo</a:t>
            </a:r>
            <a:r>
              <a:rPr lang="en-US" altLang="es-ES" sz="4000" dirty="0" smtClean="0">
                <a:solidFill>
                  <a:schemeClr val="folHlink"/>
                </a:solidFill>
                <a:latin typeface="+mn-lt"/>
              </a:rPr>
              <a:t> </a:t>
            </a:r>
            <a:r>
              <a:rPr lang="en-US" altLang="es-ES" sz="2800" dirty="0" smtClean="0">
                <a:latin typeface="+mn-lt"/>
              </a:rPr>
              <a:t>   </a:t>
            </a:r>
            <a:endParaRPr lang="en-US" altLang="es-ES" sz="2800" dirty="0">
              <a:latin typeface="+mn-lt"/>
            </a:endParaRPr>
          </a:p>
        </p:txBody>
      </p:sp>
      <p:sp>
        <p:nvSpPr>
          <p:cNvPr id="18" name="WordArt 13"/>
          <p:cNvSpPr>
            <a:spLocks noChangeArrowheads="1" noChangeShapeType="1" noTextEdit="1"/>
          </p:cNvSpPr>
          <p:nvPr/>
        </p:nvSpPr>
        <p:spPr bwMode="auto">
          <a:xfrm>
            <a:off x="2174304" y="447157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paralelogramo   </a:t>
            </a:r>
          </a:p>
        </p:txBody>
      </p:sp>
    </p:spTree>
    <p:extLst>
      <p:ext uri="{BB962C8B-B14F-4D97-AF65-F5344CB8AC3E}">
        <p14:creationId xmlns:p14="http://schemas.microsoft.com/office/powerpoint/2010/main" val="306337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12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12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2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12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12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2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11111E-6 L 0.17357 0.0088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72" y="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  <p:bldP spid="12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12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766047" y="5651218"/>
            <a:ext cx="48768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800" dirty="0" smtClean="0">
                <a:latin typeface="+mn-lt"/>
              </a:rPr>
              <a:t>¿</a:t>
            </a:r>
            <a:r>
              <a:rPr lang="en-US" altLang="es-ES" sz="2800" dirty="0" err="1" smtClean="0">
                <a:latin typeface="+mn-lt"/>
              </a:rPr>
              <a:t>Cuál</a:t>
            </a:r>
            <a:r>
              <a:rPr lang="en-US" altLang="es-ES" sz="2800" dirty="0" smtClean="0">
                <a:latin typeface="+mn-lt"/>
              </a:rPr>
              <a:t> </a:t>
            </a:r>
            <a:r>
              <a:rPr lang="en-US" altLang="es-ES" sz="2800" dirty="0" err="1" smtClean="0">
                <a:latin typeface="+mn-lt"/>
              </a:rPr>
              <a:t>es</a:t>
            </a:r>
            <a:r>
              <a:rPr lang="en-US" altLang="es-ES" sz="2800" dirty="0" smtClean="0">
                <a:latin typeface="+mn-lt"/>
              </a:rPr>
              <a:t> la formula para el </a:t>
            </a:r>
            <a:r>
              <a:rPr lang="en-US" altLang="es-ES" sz="2800" dirty="0" err="1">
                <a:solidFill>
                  <a:srgbClr val="038CE1"/>
                </a:solidFill>
                <a:latin typeface="+mn-lt"/>
              </a:rPr>
              <a:t>á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rea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paralelogramo</a:t>
            </a:r>
            <a:r>
              <a:rPr lang="en-US" altLang="es-ES" sz="2800" dirty="0" smtClean="0">
                <a:latin typeface="+mn-lt"/>
              </a:rPr>
              <a:t>?</a:t>
            </a:r>
            <a:endParaRPr lang="en-US" altLang="es-ES" sz="2800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479176" y="1065486"/>
            <a:ext cx="1032734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dirty="0" err="1" smtClean="0">
                <a:latin typeface="+mn-lt"/>
              </a:rPr>
              <a:t>Utiliza</a:t>
            </a:r>
            <a:r>
              <a:rPr lang="en-US" altLang="es-ES" sz="3200" dirty="0" smtClean="0">
                <a:latin typeface="+mn-lt"/>
              </a:rPr>
              <a:t> la </a:t>
            </a:r>
            <a:r>
              <a:rPr lang="en-US" altLang="es-ES" sz="3200" dirty="0" err="1" smtClean="0">
                <a:latin typeface="+mn-lt"/>
              </a:rPr>
              <a:t>siguiente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informacón</a:t>
            </a:r>
            <a:r>
              <a:rPr lang="en-US" altLang="es-ES" sz="3200" dirty="0" smtClean="0">
                <a:latin typeface="+mn-lt"/>
              </a:rPr>
              <a:t> para </a:t>
            </a:r>
            <a:r>
              <a:rPr lang="en-US" altLang="es-ES" sz="3200" dirty="0" err="1" smtClean="0">
                <a:latin typeface="+mn-lt"/>
              </a:rPr>
              <a:t>calcular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smtClean="0">
                <a:solidFill>
                  <a:srgbClr val="038CE1"/>
                </a:solidFill>
                <a:latin typeface="+mn-lt"/>
              </a:rPr>
              <a:t>el </a:t>
            </a:r>
            <a:r>
              <a:rPr lang="en-US" altLang="es-ES" sz="32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32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3200" dirty="0" err="1" smtClean="0">
                <a:solidFill>
                  <a:srgbClr val="038CE1"/>
                </a:solidFill>
                <a:latin typeface="+mn-lt"/>
              </a:rPr>
              <a:t>paralelogramo</a:t>
            </a:r>
            <a:endParaRPr lang="en-US" altLang="es-ES" sz="32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9" name="Freeform 4"/>
          <p:cNvSpPr>
            <a:spLocks/>
          </p:cNvSpPr>
          <p:nvPr/>
        </p:nvSpPr>
        <p:spPr bwMode="auto">
          <a:xfrm>
            <a:off x="7633447" y="4279618"/>
            <a:ext cx="2057400" cy="1295400"/>
          </a:xfrm>
          <a:custGeom>
            <a:avLst/>
            <a:gdLst>
              <a:gd name="T0" fmla="*/ 0 w 1296"/>
              <a:gd name="T1" fmla="*/ 1295400 h 816"/>
              <a:gd name="T2" fmla="*/ 0 w 1296"/>
              <a:gd name="T3" fmla="*/ 0 h 816"/>
              <a:gd name="T4" fmla="*/ 2057400 w 1296"/>
              <a:gd name="T5" fmla="*/ 0 h 816"/>
              <a:gd name="T6" fmla="*/ 1371600 w 1296"/>
              <a:gd name="T7" fmla="*/ 1295400 h 816"/>
              <a:gd name="T8" fmla="*/ 0 w 1296"/>
              <a:gd name="T9" fmla="*/ 129540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96" h="816">
                <a:moveTo>
                  <a:pt x="0" y="816"/>
                </a:moveTo>
                <a:lnTo>
                  <a:pt x="0" y="0"/>
                </a:lnTo>
                <a:lnTo>
                  <a:pt x="1296" y="0"/>
                </a:lnTo>
                <a:lnTo>
                  <a:pt x="864" y="816"/>
                </a:lnTo>
                <a:lnTo>
                  <a:pt x="0" y="816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 flipH="1">
            <a:off x="6947647" y="4279618"/>
            <a:ext cx="685800" cy="12954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918447" y="4279618"/>
            <a:ext cx="5334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800" dirty="0" smtClean="0">
                <a:latin typeface="+mn-lt"/>
              </a:rPr>
              <a:t>¡Un </a:t>
            </a:r>
            <a:r>
              <a:rPr lang="en-US" altLang="es-ES" sz="2800" dirty="0" err="1" smtClean="0">
                <a:latin typeface="+mn-lt"/>
              </a:rPr>
              <a:t>paralelogramo</a:t>
            </a:r>
            <a:r>
              <a:rPr lang="en-US" altLang="es-ES" sz="2800" dirty="0" smtClean="0">
                <a:latin typeface="+mn-lt"/>
              </a:rPr>
              <a:t> </a:t>
            </a:r>
            <a:r>
              <a:rPr lang="en-US" altLang="es-ES" sz="2800" dirty="0" err="1" smtClean="0">
                <a:latin typeface="+mn-lt"/>
              </a:rPr>
              <a:t>tiene</a:t>
            </a:r>
            <a:r>
              <a:rPr lang="en-US" altLang="es-ES" sz="2800" dirty="0" smtClean="0">
                <a:latin typeface="+mn-lt"/>
              </a:rPr>
              <a:t> 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</a:rPr>
              <a:t>la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misma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2800" dirty="0" smtClean="0">
                <a:solidFill>
                  <a:srgbClr val="FFFF66"/>
                </a:solidFill>
                <a:latin typeface="+mn-lt"/>
              </a:rPr>
              <a:t> </a:t>
            </a:r>
            <a:r>
              <a:rPr lang="en-US" altLang="es-ES" sz="2800" dirty="0" err="1" smtClean="0">
                <a:latin typeface="+mn-lt"/>
              </a:rPr>
              <a:t>que</a:t>
            </a:r>
            <a:r>
              <a:rPr lang="en-US" altLang="es-ES" sz="2800" dirty="0" smtClean="0">
                <a:latin typeface="+mn-lt"/>
              </a:rPr>
              <a:t> un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rectángulo</a:t>
            </a:r>
            <a:r>
              <a:rPr lang="en-US" altLang="es-ES" sz="2800" dirty="0" smtClean="0">
                <a:solidFill>
                  <a:srgbClr val="FFFF66"/>
                </a:solidFill>
                <a:latin typeface="+mn-lt"/>
              </a:rPr>
              <a:t> </a:t>
            </a:r>
            <a:r>
              <a:rPr lang="en-US" altLang="es-ES" sz="2800" dirty="0" smtClean="0">
                <a:latin typeface="+mn-lt"/>
              </a:rPr>
              <a:t>!</a:t>
            </a:r>
            <a:endParaRPr lang="en-US" altLang="es-ES" sz="2800" dirty="0">
              <a:latin typeface="+mn-lt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033247" y="2374618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b="1" dirty="0">
                <a:latin typeface="Times New Roman" panose="02020603050405020304" pitchFamily="18" charset="0"/>
              </a:rPr>
              <a:t>  </a:t>
            </a:r>
            <a:r>
              <a:rPr lang="en-US" altLang="es-ES" sz="3200" b="1" dirty="0" smtClean="0">
                <a:latin typeface="Times New Roman" panose="02020603050405020304" pitchFamily="18" charset="0"/>
              </a:rPr>
              <a:t>a</a:t>
            </a:r>
            <a:endParaRPr lang="en-US" altLang="es-E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3" name="Group 8"/>
          <p:cNvGrpSpPr>
            <a:grpSpLocks/>
          </p:cNvGrpSpPr>
          <p:nvPr/>
        </p:nvGrpSpPr>
        <p:grpSpPr bwMode="auto">
          <a:xfrm rot="5400000">
            <a:off x="3747247" y="2831818"/>
            <a:ext cx="533400" cy="2057400"/>
            <a:chOff x="1200" y="2544"/>
            <a:chExt cx="336" cy="720"/>
          </a:xfrm>
        </p:grpSpPr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1392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200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2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3290047" y="3822418"/>
            <a:ext cx="1600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400">
                <a:latin typeface="Times New Roman" panose="02020603050405020304" pitchFamily="18" charset="0"/>
              </a:rPr>
              <a:t>base = </a:t>
            </a:r>
            <a:r>
              <a:rPr lang="en-US" altLang="es-ES" sz="32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>
            <a:off x="2985247" y="2146018"/>
            <a:ext cx="2743200" cy="1295400"/>
          </a:xfrm>
          <a:prstGeom prst="parallelogram">
            <a:avLst>
              <a:gd name="adj" fmla="val 52941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3671047" y="2146018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20" name="Freeform 15"/>
          <p:cNvSpPr>
            <a:spLocks/>
          </p:cNvSpPr>
          <p:nvPr/>
        </p:nvSpPr>
        <p:spPr bwMode="auto">
          <a:xfrm>
            <a:off x="6642847" y="2146018"/>
            <a:ext cx="2057400" cy="1295400"/>
          </a:xfrm>
          <a:custGeom>
            <a:avLst/>
            <a:gdLst>
              <a:gd name="T0" fmla="*/ 0 w 1296"/>
              <a:gd name="T1" fmla="*/ 1295400 h 816"/>
              <a:gd name="T2" fmla="*/ 0 w 1296"/>
              <a:gd name="T3" fmla="*/ 0 h 816"/>
              <a:gd name="T4" fmla="*/ 2057400 w 1296"/>
              <a:gd name="T5" fmla="*/ 0 h 816"/>
              <a:gd name="T6" fmla="*/ 1371600 w 1296"/>
              <a:gd name="T7" fmla="*/ 1295400 h 816"/>
              <a:gd name="T8" fmla="*/ 0 w 1296"/>
              <a:gd name="T9" fmla="*/ 129540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96" h="816">
                <a:moveTo>
                  <a:pt x="0" y="816"/>
                </a:moveTo>
                <a:lnTo>
                  <a:pt x="0" y="0"/>
                </a:lnTo>
                <a:lnTo>
                  <a:pt x="1296" y="0"/>
                </a:lnTo>
                <a:lnTo>
                  <a:pt x="864" y="816"/>
                </a:lnTo>
                <a:lnTo>
                  <a:pt x="0" y="816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AutoShape 16"/>
          <p:cNvSpPr>
            <a:spLocks noChangeArrowheads="1"/>
          </p:cNvSpPr>
          <p:nvPr/>
        </p:nvSpPr>
        <p:spPr bwMode="auto">
          <a:xfrm flipH="1">
            <a:off x="8014447" y="2146018"/>
            <a:ext cx="685800" cy="12954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2299447" y="2146018"/>
            <a:ext cx="533400" cy="1295400"/>
            <a:chOff x="1200" y="2544"/>
            <a:chExt cx="336" cy="720"/>
          </a:xfrm>
        </p:grpSpPr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1392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200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12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1613648" y="2450818"/>
            <a:ext cx="19049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400" dirty="0" err="1" smtClean="0">
                <a:latin typeface="Times New Roman" panose="02020603050405020304" pitchFamily="18" charset="0"/>
              </a:rPr>
              <a:t>Altura</a:t>
            </a:r>
            <a:r>
              <a:rPr lang="en-US" altLang="es-ES" sz="2400" dirty="0" smtClean="0">
                <a:latin typeface="Times New Roman" panose="02020603050405020304" pitchFamily="18" charset="0"/>
              </a:rPr>
              <a:t>   </a:t>
            </a:r>
            <a:r>
              <a:rPr lang="en-US" altLang="es-ES" sz="2400" dirty="0">
                <a:latin typeface="Times New Roman" panose="02020603050405020304" pitchFamily="18" charset="0"/>
              </a:rPr>
              <a:t>= </a:t>
            </a:r>
            <a:r>
              <a:rPr lang="en-US" altLang="es-ES" sz="2400" dirty="0" smtClean="0">
                <a:latin typeface="Times New Roman" panose="02020603050405020304" pitchFamily="18" charset="0"/>
              </a:rPr>
              <a:t>a</a:t>
            </a:r>
            <a:endParaRPr lang="en-US" altLang="es-ES" sz="2400" dirty="0">
              <a:latin typeface="Times New Roman" panose="02020603050405020304" pitchFamily="18" charset="0"/>
            </a:endParaRPr>
          </a:p>
        </p:txBody>
      </p:sp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3518647" y="2450818"/>
            <a:ext cx="609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400" dirty="0">
                <a:latin typeface="Times New Roman" panose="02020603050405020304" pitchFamily="18" charset="0"/>
              </a:rPr>
              <a:t>  </a:t>
            </a:r>
            <a:r>
              <a:rPr lang="en-US" altLang="es-ES" sz="3200" b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7404847" y="3441418"/>
            <a:ext cx="685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b="1">
                <a:latin typeface="Times New Roman" panose="02020603050405020304" pitchFamily="18" charset="0"/>
              </a:rPr>
              <a:t>b</a:t>
            </a:r>
          </a:p>
        </p:txBody>
      </p:sp>
      <p:grpSp>
        <p:nvGrpSpPr>
          <p:cNvPr id="29" name="Group 24"/>
          <p:cNvGrpSpPr>
            <a:grpSpLocks/>
          </p:cNvGrpSpPr>
          <p:nvPr/>
        </p:nvGrpSpPr>
        <p:grpSpPr bwMode="auto">
          <a:xfrm>
            <a:off x="2223247" y="2146018"/>
            <a:ext cx="3733800" cy="1295400"/>
            <a:chOff x="1200" y="144"/>
            <a:chExt cx="2352" cy="816"/>
          </a:xfrm>
        </p:grpSpPr>
        <p:sp>
          <p:nvSpPr>
            <p:cNvPr id="30" name="Text Box 25"/>
            <p:cNvSpPr txBox="1">
              <a:spLocks noChangeArrowheads="1"/>
            </p:cNvSpPr>
            <p:nvPr/>
          </p:nvSpPr>
          <p:spPr bwMode="auto">
            <a:xfrm>
              <a:off x="1488" y="288"/>
              <a:ext cx="20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s-ES" altLang="es-E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1" name="Group 26"/>
            <p:cNvGrpSpPr>
              <a:grpSpLocks/>
            </p:cNvGrpSpPr>
            <p:nvPr/>
          </p:nvGrpSpPr>
          <p:grpSpPr bwMode="auto">
            <a:xfrm>
              <a:off x="1200" y="144"/>
              <a:ext cx="336" cy="816"/>
              <a:chOff x="1200" y="2544"/>
              <a:chExt cx="336" cy="720"/>
            </a:xfrm>
          </p:grpSpPr>
          <p:sp>
            <p:nvSpPr>
              <p:cNvPr id="33" name="Line 28"/>
              <p:cNvSpPr>
                <a:spLocks noChangeShapeType="1"/>
              </p:cNvSpPr>
              <p:nvPr/>
            </p:nvSpPr>
            <p:spPr bwMode="auto">
              <a:xfrm>
                <a:off x="1200" y="254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34" name="Line 29"/>
              <p:cNvSpPr>
                <a:spLocks noChangeShapeType="1"/>
              </p:cNvSpPr>
              <p:nvPr/>
            </p:nvSpPr>
            <p:spPr bwMode="auto">
              <a:xfrm>
                <a:off x="1200" y="3264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</p:grpSp>
      <p:grpSp>
        <p:nvGrpSpPr>
          <p:cNvPr id="35" name="Group 30"/>
          <p:cNvGrpSpPr>
            <a:grpSpLocks/>
          </p:cNvGrpSpPr>
          <p:nvPr/>
        </p:nvGrpSpPr>
        <p:grpSpPr bwMode="auto">
          <a:xfrm rot="5400000">
            <a:off x="3747247" y="2831818"/>
            <a:ext cx="533400" cy="2057400"/>
            <a:chOff x="1200" y="2544"/>
            <a:chExt cx="336" cy="720"/>
          </a:xfrm>
        </p:grpSpPr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1392" y="254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1200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20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grpSp>
        <p:nvGrpSpPr>
          <p:cNvPr id="39" name="Group 34"/>
          <p:cNvGrpSpPr>
            <a:grpSpLocks/>
          </p:cNvGrpSpPr>
          <p:nvPr/>
        </p:nvGrpSpPr>
        <p:grpSpPr bwMode="auto">
          <a:xfrm>
            <a:off x="3671047" y="3212818"/>
            <a:ext cx="228600" cy="228600"/>
            <a:chOff x="3744" y="1440"/>
            <a:chExt cx="144" cy="144"/>
          </a:xfrm>
        </p:grpSpPr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3744" y="14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3888" y="14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42" name="Rectangle 37"/>
          <p:cNvSpPr>
            <a:spLocks noChangeArrowheads="1"/>
          </p:cNvSpPr>
          <p:nvPr/>
        </p:nvSpPr>
        <p:spPr bwMode="auto">
          <a:xfrm>
            <a:off x="6795246" y="5879818"/>
            <a:ext cx="2241177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5715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s-ES" sz="4000" dirty="0" smtClean="0"/>
              <a:t>A =b x a</a:t>
            </a:r>
            <a:endParaRPr lang="es-ES" sz="4000" dirty="0"/>
          </a:p>
        </p:txBody>
      </p:sp>
      <p:sp>
        <p:nvSpPr>
          <p:cNvPr id="44" name="WordArt 39"/>
          <p:cNvSpPr>
            <a:spLocks noChangeArrowheads="1" noChangeShapeType="1" noTextEdit="1"/>
          </p:cNvSpPr>
          <p:nvPr/>
        </p:nvSpPr>
        <p:spPr bwMode="auto">
          <a:xfrm>
            <a:off x="1651747" y="256893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paralelogramo   </a:t>
            </a:r>
          </a:p>
        </p:txBody>
      </p:sp>
    </p:spTree>
    <p:extLst>
      <p:ext uri="{BB962C8B-B14F-4D97-AF65-F5344CB8AC3E}">
        <p14:creationId xmlns:p14="http://schemas.microsoft.com/office/powerpoint/2010/main" val="81540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99 1.48148E-6 L 0.16901 1.48148E-6 " pathEditMode="relative" rAng="0" ptsTypes="AA">
                                      <p:cBhvr>
                                        <p:cTn id="2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11" grpId="0"/>
      <p:bldP spid="12" grpId="0" autoUpdateAnimBg="0"/>
      <p:bldP spid="17" grpId="0" autoUpdateAnimBg="0"/>
      <p:bldP spid="19" grpId="0" animBg="1"/>
      <p:bldP spid="20" grpId="0" animBg="1"/>
      <p:bldP spid="26" grpId="0" autoUpdateAnimBg="0"/>
      <p:bldP spid="27" grpId="0" autoUpdateAnimBg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13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2"/>
          <p:cNvSpPr>
            <a:spLocks/>
          </p:cNvSpPr>
          <p:nvPr/>
        </p:nvSpPr>
        <p:spPr bwMode="auto">
          <a:xfrm>
            <a:off x="4932312" y="2406316"/>
            <a:ext cx="3581400" cy="1752600"/>
          </a:xfrm>
          <a:custGeom>
            <a:avLst/>
            <a:gdLst>
              <a:gd name="T0" fmla="*/ 0 w 2256"/>
              <a:gd name="T1" fmla="*/ 0 h 1104"/>
              <a:gd name="T2" fmla="*/ 3581400 w 2256"/>
              <a:gd name="T3" fmla="*/ 0 h 1104"/>
              <a:gd name="T4" fmla="*/ 3581400 w 2256"/>
              <a:gd name="T5" fmla="*/ 1752600 h 1104"/>
              <a:gd name="T6" fmla="*/ 0 w 2256"/>
              <a:gd name="T7" fmla="*/ 1752600 h 1104"/>
              <a:gd name="T8" fmla="*/ 0 w 2256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56" h="1104">
                <a:moveTo>
                  <a:pt x="0" y="0"/>
                </a:moveTo>
                <a:lnTo>
                  <a:pt x="2256" y="0"/>
                </a:lnTo>
                <a:lnTo>
                  <a:pt x="2256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3"/>
          <p:cNvSpPr>
            <a:spLocks/>
          </p:cNvSpPr>
          <p:nvPr/>
        </p:nvSpPr>
        <p:spPr bwMode="auto">
          <a:xfrm>
            <a:off x="3941712" y="2406316"/>
            <a:ext cx="990600" cy="1752600"/>
          </a:xfrm>
          <a:custGeom>
            <a:avLst/>
            <a:gdLst>
              <a:gd name="T0" fmla="*/ 990600 w 624"/>
              <a:gd name="T1" fmla="*/ 0 h 1104"/>
              <a:gd name="T2" fmla="*/ 990600 w 624"/>
              <a:gd name="T3" fmla="*/ 1752600 h 1104"/>
              <a:gd name="T4" fmla="*/ 0 w 624"/>
              <a:gd name="T5" fmla="*/ 1752600 h 1104"/>
              <a:gd name="T6" fmla="*/ 990600 w 624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04">
                <a:moveTo>
                  <a:pt x="624" y="0"/>
                </a:moveTo>
                <a:lnTo>
                  <a:pt x="624" y="1104"/>
                </a:lnTo>
                <a:lnTo>
                  <a:pt x="0" y="1104"/>
                </a:lnTo>
                <a:lnTo>
                  <a:pt x="624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4"/>
          <p:cNvSpPr>
            <a:spLocks/>
          </p:cNvSpPr>
          <p:nvPr/>
        </p:nvSpPr>
        <p:spPr bwMode="auto">
          <a:xfrm rot="10800000">
            <a:off x="8513712" y="2406316"/>
            <a:ext cx="990600" cy="1752600"/>
          </a:xfrm>
          <a:custGeom>
            <a:avLst/>
            <a:gdLst>
              <a:gd name="T0" fmla="*/ 990600 w 624"/>
              <a:gd name="T1" fmla="*/ 0 h 1104"/>
              <a:gd name="T2" fmla="*/ 990600 w 624"/>
              <a:gd name="T3" fmla="*/ 1752600 h 1104"/>
              <a:gd name="T4" fmla="*/ 0 w 624"/>
              <a:gd name="T5" fmla="*/ 1752600 h 1104"/>
              <a:gd name="T6" fmla="*/ 990600 w 624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04">
                <a:moveTo>
                  <a:pt x="624" y="0"/>
                </a:moveTo>
                <a:lnTo>
                  <a:pt x="624" y="1104"/>
                </a:lnTo>
                <a:lnTo>
                  <a:pt x="0" y="1104"/>
                </a:lnTo>
                <a:lnTo>
                  <a:pt x="624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5618112" y="4082716"/>
            <a:ext cx="13128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>
                <a:latin typeface="Times New Roman" panose="02020603050405020304" pitchFamily="18" charset="0"/>
              </a:rPr>
              <a:t>4 cm.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4932312" y="2406316"/>
            <a:ext cx="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12" name="Arc 7"/>
          <p:cNvSpPr>
            <a:spLocks/>
          </p:cNvSpPr>
          <p:nvPr/>
        </p:nvSpPr>
        <p:spPr bwMode="auto">
          <a:xfrm>
            <a:off x="4932312" y="3777916"/>
            <a:ext cx="457200" cy="381000"/>
          </a:xfrm>
          <a:custGeom>
            <a:avLst/>
            <a:gdLst>
              <a:gd name="T0" fmla="*/ 0 w 21600"/>
              <a:gd name="T1" fmla="*/ 0 h 21600"/>
              <a:gd name="T2" fmla="*/ 457200 w 21600"/>
              <a:gd name="T3" fmla="*/ 381000 h 21600"/>
              <a:gd name="T4" fmla="*/ 0 w 21600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237112" y="3549316"/>
            <a:ext cx="85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2800">
                <a:latin typeface="Times New Roman" panose="02020603050405020304" pitchFamily="18" charset="0"/>
              </a:rPr>
              <a:t>90</a:t>
            </a:r>
            <a:r>
              <a:rPr lang="en-US" altLang="es-ES" sz="280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endParaRPr lang="en-US" altLang="es-ES" sz="2800">
              <a:latin typeface="Times New Roman" panose="02020603050405020304" pitchFamily="18" charset="0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912116" y="2558716"/>
            <a:ext cx="13532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s-ES" sz="4000" dirty="0">
                <a:latin typeface="Times New Roman" panose="02020603050405020304" pitchFamily="18" charset="0"/>
              </a:rPr>
              <a:t>2 cm</a:t>
            </a:r>
            <a:r>
              <a:rPr lang="en-US" altLang="es-ES" sz="4000" dirty="0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4551312" y="1949116"/>
            <a:ext cx="18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 altLang="es-ES" sz="4000">
              <a:latin typeface="Times New Roman" panose="02020603050405020304" pitchFamily="18" charset="0"/>
            </a:endParaRP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4109447" y="5104211"/>
            <a:ext cx="5227130" cy="838200"/>
          </a:xfrm>
          <a:prstGeom prst="rect">
            <a:avLst/>
          </a:prstGeom>
          <a:solidFill>
            <a:srgbClr val="FFFF99"/>
          </a:solidFill>
          <a:ln w="5715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ES" sz="3600" dirty="0" smtClean="0">
                <a:latin typeface="+mn-lt"/>
              </a:rPr>
              <a:t>A = b x a = 4 x 2 = </a:t>
            </a:r>
            <a:r>
              <a:rPr lang="en-US" altLang="es-ES" sz="3600" dirty="0">
                <a:latin typeface="+mn-lt"/>
              </a:rPr>
              <a:t>= </a:t>
            </a:r>
            <a:r>
              <a:rPr lang="en-US" altLang="es-ES" sz="3600" dirty="0">
                <a:solidFill>
                  <a:schemeClr val="folHlink"/>
                </a:solidFill>
                <a:latin typeface="+mn-lt"/>
              </a:rPr>
              <a:t>8 </a:t>
            </a:r>
            <a:r>
              <a:rPr lang="en-US" altLang="es-ES" sz="3600" dirty="0" smtClean="0">
                <a:solidFill>
                  <a:schemeClr val="folHlink"/>
                </a:solidFill>
                <a:latin typeface="+mn-lt"/>
              </a:rPr>
              <a:t>cm</a:t>
            </a:r>
            <a:r>
              <a:rPr lang="en-US" altLang="es-ES" sz="3600" baseline="30000" dirty="0" smtClean="0">
                <a:solidFill>
                  <a:schemeClr val="folHlink"/>
                </a:solidFill>
                <a:latin typeface="+mn-lt"/>
              </a:rPr>
              <a:t>2</a:t>
            </a:r>
            <a:r>
              <a:rPr lang="en-US" altLang="es-ES" sz="3600" baseline="30000" dirty="0" smtClean="0">
                <a:solidFill>
                  <a:schemeClr val="hlink"/>
                </a:solidFill>
                <a:latin typeface="+mn-lt"/>
              </a:rPr>
              <a:t> </a:t>
            </a:r>
            <a:endParaRPr lang="en-US" altLang="es-ES" sz="3600" baseline="30000" dirty="0">
              <a:solidFill>
                <a:schemeClr val="hlink"/>
              </a:solidFill>
              <a:latin typeface="+mn-lt"/>
            </a:endParaRPr>
          </a:p>
          <a:p>
            <a:pPr eaLnBrk="1" hangingPunct="1"/>
            <a:r>
              <a:rPr lang="es-ES" dirty="0" smtClean="0"/>
              <a:t> </a:t>
            </a:r>
            <a:endParaRPr lang="es-ES" dirty="0"/>
          </a:p>
        </p:txBody>
      </p:sp>
      <p:graphicFrame>
        <p:nvGraphicFramePr>
          <p:cNvPr id="2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909820"/>
              </p:ext>
            </p:extLst>
          </p:nvPr>
        </p:nvGraphicFramePr>
        <p:xfrm>
          <a:off x="2265312" y="3549316"/>
          <a:ext cx="15033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4" name="Equation" r:id="rId6" imgW="444114" imgH="164957" progId="Equation.DSMT4">
                  <p:embed/>
                </p:oleObj>
              </mc:Choice>
              <mc:Fallback>
                <p:oleObj name="Equation" r:id="rId6" imgW="444114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12" y="3549316"/>
                        <a:ext cx="15033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WordArt 16"/>
          <p:cNvSpPr>
            <a:spLocks noChangeArrowheads="1" noChangeShapeType="1" noTextEdit="1"/>
          </p:cNvSpPr>
          <p:nvPr/>
        </p:nvSpPr>
        <p:spPr bwMode="auto">
          <a:xfrm>
            <a:off x="1727901" y="440991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paralelogramo   </a:t>
            </a: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1559341" y="1418061"/>
            <a:ext cx="1032734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dirty="0" err="1" smtClean="0">
                <a:latin typeface="+mn-lt"/>
              </a:rPr>
              <a:t>Calcula</a:t>
            </a:r>
            <a:r>
              <a:rPr lang="en-US" altLang="es-ES" sz="3200" dirty="0" smtClean="0">
                <a:latin typeface="+mn-lt"/>
              </a:rPr>
              <a:t> el </a:t>
            </a:r>
            <a:r>
              <a:rPr lang="en-US" altLang="es-ES" sz="3200" dirty="0" err="1" smtClean="0">
                <a:latin typeface="+mn-lt"/>
              </a:rPr>
              <a:t>área</a:t>
            </a:r>
            <a:r>
              <a:rPr lang="en-US" altLang="es-ES" sz="3200" dirty="0" smtClean="0">
                <a:latin typeface="+mn-lt"/>
              </a:rPr>
              <a:t> del </a:t>
            </a:r>
            <a:r>
              <a:rPr lang="en-US" altLang="es-ES" sz="3200" dirty="0" err="1" smtClean="0">
                <a:latin typeface="+mn-lt"/>
              </a:rPr>
              <a:t>siguiente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paralelogramo</a:t>
            </a:r>
            <a:r>
              <a:rPr lang="en-US" altLang="es-ES" sz="3200" dirty="0" smtClean="0">
                <a:latin typeface="+mn-lt"/>
              </a:rPr>
              <a:t>:</a:t>
            </a:r>
            <a:endParaRPr lang="en-US" altLang="es-ES" sz="3200" dirty="0">
              <a:solidFill>
                <a:srgbClr val="038CE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790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1" grpId="0" animBg="1"/>
      <p:bldP spid="12" grpId="0" animBg="1"/>
      <p:bldP spid="13" grpId="0" autoUpdateAnimBg="0"/>
      <p:bldP spid="14" grpId="0" autoUpdateAnimBg="0"/>
      <p:bldP spid="16" grpId="0" autoUpdateAnimBg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14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Freeform 2"/>
          <p:cNvSpPr>
            <a:spLocks/>
          </p:cNvSpPr>
          <p:nvPr/>
        </p:nvSpPr>
        <p:spPr bwMode="auto">
          <a:xfrm>
            <a:off x="4688305" y="2406858"/>
            <a:ext cx="3581400" cy="1752600"/>
          </a:xfrm>
          <a:custGeom>
            <a:avLst/>
            <a:gdLst>
              <a:gd name="T0" fmla="*/ 0 w 2256"/>
              <a:gd name="T1" fmla="*/ 0 h 1104"/>
              <a:gd name="T2" fmla="*/ 3581400 w 2256"/>
              <a:gd name="T3" fmla="*/ 0 h 1104"/>
              <a:gd name="T4" fmla="*/ 3581400 w 2256"/>
              <a:gd name="T5" fmla="*/ 1752600 h 1104"/>
              <a:gd name="T6" fmla="*/ 0 w 2256"/>
              <a:gd name="T7" fmla="*/ 1752600 h 1104"/>
              <a:gd name="T8" fmla="*/ 0 w 2256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56" h="1104">
                <a:moveTo>
                  <a:pt x="0" y="0"/>
                </a:moveTo>
                <a:lnTo>
                  <a:pt x="2256" y="0"/>
                </a:lnTo>
                <a:lnTo>
                  <a:pt x="2256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3"/>
          <p:cNvSpPr>
            <a:spLocks/>
          </p:cNvSpPr>
          <p:nvPr/>
        </p:nvSpPr>
        <p:spPr bwMode="auto">
          <a:xfrm>
            <a:off x="3469105" y="2330658"/>
            <a:ext cx="990600" cy="1752600"/>
          </a:xfrm>
          <a:custGeom>
            <a:avLst/>
            <a:gdLst>
              <a:gd name="T0" fmla="*/ 990600 w 624"/>
              <a:gd name="T1" fmla="*/ 0 h 1104"/>
              <a:gd name="T2" fmla="*/ 990600 w 624"/>
              <a:gd name="T3" fmla="*/ 1752600 h 1104"/>
              <a:gd name="T4" fmla="*/ 0 w 624"/>
              <a:gd name="T5" fmla="*/ 1752600 h 1104"/>
              <a:gd name="T6" fmla="*/ 990600 w 624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04">
                <a:moveTo>
                  <a:pt x="624" y="0"/>
                </a:moveTo>
                <a:lnTo>
                  <a:pt x="624" y="1104"/>
                </a:lnTo>
                <a:lnTo>
                  <a:pt x="0" y="1104"/>
                </a:lnTo>
                <a:lnTo>
                  <a:pt x="624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4"/>
          <p:cNvSpPr>
            <a:spLocks/>
          </p:cNvSpPr>
          <p:nvPr/>
        </p:nvSpPr>
        <p:spPr bwMode="auto">
          <a:xfrm rot="10800000">
            <a:off x="8269705" y="2406858"/>
            <a:ext cx="990600" cy="1752600"/>
          </a:xfrm>
          <a:custGeom>
            <a:avLst/>
            <a:gdLst>
              <a:gd name="T0" fmla="*/ 990600 w 624"/>
              <a:gd name="T1" fmla="*/ 0 h 1104"/>
              <a:gd name="T2" fmla="*/ 990600 w 624"/>
              <a:gd name="T3" fmla="*/ 1752600 h 1104"/>
              <a:gd name="T4" fmla="*/ 0 w 624"/>
              <a:gd name="T5" fmla="*/ 1752600 h 1104"/>
              <a:gd name="T6" fmla="*/ 990600 w 624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04">
                <a:moveTo>
                  <a:pt x="624" y="0"/>
                </a:moveTo>
                <a:lnTo>
                  <a:pt x="624" y="1104"/>
                </a:lnTo>
                <a:lnTo>
                  <a:pt x="0" y="1104"/>
                </a:lnTo>
                <a:lnTo>
                  <a:pt x="624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5374105" y="4083258"/>
            <a:ext cx="13128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>
                <a:latin typeface="Times New Roman" panose="02020603050405020304" pitchFamily="18" charset="0"/>
              </a:rPr>
              <a:t>4 cm.</a:t>
            </a: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>
            <a:off x="4688305" y="2406858"/>
            <a:ext cx="0" cy="1752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27" name="Arc 7"/>
          <p:cNvSpPr>
            <a:spLocks/>
          </p:cNvSpPr>
          <p:nvPr/>
        </p:nvSpPr>
        <p:spPr bwMode="auto">
          <a:xfrm>
            <a:off x="4688305" y="3778458"/>
            <a:ext cx="457200" cy="381000"/>
          </a:xfrm>
          <a:custGeom>
            <a:avLst/>
            <a:gdLst>
              <a:gd name="T0" fmla="*/ 0 w 21600"/>
              <a:gd name="T1" fmla="*/ 0 h 21600"/>
              <a:gd name="T2" fmla="*/ 457200 w 21600"/>
              <a:gd name="T3" fmla="*/ 381000 h 21600"/>
              <a:gd name="T4" fmla="*/ 0 w 21600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4993105" y="3549858"/>
            <a:ext cx="85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2800">
                <a:latin typeface="Times New Roman" panose="02020603050405020304" pitchFamily="18" charset="0"/>
              </a:rPr>
              <a:t>90</a:t>
            </a:r>
            <a:r>
              <a:rPr lang="en-US" altLang="es-ES" sz="280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endParaRPr lang="en-US" altLang="es-ES" sz="2800">
              <a:latin typeface="Times New Roman" panose="02020603050405020304" pitchFamily="18" charset="0"/>
            </a:endParaRPr>
          </a:p>
        </p:txBody>
      </p:sp>
      <p:sp>
        <p:nvSpPr>
          <p:cNvPr id="29" name="Text Box 9"/>
          <p:cNvSpPr txBox="1">
            <a:spLocks noChangeArrowheads="1"/>
          </p:cNvSpPr>
          <p:nvPr/>
        </p:nvSpPr>
        <p:spPr bwMode="auto">
          <a:xfrm>
            <a:off x="4688305" y="2559258"/>
            <a:ext cx="13128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s-ES" sz="4000" dirty="0">
                <a:latin typeface="Times New Roman" panose="02020603050405020304" pitchFamily="18" charset="0"/>
              </a:rPr>
              <a:t>2 cm.</a:t>
            </a:r>
          </a:p>
        </p:txBody>
      </p:sp>
      <p:sp>
        <p:nvSpPr>
          <p:cNvPr id="31" name="Text Box 11"/>
          <p:cNvSpPr txBox="1">
            <a:spLocks noChangeArrowheads="1"/>
          </p:cNvSpPr>
          <p:nvPr/>
        </p:nvSpPr>
        <p:spPr bwMode="auto">
          <a:xfrm>
            <a:off x="4307305" y="1949658"/>
            <a:ext cx="18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 altLang="es-ES" sz="4000">
              <a:latin typeface="Times New Roman" panose="02020603050405020304" pitchFamily="18" charset="0"/>
            </a:endParaRPr>
          </a:p>
        </p:txBody>
      </p:sp>
      <p:graphicFrame>
        <p:nvGraphicFramePr>
          <p:cNvPr id="3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570226"/>
              </p:ext>
            </p:extLst>
          </p:nvPr>
        </p:nvGraphicFramePr>
        <p:xfrm>
          <a:off x="2021305" y="3549858"/>
          <a:ext cx="15033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6" imgW="444114" imgH="164957" progId="Equation.DSMT4">
                  <p:embed/>
                </p:oleObj>
              </mc:Choice>
              <mc:Fallback>
                <p:oleObj name="Equation" r:id="rId6" imgW="444114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1305" y="3549858"/>
                        <a:ext cx="15033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WordArt 16"/>
          <p:cNvSpPr>
            <a:spLocks noChangeArrowheads="1" noChangeShapeType="1" noTextEdit="1"/>
          </p:cNvSpPr>
          <p:nvPr/>
        </p:nvSpPr>
        <p:spPr bwMode="auto">
          <a:xfrm>
            <a:off x="2173705" y="501858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paralelogramo   </a:t>
            </a:r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1864660" y="4873707"/>
            <a:ext cx="891563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200" dirty="0" smtClean="0">
                <a:latin typeface="+mn-lt"/>
              </a:rPr>
              <a:t>Para </a:t>
            </a:r>
            <a:r>
              <a:rPr lang="en-US" altLang="es-ES" sz="3200" dirty="0" err="1" smtClean="0">
                <a:latin typeface="+mn-lt"/>
              </a:rPr>
              <a:t>comprobar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que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verdaderamente</a:t>
            </a:r>
            <a:r>
              <a:rPr lang="en-US" altLang="es-ES" sz="3200" dirty="0" smtClean="0">
                <a:latin typeface="+mn-lt"/>
              </a:rPr>
              <a:t> coincide con el </a:t>
            </a:r>
            <a:r>
              <a:rPr lang="en-US" altLang="es-ES" sz="3200" dirty="0" err="1" smtClean="0">
                <a:latin typeface="+mn-lt"/>
              </a:rPr>
              <a:t>área</a:t>
            </a:r>
            <a:r>
              <a:rPr lang="en-US" altLang="es-ES" sz="3200" dirty="0" smtClean="0">
                <a:latin typeface="+mn-lt"/>
              </a:rPr>
              <a:t> de un </a:t>
            </a:r>
            <a:r>
              <a:rPr lang="en-US" altLang="es-ES" sz="3200" dirty="0" err="1" smtClean="0">
                <a:latin typeface="+mn-lt"/>
              </a:rPr>
              <a:t>rectángulo</a:t>
            </a:r>
            <a:r>
              <a:rPr lang="en-US" altLang="es-ES" sz="3200" dirty="0" smtClean="0">
                <a:latin typeface="+mn-lt"/>
              </a:rPr>
              <a:t>, </a:t>
            </a:r>
            <a:r>
              <a:rPr lang="en-US" altLang="es-ES" sz="3200" dirty="0" err="1" smtClean="0">
                <a:latin typeface="+mn-lt"/>
              </a:rPr>
              <a:t>corta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por</a:t>
            </a:r>
            <a:r>
              <a:rPr lang="en-US" altLang="es-ES" sz="3200" dirty="0" smtClean="0">
                <a:latin typeface="+mn-lt"/>
              </a:rPr>
              <a:t> la </a:t>
            </a:r>
            <a:r>
              <a:rPr lang="en-US" altLang="es-ES" sz="3200" dirty="0" err="1" smtClean="0">
                <a:latin typeface="+mn-lt"/>
              </a:rPr>
              <a:t>línea</a:t>
            </a:r>
            <a:r>
              <a:rPr lang="en-US" altLang="es-ES" sz="3200" dirty="0" smtClean="0">
                <a:latin typeface="+mn-lt"/>
              </a:rPr>
              <a:t> de </a:t>
            </a:r>
            <a:r>
              <a:rPr lang="en-US" altLang="es-ES" sz="3200" dirty="0" err="1" smtClean="0">
                <a:latin typeface="+mn-lt"/>
              </a:rPr>
              <a:t>puntos</a:t>
            </a:r>
            <a:r>
              <a:rPr lang="en-US" altLang="es-ES" sz="3200" dirty="0" smtClean="0">
                <a:latin typeface="+mn-lt"/>
              </a:rPr>
              <a:t>, </a:t>
            </a:r>
            <a:r>
              <a:rPr lang="en-US" altLang="es-ES" sz="3200" dirty="0" err="1" smtClean="0">
                <a:latin typeface="+mn-lt"/>
              </a:rPr>
              <a:t>lleva</a:t>
            </a:r>
            <a:r>
              <a:rPr lang="en-US" altLang="es-ES" sz="3200" dirty="0" smtClean="0">
                <a:latin typeface="+mn-lt"/>
              </a:rPr>
              <a:t> el </a:t>
            </a:r>
            <a:r>
              <a:rPr lang="en-US" altLang="es-ES" sz="3200" dirty="0" err="1" smtClean="0">
                <a:latin typeface="+mn-lt"/>
              </a:rPr>
              <a:t>triángulo</a:t>
            </a:r>
            <a:r>
              <a:rPr lang="en-US" altLang="es-ES" sz="3200" dirty="0" smtClean="0">
                <a:latin typeface="+mn-lt"/>
              </a:rPr>
              <a:t> al </a:t>
            </a:r>
            <a:r>
              <a:rPr lang="en-US" altLang="es-ES" sz="3200" dirty="0" err="1" smtClean="0">
                <a:latin typeface="+mn-lt"/>
              </a:rPr>
              <a:t>otro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lado</a:t>
            </a:r>
            <a:r>
              <a:rPr lang="en-US" altLang="es-ES" sz="3200" dirty="0" smtClean="0">
                <a:latin typeface="+mn-lt"/>
              </a:rPr>
              <a:t> y </a:t>
            </a:r>
            <a:r>
              <a:rPr lang="en-US" altLang="es-ES" sz="3200" dirty="0" err="1" smtClean="0">
                <a:latin typeface="+mn-lt"/>
              </a:rPr>
              <a:t>gíralo</a:t>
            </a:r>
            <a:r>
              <a:rPr lang="en-US" altLang="es-ES" sz="3200" dirty="0" smtClean="0">
                <a:latin typeface="+mn-lt"/>
              </a:rPr>
              <a:t>.</a:t>
            </a:r>
            <a:endParaRPr lang="en-US" altLang="es-ES" sz="3200" dirty="0">
              <a:solidFill>
                <a:srgbClr val="038CE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2374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15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reeform 2"/>
          <p:cNvSpPr>
            <a:spLocks/>
          </p:cNvSpPr>
          <p:nvPr/>
        </p:nvSpPr>
        <p:spPr bwMode="auto">
          <a:xfrm>
            <a:off x="4527884" y="2209800"/>
            <a:ext cx="3581400" cy="1752600"/>
          </a:xfrm>
          <a:custGeom>
            <a:avLst/>
            <a:gdLst>
              <a:gd name="T0" fmla="*/ 0 w 2256"/>
              <a:gd name="T1" fmla="*/ 0 h 1104"/>
              <a:gd name="T2" fmla="*/ 3581400 w 2256"/>
              <a:gd name="T3" fmla="*/ 0 h 1104"/>
              <a:gd name="T4" fmla="*/ 3581400 w 2256"/>
              <a:gd name="T5" fmla="*/ 1752600 h 1104"/>
              <a:gd name="T6" fmla="*/ 0 w 2256"/>
              <a:gd name="T7" fmla="*/ 1752600 h 1104"/>
              <a:gd name="T8" fmla="*/ 0 w 2256"/>
              <a:gd name="T9" fmla="*/ 0 h 1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256" h="1104">
                <a:moveTo>
                  <a:pt x="0" y="0"/>
                </a:moveTo>
                <a:lnTo>
                  <a:pt x="2256" y="0"/>
                </a:lnTo>
                <a:lnTo>
                  <a:pt x="2256" y="1104"/>
                </a:lnTo>
                <a:lnTo>
                  <a:pt x="0" y="1104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3"/>
          <p:cNvSpPr>
            <a:spLocks/>
          </p:cNvSpPr>
          <p:nvPr/>
        </p:nvSpPr>
        <p:spPr bwMode="auto">
          <a:xfrm rot="10800000">
            <a:off x="7995583" y="2193925"/>
            <a:ext cx="990600" cy="1722360"/>
          </a:xfrm>
          <a:custGeom>
            <a:avLst/>
            <a:gdLst>
              <a:gd name="T0" fmla="*/ 990600 w 624"/>
              <a:gd name="T1" fmla="*/ 0 h 1104"/>
              <a:gd name="T2" fmla="*/ 990600 w 624"/>
              <a:gd name="T3" fmla="*/ 1752600 h 1104"/>
              <a:gd name="T4" fmla="*/ 0 w 624"/>
              <a:gd name="T5" fmla="*/ 1752600 h 1104"/>
              <a:gd name="T6" fmla="*/ 990600 w 624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04">
                <a:moveTo>
                  <a:pt x="624" y="0"/>
                </a:moveTo>
                <a:lnTo>
                  <a:pt x="624" y="1104"/>
                </a:lnTo>
                <a:lnTo>
                  <a:pt x="0" y="1104"/>
                </a:lnTo>
                <a:lnTo>
                  <a:pt x="624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213684" y="3886200"/>
            <a:ext cx="13128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>
                <a:latin typeface="Times New Roman" panose="02020603050405020304" pitchFamily="18" charset="0"/>
              </a:rPr>
              <a:t>4 cm.</a:t>
            </a:r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4527884" y="2209800"/>
            <a:ext cx="0" cy="1752600"/>
          </a:xfrm>
          <a:prstGeom prst="line">
            <a:avLst/>
          </a:prstGeom>
          <a:noFill/>
          <a:ln w="57150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14" name="Arc 6"/>
          <p:cNvSpPr>
            <a:spLocks/>
          </p:cNvSpPr>
          <p:nvPr/>
        </p:nvSpPr>
        <p:spPr bwMode="auto">
          <a:xfrm>
            <a:off x="4527884" y="3581400"/>
            <a:ext cx="457200" cy="381000"/>
          </a:xfrm>
          <a:custGeom>
            <a:avLst/>
            <a:gdLst>
              <a:gd name="T0" fmla="*/ 0 w 21600"/>
              <a:gd name="T1" fmla="*/ 0 h 21600"/>
              <a:gd name="T2" fmla="*/ 457200 w 21600"/>
              <a:gd name="T3" fmla="*/ 381000 h 21600"/>
              <a:gd name="T4" fmla="*/ 0 w 21600"/>
              <a:gd name="T5" fmla="*/ 38100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4832684" y="3352800"/>
            <a:ext cx="85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2800">
                <a:latin typeface="Times New Roman" panose="02020603050405020304" pitchFamily="18" charset="0"/>
              </a:rPr>
              <a:t>90</a:t>
            </a:r>
            <a:r>
              <a:rPr lang="en-US" altLang="es-ES" sz="280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endParaRPr lang="en-US" altLang="es-ES" sz="2800">
              <a:latin typeface="Times New Roman" panose="02020603050405020304" pitchFamily="18" charset="0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527884" y="2362200"/>
            <a:ext cx="13128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s-ES" sz="4000" dirty="0">
                <a:latin typeface="Times New Roman" panose="02020603050405020304" pitchFamily="18" charset="0"/>
              </a:rPr>
              <a:t>2 cm</a:t>
            </a:r>
            <a:r>
              <a:rPr lang="en-US" altLang="es-ES" sz="4000" dirty="0">
                <a:solidFill>
                  <a:schemeClr val="bg2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4146884" y="1752600"/>
            <a:ext cx="18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 altLang="es-ES" sz="4000">
              <a:latin typeface="Times New Roman" panose="02020603050405020304" pitchFamily="18" charset="0"/>
            </a:endParaRP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084578"/>
              </p:ext>
            </p:extLst>
          </p:nvPr>
        </p:nvGraphicFramePr>
        <p:xfrm>
          <a:off x="1860884" y="3352800"/>
          <a:ext cx="15033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6" imgW="444114" imgH="164957" progId="Equation.DSMT4">
                  <p:embed/>
                </p:oleObj>
              </mc:Choice>
              <mc:Fallback>
                <p:oleObj name="Equation" r:id="rId6" imgW="444114" imgH="1649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884" y="3352800"/>
                        <a:ext cx="15033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Freeform 14"/>
          <p:cNvSpPr>
            <a:spLocks/>
          </p:cNvSpPr>
          <p:nvPr/>
        </p:nvSpPr>
        <p:spPr bwMode="auto">
          <a:xfrm>
            <a:off x="7995583" y="2239963"/>
            <a:ext cx="990600" cy="1722437"/>
          </a:xfrm>
          <a:custGeom>
            <a:avLst/>
            <a:gdLst>
              <a:gd name="T0" fmla="*/ 990600 w 624"/>
              <a:gd name="T1" fmla="*/ 0 h 1104"/>
              <a:gd name="T2" fmla="*/ 990600 w 624"/>
              <a:gd name="T3" fmla="*/ 1752600 h 1104"/>
              <a:gd name="T4" fmla="*/ 0 w 624"/>
              <a:gd name="T5" fmla="*/ 1752600 h 1104"/>
              <a:gd name="T6" fmla="*/ 990600 w 624"/>
              <a:gd name="T7" fmla="*/ 0 h 110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04">
                <a:moveTo>
                  <a:pt x="624" y="0"/>
                </a:moveTo>
                <a:lnTo>
                  <a:pt x="624" y="1104"/>
                </a:lnTo>
                <a:lnTo>
                  <a:pt x="0" y="1104"/>
                </a:lnTo>
                <a:lnTo>
                  <a:pt x="624" y="0"/>
                </a:lnTo>
                <a:close/>
              </a:path>
            </a:pathLst>
          </a:cu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607379" y="2440783"/>
            <a:ext cx="3387106" cy="113877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en-US" altLang="es-ES" sz="4000" dirty="0" err="1" smtClean="0">
                <a:solidFill>
                  <a:srgbClr val="038CE1"/>
                </a:solidFill>
                <a:latin typeface="Times New Roman" panose="02020603050405020304" pitchFamily="18" charset="0"/>
              </a:rPr>
              <a:t>Ahora</a:t>
            </a:r>
            <a:r>
              <a:rPr lang="en-US" altLang="es-ES" sz="4000" dirty="0" smtClean="0">
                <a:solidFill>
                  <a:srgbClr val="038CE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s-ES" sz="4000" dirty="0" err="1" smtClean="0">
                <a:solidFill>
                  <a:srgbClr val="038CE1"/>
                </a:solidFill>
                <a:latin typeface="Times New Roman" panose="02020603050405020304" pitchFamily="18" charset="0"/>
              </a:rPr>
              <a:t>tenemos</a:t>
            </a:r>
            <a:r>
              <a:rPr lang="en-US" altLang="es-ES" sz="4000" dirty="0" smtClean="0">
                <a:solidFill>
                  <a:srgbClr val="038CE1"/>
                </a:solidFill>
                <a:latin typeface="Times New Roman" panose="02020603050405020304" pitchFamily="18" charset="0"/>
              </a:rPr>
              <a:t> un </a:t>
            </a:r>
            <a:r>
              <a:rPr lang="en-US" altLang="es-ES" sz="4000" dirty="0" err="1" smtClean="0">
                <a:solidFill>
                  <a:srgbClr val="038CE1"/>
                </a:solidFill>
                <a:latin typeface="Times New Roman" panose="02020603050405020304" pitchFamily="18" charset="0"/>
              </a:rPr>
              <a:t>rectángulo</a:t>
            </a:r>
            <a:endParaRPr lang="en-US" altLang="es-ES" sz="4000" dirty="0">
              <a:solidFill>
                <a:srgbClr val="038CE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>
            <a:off x="4527884" y="3063875"/>
            <a:ext cx="4572000" cy="0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Line 17"/>
          <p:cNvSpPr>
            <a:spLocks noChangeShapeType="1"/>
          </p:cNvSpPr>
          <p:nvPr/>
        </p:nvSpPr>
        <p:spPr bwMode="auto">
          <a:xfrm>
            <a:off x="6737684" y="2209800"/>
            <a:ext cx="0" cy="1752600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>
            <a:off x="5594684" y="2209800"/>
            <a:ext cx="0" cy="1752600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Line 19"/>
          <p:cNvSpPr>
            <a:spLocks noChangeShapeType="1"/>
          </p:cNvSpPr>
          <p:nvPr/>
        </p:nvSpPr>
        <p:spPr bwMode="auto">
          <a:xfrm>
            <a:off x="7956884" y="2209800"/>
            <a:ext cx="0" cy="1752600"/>
          </a:xfrm>
          <a:prstGeom prst="lin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3994484" y="4690195"/>
            <a:ext cx="5486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s-ES" sz="4000" dirty="0" smtClean="0">
                <a:latin typeface="Times New Roman" panose="02020603050405020304" pitchFamily="18" charset="0"/>
              </a:rPr>
              <a:t>¿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Cuantos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4000" dirty="0" err="1" smtClean="0">
                <a:latin typeface="Times New Roman" panose="02020603050405020304" pitchFamily="18" charset="0"/>
              </a:rPr>
              <a:t>cuadrados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 hay? 8</a:t>
            </a:r>
            <a:endParaRPr lang="en-US" altLang="es-ES" dirty="0"/>
          </a:p>
        </p:txBody>
      </p:sp>
      <p:sp>
        <p:nvSpPr>
          <p:cNvPr id="31" name="WordArt 23"/>
          <p:cNvSpPr>
            <a:spLocks noChangeArrowheads="1" noChangeShapeType="1" noTextEdit="1"/>
          </p:cNvSpPr>
          <p:nvPr/>
        </p:nvSpPr>
        <p:spPr bwMode="auto">
          <a:xfrm>
            <a:off x="2013284" y="304800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paralelogramo   </a:t>
            </a:r>
          </a:p>
        </p:txBody>
      </p:sp>
      <p:sp>
        <p:nvSpPr>
          <p:cNvPr id="32" name="Rectangle 13"/>
          <p:cNvSpPr>
            <a:spLocks noChangeArrowheads="1"/>
          </p:cNvSpPr>
          <p:nvPr/>
        </p:nvSpPr>
        <p:spPr bwMode="auto">
          <a:xfrm>
            <a:off x="4146884" y="5861108"/>
            <a:ext cx="5227130" cy="838200"/>
          </a:xfrm>
          <a:prstGeom prst="rect">
            <a:avLst/>
          </a:prstGeom>
          <a:solidFill>
            <a:srgbClr val="FFFF99"/>
          </a:solidFill>
          <a:ln w="5715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ES" sz="3600" dirty="0" smtClean="0">
                <a:latin typeface="+mn-lt"/>
              </a:rPr>
              <a:t>A = b x a = 4 x 2 = </a:t>
            </a:r>
            <a:r>
              <a:rPr lang="en-US" altLang="es-ES" sz="3600" dirty="0">
                <a:latin typeface="+mn-lt"/>
              </a:rPr>
              <a:t>= </a:t>
            </a:r>
            <a:r>
              <a:rPr lang="en-US" altLang="es-ES" sz="3600" dirty="0">
                <a:solidFill>
                  <a:schemeClr val="folHlink"/>
                </a:solidFill>
                <a:latin typeface="+mn-lt"/>
              </a:rPr>
              <a:t>8 </a:t>
            </a:r>
            <a:r>
              <a:rPr lang="en-US" altLang="es-ES" sz="3600" dirty="0" smtClean="0">
                <a:solidFill>
                  <a:schemeClr val="folHlink"/>
                </a:solidFill>
                <a:latin typeface="+mn-lt"/>
              </a:rPr>
              <a:t>cm</a:t>
            </a:r>
            <a:r>
              <a:rPr lang="en-US" altLang="es-ES" sz="3600" baseline="30000" dirty="0" smtClean="0">
                <a:solidFill>
                  <a:schemeClr val="folHlink"/>
                </a:solidFill>
                <a:latin typeface="+mn-lt"/>
              </a:rPr>
              <a:t>2</a:t>
            </a:r>
            <a:r>
              <a:rPr lang="en-US" altLang="es-ES" sz="3600" baseline="30000" dirty="0" smtClean="0">
                <a:solidFill>
                  <a:schemeClr val="hlink"/>
                </a:solidFill>
                <a:latin typeface="+mn-lt"/>
              </a:rPr>
              <a:t> </a:t>
            </a:r>
            <a:endParaRPr lang="en-US" altLang="es-ES" sz="3600" baseline="30000" dirty="0">
              <a:solidFill>
                <a:schemeClr val="hlink"/>
              </a:solidFill>
              <a:latin typeface="+mn-lt"/>
            </a:endParaRPr>
          </a:p>
          <a:p>
            <a:pPr eaLnBrk="1" hangingPunct="1"/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496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 autoUpdateAnimBg="0"/>
      <p:bldP spid="24" grpId="0" animBg="1"/>
      <p:bldP spid="25" grpId="0" animBg="1"/>
      <p:bldP spid="26" grpId="0" animBg="1"/>
      <p:bldP spid="27" grpId="0" animBg="1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16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80674" y="1460541"/>
            <a:ext cx="9144000" cy="10668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dirty="0" smtClean="0"/>
              <a:t>¿</a:t>
            </a:r>
            <a:r>
              <a:rPr lang="en-US" altLang="es-ES" dirty="0" err="1" smtClean="0"/>
              <a:t>Cuál</a:t>
            </a:r>
            <a:r>
              <a:rPr lang="en-US" altLang="es-ES" dirty="0" smtClean="0"/>
              <a:t> </a:t>
            </a:r>
            <a:r>
              <a:rPr lang="en-US" altLang="es-ES" dirty="0" err="1" smtClean="0"/>
              <a:t>es</a:t>
            </a:r>
            <a:r>
              <a:rPr lang="en-US" altLang="es-ES" dirty="0" smtClean="0"/>
              <a:t> el </a:t>
            </a:r>
            <a:r>
              <a:rPr lang="en-US" altLang="es-ES" dirty="0" err="1" smtClean="0">
                <a:solidFill>
                  <a:srgbClr val="00B0F0"/>
                </a:solidFill>
                <a:latin typeface="+mn-lt"/>
              </a:rPr>
              <a:t>área</a:t>
            </a:r>
            <a:r>
              <a:rPr lang="en-US" altLang="es-ES" dirty="0" smtClean="0">
                <a:solidFill>
                  <a:srgbClr val="00B0F0"/>
                </a:solidFill>
                <a:latin typeface="+mn-lt"/>
              </a:rPr>
              <a:t> de </a:t>
            </a:r>
            <a:r>
              <a:rPr lang="en-US" altLang="es-ES" dirty="0" err="1" smtClean="0">
                <a:solidFill>
                  <a:srgbClr val="00B0F0"/>
                </a:solidFill>
                <a:latin typeface="+mn-lt"/>
              </a:rPr>
              <a:t>este</a:t>
            </a:r>
            <a:r>
              <a:rPr lang="en-US" altLang="es-ES" dirty="0" smtClean="0">
                <a:solidFill>
                  <a:srgbClr val="00B0F0"/>
                </a:solidFill>
                <a:latin typeface="+mn-lt"/>
              </a:rPr>
              <a:t> </a:t>
            </a:r>
            <a:r>
              <a:rPr lang="en-US" altLang="es-ES" dirty="0" err="1" smtClean="0">
                <a:solidFill>
                  <a:srgbClr val="00B0F0"/>
                </a:solidFill>
                <a:latin typeface="+mn-lt"/>
              </a:rPr>
              <a:t>paraleloramo</a:t>
            </a:r>
            <a:r>
              <a:rPr lang="en-US" altLang="es-ES" dirty="0" smtClean="0">
                <a:solidFill>
                  <a:srgbClr val="00B0F0"/>
                </a:solidFill>
                <a:latin typeface="+mn-lt"/>
              </a:rPr>
              <a:t>?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2999874" y="2603541"/>
            <a:ext cx="3505200" cy="2209800"/>
          </a:xfrm>
          <a:prstGeom prst="parallelogram">
            <a:avLst>
              <a:gd name="adj" fmla="val 39655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609474" y="4737141"/>
            <a:ext cx="158088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 dirty="0">
                <a:latin typeface="Times New Roman" panose="02020603050405020304" pitchFamily="18" charset="0"/>
              </a:rPr>
              <a:t>  6 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cm.</a:t>
            </a:r>
            <a:endParaRPr lang="en-US" altLang="es-ES" sz="4000" dirty="0">
              <a:latin typeface="Times New Roman" panose="02020603050405020304" pitchFamily="18" charset="0"/>
            </a:endParaRPr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3914274" y="2603541"/>
            <a:ext cx="0" cy="2209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E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685674" y="3365541"/>
            <a:ext cx="158088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4000" dirty="0">
                <a:latin typeface="Times New Roman" panose="02020603050405020304" pitchFamily="18" charset="0"/>
              </a:rPr>
              <a:t>  5 </a:t>
            </a:r>
            <a:r>
              <a:rPr lang="en-US" altLang="es-ES" sz="4000" dirty="0" smtClean="0">
                <a:latin typeface="Times New Roman" panose="02020603050405020304" pitchFamily="18" charset="0"/>
              </a:rPr>
              <a:t>cm.</a:t>
            </a:r>
            <a:endParaRPr lang="en-US" altLang="es-ES" sz="4000" dirty="0">
              <a:latin typeface="Times New Roman" panose="02020603050405020304" pitchFamily="18" charset="0"/>
            </a:endParaRPr>
          </a:p>
        </p:txBody>
      </p:sp>
      <p:sp>
        <p:nvSpPr>
          <p:cNvPr id="19" name="WordArt 14"/>
          <p:cNvSpPr>
            <a:spLocks noChangeArrowheads="1" noChangeShapeType="1" noTextEdit="1"/>
          </p:cNvSpPr>
          <p:nvPr/>
        </p:nvSpPr>
        <p:spPr bwMode="auto">
          <a:xfrm>
            <a:off x="1543000" y="373898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paralelogramo   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3006135" y="5687145"/>
            <a:ext cx="5227130" cy="838200"/>
          </a:xfrm>
          <a:prstGeom prst="rect">
            <a:avLst/>
          </a:prstGeom>
          <a:solidFill>
            <a:srgbClr val="FFFF99"/>
          </a:solidFill>
          <a:ln w="57150" cap="rnd" algn="ctr">
            <a:solidFill>
              <a:schemeClr val="accent1"/>
            </a:solidFill>
            <a:prstDash val="sysDot"/>
            <a:miter lim="800000"/>
            <a:headEnd/>
            <a:tailEnd/>
          </a:ln>
          <a:effectLst/>
          <a:ex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s-ES" sz="3600" dirty="0" smtClean="0">
                <a:latin typeface="+mn-lt"/>
              </a:rPr>
              <a:t>A = b x a = 6 x 5 = </a:t>
            </a:r>
            <a:r>
              <a:rPr lang="en-US" altLang="es-ES" sz="3600" dirty="0">
                <a:latin typeface="+mn-lt"/>
              </a:rPr>
              <a:t>= </a:t>
            </a:r>
            <a:r>
              <a:rPr lang="en-US" altLang="es-ES" sz="3600" dirty="0" smtClean="0">
                <a:solidFill>
                  <a:schemeClr val="folHlink"/>
                </a:solidFill>
                <a:latin typeface="+mn-lt"/>
              </a:rPr>
              <a:t>30 cm</a:t>
            </a:r>
            <a:r>
              <a:rPr lang="en-US" altLang="es-ES" sz="3600" baseline="30000" dirty="0" smtClean="0">
                <a:solidFill>
                  <a:schemeClr val="folHlink"/>
                </a:solidFill>
                <a:latin typeface="+mn-lt"/>
              </a:rPr>
              <a:t>2</a:t>
            </a:r>
            <a:r>
              <a:rPr lang="en-US" altLang="es-ES" sz="3600" baseline="30000" dirty="0" smtClean="0">
                <a:solidFill>
                  <a:schemeClr val="hlink"/>
                </a:solidFill>
                <a:latin typeface="+mn-lt"/>
              </a:rPr>
              <a:t> </a:t>
            </a:r>
            <a:endParaRPr lang="en-US" altLang="es-ES" sz="3600" baseline="30000" dirty="0">
              <a:solidFill>
                <a:schemeClr val="hlink"/>
              </a:solidFill>
              <a:latin typeface="+mn-lt"/>
            </a:endParaRPr>
          </a:p>
          <a:p>
            <a:pPr eaLnBrk="1" hangingPunct="1"/>
            <a:r>
              <a:rPr lang="es-ES" dirty="0" smtClean="0"/>
              <a:t>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064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17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945704" y="1838129"/>
            <a:ext cx="8305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s-ES" sz="5400" dirty="0" smtClean="0">
                <a:latin typeface="+mn-lt"/>
              </a:rPr>
              <a:t>Dada la </a:t>
            </a:r>
            <a:r>
              <a:rPr lang="en-US" altLang="es-ES" sz="5400" dirty="0" err="1" smtClean="0">
                <a:latin typeface="+mn-lt"/>
              </a:rPr>
              <a:t>fórmla</a:t>
            </a:r>
            <a:r>
              <a:rPr lang="en-US" altLang="es-ES" sz="5400" dirty="0" smtClean="0">
                <a:latin typeface="+mn-lt"/>
              </a:rPr>
              <a:t> del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54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paralelogramo</a:t>
            </a:r>
            <a:r>
              <a:rPr lang="en-US" altLang="es-ES" sz="5400" dirty="0" smtClean="0">
                <a:latin typeface="+mn-lt"/>
              </a:rPr>
              <a:t>, </a:t>
            </a:r>
            <a:r>
              <a:rPr lang="en-US" altLang="es-ES" sz="5400" dirty="0" err="1" smtClean="0">
                <a:latin typeface="+mn-lt"/>
              </a:rPr>
              <a:t>vamos</a:t>
            </a:r>
            <a:r>
              <a:rPr lang="en-US" altLang="es-ES" sz="5400" dirty="0" smtClean="0">
                <a:latin typeface="+mn-lt"/>
              </a:rPr>
              <a:t> a </a:t>
            </a:r>
            <a:r>
              <a:rPr lang="en-US" altLang="es-ES" sz="5400" dirty="0" err="1" smtClean="0">
                <a:latin typeface="+mn-lt"/>
              </a:rPr>
              <a:t>calcular</a:t>
            </a:r>
            <a:r>
              <a:rPr lang="en-US" altLang="es-ES" sz="5400" dirty="0" smtClean="0">
                <a:latin typeface="+mn-lt"/>
              </a:rPr>
              <a:t> la formula del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5400" dirty="0" smtClean="0">
                <a:solidFill>
                  <a:srgbClr val="038CE1"/>
                </a:solidFill>
                <a:latin typeface="+mn-lt"/>
              </a:rPr>
              <a:t> del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triángulo</a:t>
            </a:r>
            <a:endParaRPr lang="en-US" altLang="es-ES" sz="54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9" name="WordArt 4"/>
          <p:cNvSpPr>
            <a:spLocks noChangeArrowheads="1" noChangeShapeType="1" noTextEdit="1"/>
          </p:cNvSpPr>
          <p:nvPr/>
        </p:nvSpPr>
        <p:spPr bwMode="auto">
          <a:xfrm>
            <a:off x="1945704" y="390329"/>
            <a:ext cx="81534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</a:t>
            </a:r>
            <a:r>
              <a:rPr lang="es-ES" sz="3600" b="1" dirty="0" smtClean="0">
                <a:solidFill>
                  <a:schemeClr val="accent2"/>
                </a:solidFill>
                <a:latin typeface="AvantGarde" pitchFamily="34" charset="0"/>
              </a:rPr>
              <a:t>triángulo   </a:t>
            </a:r>
            <a:endParaRPr lang="es-ES" sz="3600" b="1" dirty="0">
              <a:solidFill>
                <a:schemeClr val="accent2"/>
              </a:solidFill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6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18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691925" y="1690623"/>
            <a:ext cx="631596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s-ES" sz="4000" b="1" dirty="0" smtClean="0">
                <a:latin typeface="+mn-lt"/>
              </a:rPr>
              <a:t>Dado un </a:t>
            </a:r>
            <a:r>
              <a:rPr lang="en-US" altLang="es-ES" sz="4000" dirty="0" err="1" smtClean="0">
                <a:solidFill>
                  <a:srgbClr val="038CE1"/>
                </a:solidFill>
                <a:latin typeface="+mn-lt"/>
              </a:rPr>
              <a:t>triángulo</a:t>
            </a:r>
            <a:r>
              <a:rPr lang="en-US" altLang="es-ES" sz="40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4000" dirty="0" err="1" smtClean="0">
                <a:solidFill>
                  <a:srgbClr val="038CE1"/>
                </a:solidFill>
                <a:latin typeface="+mn-lt"/>
              </a:rPr>
              <a:t>rectángulo</a:t>
            </a:r>
            <a:endParaRPr lang="en-US" altLang="es-ES" sz="40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4392706" y="2863354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899609" y="4711566"/>
            <a:ext cx="925339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b="1" dirty="0" err="1" smtClean="0">
                <a:latin typeface="+mn-lt"/>
              </a:rPr>
              <a:t>Representa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otro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triángulo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igual</a:t>
            </a:r>
            <a:r>
              <a:rPr lang="en-US" altLang="es-ES" sz="4000" b="1" dirty="0" smtClean="0">
                <a:latin typeface="+mn-lt"/>
              </a:rPr>
              <a:t>,     </a:t>
            </a:r>
            <a:endParaRPr lang="en-US" altLang="es-ES" sz="4000" b="1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altLang="es-ES" sz="4000" b="1" dirty="0">
              <a:latin typeface="+mn-lt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611906" y="2863354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ordArt 6"/>
          <p:cNvSpPr>
            <a:spLocks noChangeArrowheads="1" noChangeShapeType="1" noTextEdit="1"/>
          </p:cNvSpPr>
          <p:nvPr/>
        </p:nvSpPr>
        <p:spPr bwMode="auto">
          <a:xfrm>
            <a:off x="2030506" y="501154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 smtClean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  <a:endParaRPr lang="es-ES" sz="3600" b="1" dirty="0">
              <a:solidFill>
                <a:schemeClr val="accent2"/>
              </a:solidFill>
              <a:latin typeface="AvantGar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64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4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19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638300" y="1303907"/>
            <a:ext cx="688361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s-ES" sz="4000" b="1" dirty="0"/>
              <a:t>Dado un </a:t>
            </a:r>
            <a:r>
              <a:rPr lang="en-US" altLang="es-ES" sz="4000" dirty="0" err="1">
                <a:solidFill>
                  <a:srgbClr val="038CE1"/>
                </a:solidFill>
              </a:rPr>
              <a:t>triángulo</a:t>
            </a:r>
            <a:r>
              <a:rPr lang="en-US" altLang="es-ES" sz="4000" dirty="0">
                <a:solidFill>
                  <a:srgbClr val="038CE1"/>
                </a:solidFill>
              </a:rPr>
              <a:t> </a:t>
            </a:r>
            <a:r>
              <a:rPr lang="en-US" altLang="es-ES" sz="4000" dirty="0" err="1">
                <a:solidFill>
                  <a:srgbClr val="038CE1"/>
                </a:solidFill>
              </a:rPr>
              <a:t>rectángulo</a:t>
            </a:r>
            <a:endParaRPr lang="en-US" altLang="es-ES" sz="4000" dirty="0">
              <a:solidFill>
                <a:srgbClr val="038CE1"/>
              </a:solidFill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3048000" y="2470492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38300" y="4039467"/>
            <a:ext cx="7467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3600" b="1" dirty="0" err="1"/>
              <a:t>Representa</a:t>
            </a:r>
            <a:r>
              <a:rPr lang="en-US" altLang="es-ES" sz="3600" b="1" dirty="0"/>
              <a:t> </a:t>
            </a:r>
            <a:r>
              <a:rPr lang="en-US" altLang="es-ES" sz="3600" b="1" dirty="0" err="1"/>
              <a:t>otro</a:t>
            </a:r>
            <a:r>
              <a:rPr lang="en-US" altLang="es-ES" sz="3600" b="1" dirty="0"/>
              <a:t> </a:t>
            </a:r>
            <a:r>
              <a:rPr lang="en-US" altLang="es-ES" sz="3600" b="1" dirty="0" err="1"/>
              <a:t>triángulo</a:t>
            </a:r>
            <a:r>
              <a:rPr lang="en-US" altLang="es-ES" sz="3600" b="1" dirty="0"/>
              <a:t> </a:t>
            </a:r>
            <a:r>
              <a:rPr lang="en-US" altLang="es-ES" sz="3600" b="1" dirty="0" err="1"/>
              <a:t>igual</a:t>
            </a:r>
            <a:r>
              <a:rPr lang="en-US" altLang="es-ES" sz="3600" b="1" dirty="0" smtClean="0">
                <a:latin typeface="+mn-lt"/>
              </a:rPr>
              <a:t>,     </a:t>
            </a:r>
            <a:endParaRPr lang="en-US" altLang="es-ES" sz="3600" b="1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altLang="es-ES" sz="4000" b="1" dirty="0">
              <a:latin typeface="+mn-lt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4724400" y="2514600"/>
            <a:ext cx="941388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668996" y="4711421"/>
            <a:ext cx="74676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b="1" dirty="0" err="1" smtClean="0">
                <a:latin typeface="+mn-lt"/>
              </a:rPr>
              <a:t>gíralo</a:t>
            </a:r>
            <a:endParaRPr lang="en-US" altLang="es-ES" sz="4000" b="1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altLang="es-ES" sz="4400" b="1" dirty="0">
              <a:latin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638300" y="4731001"/>
            <a:ext cx="7391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b="1" dirty="0">
                <a:latin typeface="+mn-lt"/>
              </a:rPr>
              <a:t>           </a:t>
            </a:r>
            <a:r>
              <a:rPr lang="en-US" altLang="es-ES" sz="4000" b="1" dirty="0" smtClean="0">
                <a:latin typeface="+mn-lt"/>
              </a:rPr>
              <a:t> y junta ambos </a:t>
            </a:r>
            <a:r>
              <a:rPr lang="en-US" altLang="es-ES" sz="4000" b="1" dirty="0" err="1" smtClean="0">
                <a:latin typeface="+mn-lt"/>
              </a:rPr>
              <a:t>triángulos</a:t>
            </a:r>
            <a:endParaRPr lang="en-US" altLang="es-ES" sz="4000" b="1" dirty="0">
              <a:latin typeface="+mn-lt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986591" y="2334106"/>
            <a:ext cx="55184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s-ES" sz="4000" b="1" dirty="0" smtClean="0">
                <a:latin typeface="+mn-lt"/>
              </a:rPr>
              <a:t>¿</a:t>
            </a:r>
            <a:r>
              <a:rPr lang="en-US" altLang="es-ES" sz="4000" b="1" dirty="0" err="1" smtClean="0">
                <a:latin typeface="+mn-lt"/>
              </a:rPr>
              <a:t>Qué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polígono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es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éste</a:t>
            </a:r>
            <a:r>
              <a:rPr lang="en-US" altLang="es-ES" sz="4000" b="1" dirty="0" smtClean="0">
                <a:latin typeface="+mn-lt"/>
              </a:rPr>
              <a:t>?</a:t>
            </a:r>
            <a:endParaRPr lang="en-US" altLang="es-ES" sz="4000" b="1" dirty="0">
              <a:latin typeface="+mn-lt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5334000" y="3056035"/>
            <a:ext cx="40386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4000" dirty="0">
                <a:solidFill>
                  <a:schemeClr val="accent1"/>
                </a:solidFill>
                <a:latin typeface="+mn-lt"/>
              </a:rPr>
              <a:t>       </a:t>
            </a:r>
            <a:r>
              <a:rPr lang="en-US" altLang="es-ES" sz="4000" b="1" dirty="0" smtClean="0">
                <a:solidFill>
                  <a:srgbClr val="038CE1"/>
                </a:solidFill>
                <a:latin typeface="+mn-lt"/>
              </a:rPr>
              <a:t>Un </a:t>
            </a:r>
            <a:r>
              <a:rPr lang="en-US" altLang="es-ES" sz="4000" b="1" dirty="0" err="1" smtClean="0">
                <a:solidFill>
                  <a:srgbClr val="038CE1"/>
                </a:solidFill>
                <a:latin typeface="+mn-lt"/>
              </a:rPr>
              <a:t>rectángulo</a:t>
            </a:r>
            <a:endParaRPr lang="en-US" altLang="es-ES" sz="4000" b="1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15" name="WordArt 10"/>
          <p:cNvSpPr>
            <a:spLocks noChangeArrowheads="1" noChangeShapeType="1" noTextEdit="1"/>
          </p:cNvSpPr>
          <p:nvPr/>
        </p:nvSpPr>
        <p:spPr bwMode="auto">
          <a:xfrm>
            <a:off x="1905000" y="301643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</p:spTree>
    <p:extLst>
      <p:ext uri="{BB962C8B-B14F-4D97-AF65-F5344CB8AC3E}">
        <p14:creationId xmlns:p14="http://schemas.microsoft.com/office/powerpoint/2010/main" val="62780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7 L -0.14011 -0.0009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20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2567710" y="3553398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 flipH="1" flipV="1">
            <a:off x="2567710" y="3553398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348509" y="5299479"/>
            <a:ext cx="4648199" cy="1295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65000"/>
              </a:spcBef>
            </a:pPr>
            <a:r>
              <a:rPr lang="en-US" altLang="es-ES" sz="3400" dirty="0" smtClean="0">
                <a:latin typeface="+mn-lt"/>
              </a:rPr>
              <a:t>¿</a:t>
            </a:r>
            <a:r>
              <a:rPr lang="en-US" altLang="es-ES" sz="3400" dirty="0" err="1" smtClean="0">
                <a:latin typeface="+mn-lt"/>
              </a:rPr>
              <a:t>Cuál</a:t>
            </a:r>
            <a:r>
              <a:rPr lang="en-US" altLang="es-ES" sz="3400" dirty="0" smtClean="0">
                <a:latin typeface="+mn-lt"/>
              </a:rPr>
              <a:t> </a:t>
            </a:r>
            <a:r>
              <a:rPr lang="en-US" altLang="es-ES" sz="3400" dirty="0" err="1" smtClean="0">
                <a:latin typeface="+mn-lt"/>
              </a:rPr>
              <a:t>es</a:t>
            </a:r>
            <a:r>
              <a:rPr lang="en-US" altLang="es-ES" sz="3400" dirty="0" smtClean="0">
                <a:latin typeface="+mn-lt"/>
              </a:rPr>
              <a:t> la formula para al </a:t>
            </a:r>
            <a:r>
              <a:rPr lang="en-US" altLang="es-ES" sz="34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34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3400" dirty="0" err="1" smtClean="0">
                <a:solidFill>
                  <a:srgbClr val="038CE1"/>
                </a:solidFill>
                <a:latin typeface="+mn-lt"/>
              </a:rPr>
              <a:t>triángulo</a:t>
            </a:r>
            <a:r>
              <a:rPr lang="en-US" altLang="es-ES" sz="3400" dirty="0" smtClean="0">
                <a:latin typeface="+mn-lt"/>
              </a:rPr>
              <a:t>?</a:t>
            </a:r>
            <a:endParaRPr lang="en-US" altLang="es-ES" sz="3400" dirty="0">
              <a:latin typeface="+mn-lt"/>
            </a:endParaRP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5996710" y="3629598"/>
            <a:ext cx="1295400" cy="1814513"/>
            <a:chOff x="3072" y="2256"/>
            <a:chExt cx="816" cy="1143"/>
          </a:xfrm>
        </p:grpSpPr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3312" y="2256"/>
              <a:ext cx="576" cy="720"/>
            </a:xfrm>
            <a:prstGeom prst="rtTriangle">
              <a:avLst/>
            </a:prstGeom>
            <a:gradFill rotWithShape="1">
              <a:gsLst>
                <a:gs pos="0">
                  <a:srgbClr val="FFC000"/>
                </a:gs>
                <a:gs pos="100000">
                  <a:srgbClr val="FFFF99"/>
                </a:gs>
              </a:gsLst>
              <a:lin ang="5400000" scaled="1"/>
            </a:gradFill>
            <a:ln w="57150">
              <a:solidFill>
                <a:srgbClr val="ED7D31"/>
              </a:solidFill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s-E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3072" y="2506"/>
              <a:ext cx="212" cy="3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s-ES" altLang="es-E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3504" y="3034"/>
              <a:ext cx="116" cy="36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s-ES" altLang="es-E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119910" y="1114998"/>
            <a:ext cx="104397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600" dirty="0">
                <a:latin typeface="+mn-lt"/>
              </a:rPr>
              <a:t> </a:t>
            </a:r>
            <a:r>
              <a:rPr lang="en-US" altLang="es-ES" sz="3600" dirty="0" err="1" smtClean="0">
                <a:latin typeface="+mn-lt"/>
              </a:rPr>
              <a:t>Podemos</a:t>
            </a:r>
            <a:r>
              <a:rPr lang="en-US" altLang="es-ES" sz="3600" dirty="0" smtClean="0">
                <a:latin typeface="+mn-lt"/>
              </a:rPr>
              <a:t> </a:t>
            </a:r>
            <a:r>
              <a:rPr lang="en-US" altLang="es-ES" sz="3600" dirty="0" err="1" smtClean="0">
                <a:latin typeface="+mn-lt"/>
              </a:rPr>
              <a:t>utilizar</a:t>
            </a:r>
            <a:r>
              <a:rPr lang="en-US" altLang="es-ES" sz="3600" dirty="0" smtClean="0">
                <a:latin typeface="+mn-lt"/>
              </a:rPr>
              <a:t> </a:t>
            </a:r>
            <a:r>
              <a:rPr lang="en-US" altLang="es-ES" sz="3600" dirty="0" smtClean="0">
                <a:latin typeface="+mn-lt"/>
              </a:rPr>
              <a:t>la formula del </a:t>
            </a:r>
            <a:r>
              <a:rPr lang="en-US" altLang="es-ES" sz="36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36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3600" dirty="0" err="1" smtClean="0">
                <a:solidFill>
                  <a:srgbClr val="038CE1"/>
                </a:solidFill>
                <a:latin typeface="+mn-lt"/>
              </a:rPr>
              <a:t>rectángulo</a:t>
            </a:r>
            <a:r>
              <a:rPr lang="en-US" altLang="es-ES" sz="36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3600" dirty="0" smtClean="0">
                <a:latin typeface="+mn-lt"/>
              </a:rPr>
              <a:t> para </a:t>
            </a:r>
            <a:r>
              <a:rPr lang="en-US" altLang="es-ES" sz="3600" dirty="0" err="1" smtClean="0">
                <a:latin typeface="+mn-lt"/>
              </a:rPr>
              <a:t>hallar</a:t>
            </a:r>
            <a:r>
              <a:rPr lang="en-US" altLang="es-ES" sz="3600" dirty="0" smtClean="0">
                <a:latin typeface="+mn-lt"/>
              </a:rPr>
              <a:t> el </a:t>
            </a:r>
            <a:r>
              <a:rPr lang="en-US" altLang="es-ES" sz="3600" dirty="0" err="1" smtClean="0">
                <a:solidFill>
                  <a:srgbClr val="FF7D25"/>
                </a:solidFill>
                <a:latin typeface="+mn-lt"/>
              </a:rPr>
              <a:t>área</a:t>
            </a:r>
            <a:r>
              <a:rPr lang="en-US" altLang="es-ES" sz="3600" dirty="0" smtClean="0">
                <a:solidFill>
                  <a:srgbClr val="FF7D25"/>
                </a:solidFill>
                <a:latin typeface="+mn-lt"/>
              </a:rPr>
              <a:t> de un </a:t>
            </a:r>
            <a:r>
              <a:rPr lang="en-US" altLang="es-ES" sz="3600" dirty="0" err="1" smtClean="0">
                <a:solidFill>
                  <a:srgbClr val="FF7D25"/>
                </a:solidFill>
                <a:latin typeface="+mn-lt"/>
              </a:rPr>
              <a:t>triángulo</a:t>
            </a:r>
            <a:r>
              <a:rPr lang="en-US" altLang="es-ES" sz="3600" dirty="0" smtClean="0">
                <a:latin typeface="+mn-lt"/>
              </a:rPr>
              <a:t>.</a:t>
            </a:r>
            <a:endParaRPr lang="en-US" altLang="es-ES" sz="3600" dirty="0">
              <a:latin typeface="+mn-lt"/>
            </a:endParaRP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996709" y="2410398"/>
            <a:ext cx="521813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 dirty="0" err="1" smtClean="0">
                <a:latin typeface="+mn-lt"/>
              </a:rPr>
              <a:t>Queremos</a:t>
            </a:r>
            <a:r>
              <a:rPr lang="en-US" altLang="es-ES" sz="3200" dirty="0" smtClean="0">
                <a:latin typeface="+mn-lt"/>
              </a:rPr>
              <a:t> </a:t>
            </a:r>
            <a:r>
              <a:rPr lang="en-US" altLang="es-ES" sz="3200" dirty="0" err="1" smtClean="0">
                <a:latin typeface="+mn-lt"/>
              </a:rPr>
              <a:t>hayar</a:t>
            </a:r>
            <a:r>
              <a:rPr lang="en-US" altLang="es-ES" sz="3200" dirty="0" smtClean="0">
                <a:latin typeface="+mn-lt"/>
              </a:rPr>
              <a:t> la </a:t>
            </a:r>
            <a:r>
              <a:rPr lang="en-US" altLang="es-ES" sz="3200" dirty="0" err="1" smtClean="0">
                <a:solidFill>
                  <a:srgbClr val="038CE1"/>
                </a:solidFill>
                <a:latin typeface="+mn-lt"/>
              </a:rPr>
              <a:t>mitad</a:t>
            </a:r>
            <a:r>
              <a:rPr lang="en-US" altLang="es-ES" sz="3200" dirty="0" smtClean="0">
                <a:latin typeface="+mn-lt"/>
              </a:rPr>
              <a:t> del </a:t>
            </a:r>
            <a:r>
              <a:rPr lang="en-US" altLang="es-ES" sz="3200" dirty="0" err="1" smtClean="0">
                <a:latin typeface="+mn-lt"/>
              </a:rPr>
              <a:t>área</a:t>
            </a:r>
            <a:r>
              <a:rPr lang="en-US" altLang="es-ES" sz="3200" dirty="0" smtClean="0">
                <a:latin typeface="+mn-lt"/>
              </a:rPr>
              <a:t> de un </a:t>
            </a:r>
            <a:r>
              <a:rPr lang="en-US" altLang="es-ES" sz="3200" dirty="0" err="1" smtClean="0">
                <a:latin typeface="+mn-lt"/>
              </a:rPr>
              <a:t>rectángulo</a:t>
            </a:r>
            <a:r>
              <a:rPr lang="en-US" altLang="es-ES" sz="3200" dirty="0" smtClean="0">
                <a:latin typeface="+mn-lt"/>
              </a:rPr>
              <a:t>.</a:t>
            </a:r>
            <a:endParaRPr lang="en-US" altLang="es-ES" sz="3200" dirty="0">
              <a:latin typeface="+mn-lt"/>
            </a:endParaRP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2491510" y="4620198"/>
            <a:ext cx="152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 dirty="0">
                <a:latin typeface="+mn-lt"/>
              </a:rPr>
              <a:t>base</a:t>
            </a: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H="1">
            <a:off x="3558310" y="2715198"/>
            <a:ext cx="2286000" cy="8382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4" name="Text Box 19"/>
          <p:cNvSpPr txBox="1">
            <a:spLocks noChangeArrowheads="1"/>
          </p:cNvSpPr>
          <p:nvPr/>
        </p:nvSpPr>
        <p:spPr bwMode="auto">
          <a:xfrm>
            <a:off x="1272310" y="3858198"/>
            <a:ext cx="1828800" cy="646331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>
            <a:defPPr>
              <a:defRPr lang="es-ES"/>
            </a:defPPr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es-ES" dirty="0"/>
              <a:t> </a:t>
            </a:r>
            <a:r>
              <a:rPr lang="en-US" altLang="es-ES" sz="3200" dirty="0" err="1">
                <a:latin typeface="+mn-lt"/>
              </a:rPr>
              <a:t>altura</a:t>
            </a:r>
            <a:r>
              <a:rPr lang="en-US" altLang="es-ES" dirty="0"/>
              <a:t>  </a:t>
            </a:r>
            <a:endParaRPr lang="en-US" altLang="es-ES" dirty="0"/>
          </a:p>
          <a:p>
            <a:r>
              <a:rPr lang="en-US" altLang="es-ES" dirty="0"/>
              <a:t>       </a:t>
            </a:r>
          </a:p>
        </p:txBody>
      </p:sp>
      <p:sp>
        <p:nvSpPr>
          <p:cNvPr id="25" name="Text Box 20"/>
          <p:cNvSpPr txBox="1">
            <a:spLocks noChangeArrowheads="1"/>
          </p:cNvSpPr>
          <p:nvPr/>
        </p:nvSpPr>
        <p:spPr bwMode="auto">
          <a:xfrm>
            <a:off x="6543878" y="4833717"/>
            <a:ext cx="609600" cy="5794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 dirty="0">
                <a:latin typeface="Times New Roman" panose="02020603050405020304" pitchFamily="18" charset="0"/>
              </a:rPr>
              <a:t> b</a:t>
            </a:r>
          </a:p>
        </p:txBody>
      </p: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5882410" y="4086274"/>
            <a:ext cx="609600" cy="36933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>
            <a:defPPr>
              <a:defRPr lang="es-ES"/>
            </a:defPPr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Bef>
                <a:spcPct val="50000"/>
              </a:spcBef>
            </a:pPr>
            <a:r>
              <a:rPr lang="en-US" altLang="es-ES" dirty="0"/>
              <a:t> 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a</a:t>
            </a:r>
            <a:endParaRPr lang="en-US" altLang="es-ES" sz="3200" dirty="0">
              <a:latin typeface="Times New Roman" panose="02020603050405020304" pitchFamily="18" charset="0"/>
            </a:endParaRPr>
          </a:p>
        </p:txBody>
      </p:sp>
      <p:sp>
        <p:nvSpPr>
          <p:cNvPr id="27" name="WordArt 22"/>
          <p:cNvSpPr>
            <a:spLocks noChangeArrowheads="1" noChangeShapeType="1" noTextEdit="1"/>
          </p:cNvSpPr>
          <p:nvPr/>
        </p:nvSpPr>
        <p:spPr bwMode="auto">
          <a:xfrm>
            <a:off x="1272310" y="286323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6543878" y="5361489"/>
            <a:ext cx="45360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 dirty="0" err="1" smtClean="0">
                <a:latin typeface="Times New Roman" panose="02020603050405020304" pitchFamily="18" charset="0"/>
              </a:rPr>
              <a:t>Área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600" dirty="0">
                <a:latin typeface="Times New Roman" panose="02020603050405020304" pitchFamily="18" charset="0"/>
              </a:rPr>
              <a:t>= 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base </a:t>
            </a:r>
            <a:r>
              <a:rPr lang="en-US" altLang="es-ES" sz="3600" dirty="0">
                <a:latin typeface="Times New Roman" panose="02020603050405020304" pitchFamily="18" charset="0"/>
              </a:rPr>
              <a:t>x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altura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>
            <a:off x="7819945" y="594994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31" name="Text Box 15"/>
          <p:cNvSpPr txBox="1">
            <a:spLocks noChangeArrowheads="1"/>
          </p:cNvSpPr>
          <p:nvPr/>
        </p:nvSpPr>
        <p:spPr bwMode="auto">
          <a:xfrm>
            <a:off x="8543845" y="5876110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>
                <a:latin typeface="Times New Roman" panose="02020603050405020304" pitchFamily="18" charset="0"/>
              </a:rPr>
              <a:t>  2</a:t>
            </a:r>
          </a:p>
        </p:txBody>
      </p:sp>
      <p:sp>
        <p:nvSpPr>
          <p:cNvPr id="3" name="Flecha derecha 2"/>
          <p:cNvSpPr/>
          <p:nvPr/>
        </p:nvSpPr>
        <p:spPr>
          <a:xfrm>
            <a:off x="4318256" y="3925091"/>
            <a:ext cx="1358153" cy="579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51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4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4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7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9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30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4" dur="1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5" dur="12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2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4" grpId="0"/>
      <p:bldP spid="20" grpId="0"/>
      <p:bldP spid="22" grpId="0"/>
      <p:bldP spid="23" grpId="0" animBg="1"/>
      <p:bldP spid="24" grpId="0"/>
      <p:bldP spid="25" grpId="0"/>
      <p:bldP spid="26" grpId="0"/>
      <p:bldP spid="29" grpId="0"/>
      <p:bldP spid="30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21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03294" y="1532893"/>
            <a:ext cx="59436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400" dirty="0" err="1" smtClean="0">
                <a:latin typeface="+mn-lt"/>
              </a:rPr>
              <a:t>Cuando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err="1" smtClean="0">
                <a:latin typeface="+mn-lt"/>
              </a:rPr>
              <a:t>juntamos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2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triángulos</a:t>
            </a:r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rectángulos</a:t>
            </a:r>
            <a:r>
              <a:rPr lang="en-US" altLang="es-ES" sz="4400" dirty="0" smtClean="0">
                <a:solidFill>
                  <a:schemeClr val="folHlink"/>
                </a:solidFill>
                <a:latin typeface="+mn-lt"/>
              </a:rPr>
              <a:t> </a:t>
            </a:r>
            <a:r>
              <a:rPr lang="en-US" altLang="es-ES" sz="4400" dirty="0" smtClean="0">
                <a:latin typeface="+mn-lt"/>
              </a:rPr>
              <a:t> se forma un </a:t>
            </a:r>
            <a:r>
              <a:rPr lang="en-US" altLang="es-ES" sz="4400" dirty="0" err="1" smtClean="0">
                <a:latin typeface="+mn-lt"/>
              </a:rPr>
              <a:t>rectángulo</a:t>
            </a:r>
            <a:endParaRPr lang="en-US" altLang="es-ES" sz="4400" dirty="0">
              <a:latin typeface="+mn-lt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8256494" y="2137747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 flipH="1" flipV="1">
            <a:off x="8256494" y="2137747"/>
            <a:ext cx="914400" cy="1143000"/>
          </a:xfrm>
          <a:prstGeom prst="rtTriangle">
            <a:avLst/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779493" y="4032355"/>
            <a:ext cx="1014864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4400" dirty="0" err="1" smtClean="0">
                <a:latin typeface="+mn-lt"/>
              </a:rPr>
              <a:t>Veamos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err="1" smtClean="0">
                <a:latin typeface="+mn-lt"/>
              </a:rPr>
              <a:t>qué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err="1" smtClean="0">
                <a:latin typeface="+mn-lt"/>
              </a:rPr>
              <a:t>ocurre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err="1" smtClean="0">
                <a:latin typeface="+mn-lt"/>
              </a:rPr>
              <a:t>cuando</a:t>
            </a:r>
            <a:r>
              <a:rPr lang="en-US" altLang="es-ES" sz="4400" dirty="0" smtClean="0">
                <a:latin typeface="+mn-lt"/>
              </a:rPr>
              <a:t> </a:t>
            </a:r>
            <a:r>
              <a:rPr lang="en-US" altLang="es-ES" sz="4400" dirty="0" err="1" smtClean="0">
                <a:latin typeface="+mn-lt"/>
              </a:rPr>
              <a:t>tenemos</a:t>
            </a:r>
            <a:r>
              <a:rPr lang="en-US" altLang="es-ES" sz="4400" dirty="0" smtClean="0">
                <a:latin typeface="+mn-lt"/>
              </a:rPr>
              <a:t> </a:t>
            </a:r>
          </a:p>
          <a:p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2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triángulos</a:t>
            </a:r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4400" dirty="0" err="1" smtClean="0">
                <a:solidFill>
                  <a:srgbClr val="038CE1"/>
                </a:solidFill>
                <a:latin typeface="+mn-lt"/>
              </a:rPr>
              <a:t>isósceles</a:t>
            </a:r>
            <a:r>
              <a:rPr lang="en-US" altLang="es-ES" sz="4400" dirty="0" smtClean="0">
                <a:solidFill>
                  <a:srgbClr val="038CE1"/>
                </a:solidFill>
                <a:latin typeface="+mn-lt"/>
              </a:rPr>
              <a:t>.</a:t>
            </a:r>
          </a:p>
          <a:p>
            <a:r>
              <a:rPr lang="en-US" altLang="es-ES" sz="2800" dirty="0" err="1">
                <a:solidFill>
                  <a:srgbClr val="038CE1"/>
                </a:solidFill>
                <a:latin typeface="+mn-lt"/>
              </a:rPr>
              <a:t>Triángulo</a:t>
            </a:r>
            <a:r>
              <a:rPr lang="en-US" altLang="es-ES" sz="2800" dirty="0">
                <a:solidFill>
                  <a:srgbClr val="038CE1"/>
                </a:solidFill>
                <a:latin typeface="+mn-lt"/>
              </a:rPr>
              <a:t> isosceles: </a:t>
            </a:r>
            <a:r>
              <a:rPr lang="en-US" altLang="es-ES" sz="2400" dirty="0" err="1" smtClean="0"/>
              <a:t>triángulo</a:t>
            </a:r>
            <a:r>
              <a:rPr lang="en-US" altLang="es-ES" sz="2400" dirty="0" smtClean="0"/>
              <a:t> </a:t>
            </a:r>
            <a:r>
              <a:rPr lang="en-US" altLang="es-ES" sz="2400" dirty="0" err="1" smtClean="0"/>
              <a:t>que</a:t>
            </a:r>
            <a:r>
              <a:rPr lang="en-US" altLang="es-ES" sz="2400" dirty="0" smtClean="0"/>
              <a:t> </a:t>
            </a:r>
            <a:r>
              <a:rPr lang="en-US" altLang="es-ES" sz="2400" dirty="0" err="1" smtClean="0"/>
              <a:t>tiene</a:t>
            </a:r>
            <a:r>
              <a:rPr lang="en-US" altLang="es-ES" sz="2400" dirty="0" smtClean="0"/>
              <a:t> dos </a:t>
            </a:r>
            <a:r>
              <a:rPr lang="en-US" altLang="es-ES" sz="2400" dirty="0" err="1" smtClean="0"/>
              <a:t>lados</a:t>
            </a:r>
            <a:r>
              <a:rPr lang="en-US" altLang="es-ES" sz="2400" dirty="0" smtClean="0"/>
              <a:t> </a:t>
            </a:r>
            <a:r>
              <a:rPr lang="en-US" altLang="es-ES" sz="2400" dirty="0" err="1" smtClean="0"/>
              <a:t>iguales</a:t>
            </a:r>
            <a:r>
              <a:rPr lang="en-US" altLang="es-ES" sz="2400" dirty="0" smtClean="0"/>
              <a:t> y </a:t>
            </a:r>
            <a:r>
              <a:rPr lang="en-US" altLang="es-ES" sz="2400" dirty="0" err="1" smtClean="0"/>
              <a:t>uno</a:t>
            </a:r>
            <a:r>
              <a:rPr lang="en-US" altLang="es-ES" sz="2400" dirty="0" smtClean="0"/>
              <a:t> </a:t>
            </a:r>
            <a:r>
              <a:rPr lang="en-US" altLang="es-ES" sz="2400" dirty="0" err="1" smtClean="0"/>
              <a:t>distinto</a:t>
            </a:r>
            <a:endParaRPr lang="en-US" altLang="es-ES" sz="2400" dirty="0">
              <a:latin typeface="+mn-lt"/>
            </a:endParaRPr>
          </a:p>
        </p:txBody>
      </p:sp>
      <p:sp>
        <p:nvSpPr>
          <p:cNvPr id="13" name="WordArt 9"/>
          <p:cNvSpPr>
            <a:spLocks noChangeArrowheads="1" noChangeShapeType="1" noTextEdit="1"/>
          </p:cNvSpPr>
          <p:nvPr/>
        </p:nvSpPr>
        <p:spPr bwMode="auto">
          <a:xfrm>
            <a:off x="1703294" y="423247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</p:spTree>
    <p:extLst>
      <p:ext uri="{BB962C8B-B14F-4D97-AF65-F5344CB8AC3E}">
        <p14:creationId xmlns:p14="http://schemas.microsoft.com/office/powerpoint/2010/main" val="2774555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24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74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22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636891" y="1613664"/>
            <a:ext cx="812482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800" b="1" dirty="0" smtClean="0">
                <a:latin typeface="+mn-lt"/>
              </a:rPr>
              <a:t>Dado un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triángulo</a:t>
            </a:r>
            <a:r>
              <a:rPr lang="en-US" altLang="es-ES" sz="54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isósceles</a:t>
            </a:r>
            <a:endParaRPr lang="en-US" altLang="es-ES" sz="5400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640448" y="4549071"/>
            <a:ext cx="824314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b="1" dirty="0" err="1" smtClean="0">
                <a:latin typeface="+mn-lt"/>
              </a:rPr>
              <a:t>Representa</a:t>
            </a:r>
            <a:r>
              <a:rPr lang="en-US" altLang="es-ES" sz="4400" b="1" dirty="0" smtClean="0">
                <a:latin typeface="+mn-lt"/>
              </a:rPr>
              <a:t> </a:t>
            </a:r>
            <a:r>
              <a:rPr lang="en-US" altLang="es-ES" sz="4400" b="1" dirty="0" err="1" smtClean="0">
                <a:latin typeface="+mn-lt"/>
              </a:rPr>
              <a:t>otro</a:t>
            </a:r>
            <a:r>
              <a:rPr lang="en-US" altLang="es-ES" sz="4400" b="1" dirty="0" smtClean="0">
                <a:latin typeface="+mn-lt"/>
              </a:rPr>
              <a:t> </a:t>
            </a:r>
            <a:r>
              <a:rPr lang="en-US" altLang="es-ES" sz="4400" b="1" dirty="0" err="1" smtClean="0">
                <a:latin typeface="+mn-lt"/>
              </a:rPr>
              <a:t>triángulo</a:t>
            </a:r>
            <a:r>
              <a:rPr lang="en-US" altLang="es-ES" sz="4400" b="1" dirty="0" smtClean="0">
                <a:latin typeface="+mn-lt"/>
              </a:rPr>
              <a:t> </a:t>
            </a:r>
            <a:r>
              <a:rPr lang="en-US" altLang="es-ES" sz="4400" b="1" dirty="0" err="1" smtClean="0">
                <a:latin typeface="+mn-lt"/>
              </a:rPr>
              <a:t>igual</a:t>
            </a:r>
            <a:r>
              <a:rPr lang="en-US" altLang="es-ES" sz="4400" b="1" dirty="0" smtClean="0">
                <a:latin typeface="+mn-lt"/>
              </a:rPr>
              <a:t>,     </a:t>
            </a:r>
            <a:endParaRPr lang="en-US" altLang="es-ES" sz="4400" b="1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altLang="es-ES" sz="4400" b="1" dirty="0">
              <a:latin typeface="+mn-lt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3343835" y="2837329"/>
            <a:ext cx="1219200" cy="12954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4867835" y="2837329"/>
            <a:ext cx="1219200" cy="12954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WordArt 9"/>
          <p:cNvSpPr>
            <a:spLocks noChangeArrowheads="1" noChangeShapeType="1" noTextEdit="1"/>
          </p:cNvSpPr>
          <p:nvPr/>
        </p:nvSpPr>
        <p:spPr bwMode="auto">
          <a:xfrm>
            <a:off x="1801906" y="410694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</p:spTree>
    <p:extLst>
      <p:ext uri="{BB962C8B-B14F-4D97-AF65-F5344CB8AC3E}">
        <p14:creationId xmlns:p14="http://schemas.microsoft.com/office/powerpoint/2010/main" val="285744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2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2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2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1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12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2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23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119910" y="1363995"/>
            <a:ext cx="76674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b="1" dirty="0"/>
              <a:t>Dado un </a:t>
            </a:r>
            <a:r>
              <a:rPr lang="en-US" altLang="es-ES" sz="4800" dirty="0" err="1">
                <a:solidFill>
                  <a:srgbClr val="038CE1"/>
                </a:solidFill>
              </a:rPr>
              <a:t>triángulo</a:t>
            </a:r>
            <a:r>
              <a:rPr lang="en-US" altLang="es-ES" sz="4800" dirty="0">
                <a:solidFill>
                  <a:srgbClr val="038CE1"/>
                </a:solidFill>
              </a:rPr>
              <a:t> </a:t>
            </a:r>
            <a:r>
              <a:rPr lang="en-US" altLang="es-ES" sz="4800" dirty="0" err="1">
                <a:solidFill>
                  <a:srgbClr val="038CE1"/>
                </a:solidFill>
              </a:rPr>
              <a:t>isósceles</a:t>
            </a:r>
            <a:endParaRPr lang="en-US" altLang="es-ES" sz="4800" dirty="0">
              <a:solidFill>
                <a:srgbClr val="038CE1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37397" y="4330180"/>
            <a:ext cx="858653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000" b="1" dirty="0" err="1" smtClean="0"/>
              <a:t>Representa</a:t>
            </a:r>
            <a:r>
              <a:rPr lang="en-US" altLang="es-ES" sz="4000" b="1" dirty="0" smtClean="0"/>
              <a:t> un </a:t>
            </a:r>
            <a:r>
              <a:rPr lang="en-US" altLang="es-ES" sz="4000" b="1" dirty="0" err="1" smtClean="0"/>
              <a:t>triángulo</a:t>
            </a:r>
            <a:r>
              <a:rPr lang="en-US" altLang="es-ES" sz="4000" b="1" dirty="0" smtClean="0"/>
              <a:t> </a:t>
            </a:r>
            <a:r>
              <a:rPr lang="en-US" altLang="es-ES" sz="4000" b="1" dirty="0" err="1" smtClean="0"/>
              <a:t>igual</a:t>
            </a:r>
            <a:r>
              <a:rPr lang="en-US" altLang="es-ES" sz="4000" b="1" dirty="0" smtClean="0">
                <a:latin typeface="Times New Roman" panose="02020603050405020304" pitchFamily="18" charset="0"/>
              </a:rPr>
              <a:t>,     </a:t>
            </a:r>
            <a:endParaRPr lang="en-US" altLang="es-ES" sz="4000" b="1" dirty="0">
              <a:latin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endParaRPr lang="en-US" altLang="es-ES" sz="4000" b="1" dirty="0">
              <a:latin typeface="Times New Roman" panose="02020603050405020304" pitchFamily="18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319794" y="4958050"/>
            <a:ext cx="74676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b="1" dirty="0" err="1" smtClean="0">
                <a:latin typeface="+mn-lt"/>
              </a:rPr>
              <a:t>gíralo</a:t>
            </a:r>
            <a:endParaRPr lang="en-US" altLang="es-ES" sz="4400" b="1" dirty="0">
              <a:latin typeface="+mn-lt"/>
            </a:endParaRPr>
          </a:p>
          <a:p>
            <a:pPr algn="ctr">
              <a:spcBef>
                <a:spcPct val="50000"/>
              </a:spcBef>
            </a:pPr>
            <a:endParaRPr lang="en-US" altLang="es-ES" sz="4400" b="1" dirty="0">
              <a:latin typeface="Times New Roman" panose="02020603050405020304" pitchFamily="18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911086" y="4958050"/>
            <a:ext cx="8346823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4400" b="1" dirty="0" smtClean="0">
                <a:latin typeface="+mn-lt"/>
              </a:rPr>
              <a:t>y </a:t>
            </a:r>
            <a:r>
              <a:rPr lang="en-US" altLang="es-ES" sz="4400" b="1" dirty="0" err="1" smtClean="0">
                <a:latin typeface="+mn-lt"/>
              </a:rPr>
              <a:t>coloca</a:t>
            </a:r>
            <a:r>
              <a:rPr lang="en-US" altLang="es-ES" sz="4400" b="1" dirty="0" smtClean="0">
                <a:latin typeface="+mn-lt"/>
              </a:rPr>
              <a:t> </a:t>
            </a:r>
            <a:r>
              <a:rPr lang="en-US" altLang="es-ES" sz="4400" b="1" dirty="0" err="1" smtClean="0">
                <a:latin typeface="+mn-lt"/>
              </a:rPr>
              <a:t>juntos</a:t>
            </a:r>
            <a:r>
              <a:rPr lang="en-US" altLang="es-ES" sz="4400" b="1" dirty="0" smtClean="0">
                <a:latin typeface="+mn-lt"/>
              </a:rPr>
              <a:t> ambos </a:t>
            </a:r>
            <a:r>
              <a:rPr lang="en-US" altLang="es-ES" sz="4400" b="1" dirty="0" err="1" smtClean="0">
                <a:latin typeface="+mn-lt"/>
              </a:rPr>
              <a:t>triángulo</a:t>
            </a:r>
            <a:r>
              <a:rPr lang="en-US" altLang="es-ES" sz="4400" b="1" dirty="0" err="1" smtClean="0">
                <a:latin typeface="Times New Roman" panose="02020603050405020304" pitchFamily="18" charset="0"/>
              </a:rPr>
              <a:t>s</a:t>
            </a:r>
            <a:r>
              <a:rPr lang="en-US" altLang="es-ES" sz="4400" b="1" dirty="0" smtClean="0">
                <a:latin typeface="Times New Roman" panose="02020603050405020304" pitchFamily="18" charset="0"/>
              </a:rPr>
              <a:t>.</a:t>
            </a:r>
            <a:endParaRPr lang="en-US" altLang="es-ES" sz="4400" b="1" dirty="0">
              <a:latin typeface="Times New Roman" panose="02020603050405020304" pitchFamily="18" charset="0"/>
            </a:endParaRPr>
          </a:p>
          <a:p>
            <a:pPr algn="ctr">
              <a:spcBef>
                <a:spcPct val="50000"/>
              </a:spcBef>
            </a:pPr>
            <a:endParaRPr lang="en-US" altLang="es-ES" sz="4400" b="1" dirty="0">
              <a:latin typeface="Times New Roman" panose="02020603050405020304" pitchFamily="18" charset="0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051560" y="2442090"/>
            <a:ext cx="55608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s-ES" sz="4000" b="1" dirty="0" smtClean="0">
                <a:latin typeface="+mn-lt"/>
              </a:rPr>
              <a:t>¿</a:t>
            </a:r>
            <a:r>
              <a:rPr lang="en-US" altLang="es-ES" sz="4000" b="1" dirty="0" err="1" smtClean="0">
                <a:latin typeface="+mn-lt"/>
              </a:rPr>
              <a:t>Qué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polígono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es</a:t>
            </a:r>
            <a:r>
              <a:rPr lang="en-US" altLang="es-ES" sz="4000" b="1" dirty="0" smtClean="0">
                <a:latin typeface="+mn-lt"/>
              </a:rPr>
              <a:t> </a:t>
            </a:r>
            <a:r>
              <a:rPr lang="en-US" altLang="es-ES" sz="4000" b="1" dirty="0" err="1" smtClean="0">
                <a:latin typeface="+mn-lt"/>
              </a:rPr>
              <a:t>éste</a:t>
            </a:r>
            <a:r>
              <a:rPr lang="en-US" altLang="es-ES" sz="4000" b="1" dirty="0" smtClean="0">
                <a:latin typeface="+mn-lt"/>
              </a:rPr>
              <a:t>?</a:t>
            </a:r>
            <a:endParaRPr lang="en-US" altLang="es-ES" sz="4000" b="1" dirty="0">
              <a:latin typeface="+mn-lt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5588496" y="3135111"/>
            <a:ext cx="504400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2800" dirty="0">
                <a:solidFill>
                  <a:schemeClr val="accent1"/>
                </a:solidFill>
              </a:rPr>
              <a:t>       </a:t>
            </a:r>
            <a:r>
              <a:rPr lang="en-US" altLang="es-ES" sz="3600" b="1" dirty="0" smtClean="0">
                <a:solidFill>
                  <a:srgbClr val="038CE1"/>
                </a:solidFill>
                <a:latin typeface="+mn-lt"/>
              </a:rPr>
              <a:t>Un </a:t>
            </a:r>
            <a:r>
              <a:rPr lang="en-US" altLang="es-ES" sz="3600" b="1" dirty="0" err="1" smtClean="0">
                <a:solidFill>
                  <a:srgbClr val="038CE1"/>
                </a:solidFill>
                <a:latin typeface="+mn-lt"/>
              </a:rPr>
              <a:t>paralelogramo</a:t>
            </a:r>
            <a:endParaRPr lang="en-US" altLang="es-ES" sz="3600" b="1" dirty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3247841" y="2541494"/>
            <a:ext cx="1219200" cy="12954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0"/>
          <p:cNvSpPr>
            <a:spLocks noChangeArrowheads="1"/>
          </p:cNvSpPr>
          <p:nvPr/>
        </p:nvSpPr>
        <p:spPr bwMode="auto">
          <a:xfrm>
            <a:off x="4564785" y="2541494"/>
            <a:ext cx="1219200" cy="12954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WordArt 13"/>
          <p:cNvSpPr>
            <a:spLocks noChangeArrowheads="1" noChangeShapeType="1" noTextEdit="1"/>
          </p:cNvSpPr>
          <p:nvPr/>
        </p:nvSpPr>
        <p:spPr bwMode="auto">
          <a:xfrm>
            <a:off x="1280877" y="331694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</p:spTree>
    <p:extLst>
      <p:ext uri="{BB962C8B-B14F-4D97-AF65-F5344CB8AC3E}">
        <p14:creationId xmlns:p14="http://schemas.microsoft.com/office/powerpoint/2010/main" val="373682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414 0.00555 L -0.05586 0.0055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24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72135" y="2093045"/>
            <a:ext cx="1219200" cy="12954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 flipH="1" flipV="1">
            <a:off x="3681735" y="2093045"/>
            <a:ext cx="1219200" cy="1295400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FC000"/>
              </a:gs>
              <a:gs pos="100000">
                <a:srgbClr val="FFFF99"/>
              </a:gs>
            </a:gsLst>
            <a:lin ang="5400000" scaled="1"/>
          </a:gradFill>
          <a:ln w="57150">
            <a:solidFill>
              <a:srgbClr val="ED7D3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3062610" y="3464645"/>
            <a:ext cx="1219200" cy="450850"/>
            <a:chOff x="2346" y="2304"/>
            <a:chExt cx="768" cy="284"/>
          </a:xfrm>
        </p:grpSpPr>
        <p:grpSp>
          <p:nvGrpSpPr>
            <p:cNvPr id="10" name="Group 5"/>
            <p:cNvGrpSpPr>
              <a:grpSpLocks/>
            </p:cNvGrpSpPr>
            <p:nvPr/>
          </p:nvGrpSpPr>
          <p:grpSpPr bwMode="auto">
            <a:xfrm>
              <a:off x="2346" y="2396"/>
              <a:ext cx="768" cy="192"/>
              <a:chOff x="2346" y="2396"/>
              <a:chExt cx="768" cy="192"/>
            </a:xfrm>
          </p:grpSpPr>
          <p:sp>
            <p:nvSpPr>
              <p:cNvPr id="12" name="Line 6"/>
              <p:cNvSpPr>
                <a:spLocks noChangeShapeType="1"/>
              </p:cNvSpPr>
              <p:nvPr/>
            </p:nvSpPr>
            <p:spPr bwMode="auto">
              <a:xfrm rot="5400000">
                <a:off x="2730" y="2108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3" name="Line 7"/>
              <p:cNvSpPr>
                <a:spLocks noChangeShapeType="1"/>
              </p:cNvSpPr>
              <p:nvPr/>
            </p:nvSpPr>
            <p:spPr bwMode="auto">
              <a:xfrm rot="5400000">
                <a:off x="2250" y="24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4" name="Line 8"/>
              <p:cNvSpPr>
                <a:spLocks noChangeShapeType="1"/>
              </p:cNvSpPr>
              <p:nvPr/>
            </p:nvSpPr>
            <p:spPr bwMode="auto">
              <a:xfrm rot="5400000">
                <a:off x="3018" y="249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ES"/>
              </a:p>
            </p:txBody>
          </p:sp>
        </p:grp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527" y="2304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s-ES" b="1" dirty="0">
                  <a:latin typeface="+mn-lt"/>
                </a:rPr>
                <a:t>base</a:t>
              </a:r>
            </a:p>
          </p:txBody>
        </p:sp>
      </p:grpSp>
      <p:grpSp>
        <p:nvGrpSpPr>
          <p:cNvPr id="15" name="Group 10"/>
          <p:cNvGrpSpPr>
            <a:grpSpLocks/>
          </p:cNvGrpSpPr>
          <p:nvPr/>
        </p:nvGrpSpPr>
        <p:grpSpPr bwMode="auto">
          <a:xfrm>
            <a:off x="1810074" y="2093045"/>
            <a:ext cx="1109663" cy="1295400"/>
            <a:chOff x="1365" y="1440"/>
            <a:chExt cx="699" cy="816"/>
          </a:xfrm>
        </p:grpSpPr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1968" y="144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872" y="14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1872" y="22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1365" y="1720"/>
              <a:ext cx="4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s-ES" b="1" dirty="0" err="1">
                  <a:latin typeface="+mn-lt"/>
                </a:rPr>
                <a:t>a</a:t>
              </a:r>
              <a:r>
                <a:rPr lang="en-US" altLang="es-ES" b="1" dirty="0" err="1" smtClean="0">
                  <a:latin typeface="+mn-lt"/>
                </a:rPr>
                <a:t>ltura</a:t>
              </a:r>
              <a:endParaRPr lang="en-US" altLang="es-ES" b="1" dirty="0" smtClean="0">
                <a:latin typeface="+mn-lt"/>
              </a:endParaRPr>
            </a:p>
          </p:txBody>
        </p:sp>
      </p:grpSp>
      <p:grpSp>
        <p:nvGrpSpPr>
          <p:cNvPr id="20" name="Group 16"/>
          <p:cNvGrpSpPr>
            <a:grpSpLocks/>
          </p:cNvGrpSpPr>
          <p:nvPr/>
        </p:nvGrpSpPr>
        <p:grpSpPr bwMode="auto">
          <a:xfrm>
            <a:off x="3497585" y="2093045"/>
            <a:ext cx="361950" cy="1295400"/>
            <a:chOff x="2620" y="1440"/>
            <a:chExt cx="228" cy="816"/>
          </a:xfrm>
        </p:grpSpPr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2736" y="1440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2" name="Rectangle 18"/>
            <p:cNvSpPr>
              <a:spLocks noChangeArrowheads="1"/>
            </p:cNvSpPr>
            <p:nvPr/>
          </p:nvSpPr>
          <p:spPr bwMode="auto">
            <a:xfrm>
              <a:off x="2620" y="177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s-ES" sz="2800">
                  <a:solidFill>
                    <a:schemeClr val="bg2"/>
                  </a:solidFill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2736" y="2208"/>
              <a:ext cx="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2784" y="2208"/>
              <a:ext cx="0" cy="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1319535" y="1178645"/>
            <a:ext cx="101445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s-ES" sz="3200" b="1" dirty="0" smtClean="0">
                <a:latin typeface="Times New Roman" panose="02020603050405020304" pitchFamily="18" charset="0"/>
              </a:rPr>
              <a:t>Un </a:t>
            </a:r>
            <a:r>
              <a:rPr lang="en-US" altLang="es-ES" sz="3200" b="1" dirty="0" err="1" smtClean="0">
                <a:latin typeface="Times New Roman" panose="02020603050405020304" pitchFamily="18" charset="0"/>
              </a:rPr>
              <a:t>triángulo</a:t>
            </a:r>
            <a:r>
              <a:rPr lang="en-US" altLang="es-ES" sz="3200" b="1" dirty="0" smtClean="0">
                <a:latin typeface="Times New Roman" panose="02020603050405020304" pitchFamily="18" charset="0"/>
              </a:rPr>
              <a:t> isosceles </a:t>
            </a:r>
            <a:r>
              <a:rPr lang="en-US" altLang="es-ES" sz="3200" b="1" dirty="0" err="1" smtClean="0">
                <a:latin typeface="Times New Roman" panose="02020603050405020304" pitchFamily="18" charset="0"/>
              </a:rPr>
              <a:t>es</a:t>
            </a:r>
            <a:r>
              <a:rPr lang="en-US" altLang="es-ES" sz="3200" b="1" dirty="0" smtClean="0">
                <a:latin typeface="Times New Roman" panose="02020603050405020304" pitchFamily="18" charset="0"/>
              </a:rPr>
              <a:t> la </a:t>
            </a:r>
            <a:r>
              <a:rPr lang="en-US" altLang="es-ES" sz="3200" b="1" dirty="0" err="1" smtClean="0">
                <a:latin typeface="Times New Roman" panose="02020603050405020304" pitchFamily="18" charset="0"/>
              </a:rPr>
              <a:t>mitad</a:t>
            </a:r>
            <a:r>
              <a:rPr lang="en-US" altLang="es-ES" sz="3200" b="1" dirty="0" smtClean="0">
                <a:latin typeface="Times New Roman" panose="02020603050405020304" pitchFamily="18" charset="0"/>
              </a:rPr>
              <a:t> de un </a:t>
            </a:r>
            <a:r>
              <a:rPr lang="en-US" altLang="es-ES" sz="3200" b="1" dirty="0" err="1" smtClean="0">
                <a:latin typeface="Times New Roman" panose="02020603050405020304" pitchFamily="18" charset="0"/>
              </a:rPr>
              <a:t>paralelogram</a:t>
            </a:r>
            <a:r>
              <a:rPr lang="en-US" altLang="es-ES" sz="3200" b="1" dirty="0" err="1">
                <a:latin typeface="Times New Roman" panose="02020603050405020304" pitchFamily="18" charset="0"/>
              </a:rPr>
              <a:t>o</a:t>
            </a:r>
            <a:endParaRPr lang="en-US" altLang="es-ES" sz="3200" b="1" dirty="0">
              <a:latin typeface="Times New Roman" panose="02020603050405020304" pitchFamily="18" charset="0"/>
            </a:endParaRPr>
          </a:p>
        </p:txBody>
      </p:sp>
      <p:sp>
        <p:nvSpPr>
          <p:cNvPr id="27" name="WordArt 25"/>
          <p:cNvSpPr>
            <a:spLocks noChangeArrowheads="1" noChangeShapeType="1" noTextEdit="1"/>
          </p:cNvSpPr>
          <p:nvPr/>
        </p:nvSpPr>
        <p:spPr bwMode="auto">
          <a:xfrm>
            <a:off x="1830281" y="363464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5927437" y="2300151"/>
            <a:ext cx="45360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 dirty="0" err="1" smtClean="0">
                <a:latin typeface="Times New Roman" panose="02020603050405020304" pitchFamily="18" charset="0"/>
              </a:rPr>
              <a:t>Área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3600" dirty="0">
                <a:latin typeface="Times New Roman" panose="02020603050405020304" pitchFamily="18" charset="0"/>
              </a:rPr>
              <a:t>= 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base </a:t>
            </a:r>
            <a:r>
              <a:rPr lang="en-US" altLang="es-ES" sz="3600" dirty="0">
                <a:latin typeface="Times New Roman" panose="02020603050405020304" pitchFamily="18" charset="0"/>
              </a:rPr>
              <a:t>x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altura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7203504" y="2888602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7927404" y="2814772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>
                <a:latin typeface="Times New Roman" panose="02020603050405020304" pitchFamily="18" charset="0"/>
              </a:rPr>
              <a:t>  2</a:t>
            </a: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1582038" y="4290145"/>
            <a:ext cx="898907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2800" dirty="0">
                <a:latin typeface="+mn-lt"/>
              </a:rPr>
              <a:t>D</a:t>
            </a:r>
            <a:r>
              <a:rPr lang="en-US" altLang="es-ES" sz="2800" dirty="0" smtClean="0">
                <a:latin typeface="+mn-lt"/>
              </a:rPr>
              <a:t>os </a:t>
            </a:r>
            <a:r>
              <a:rPr lang="en-US" altLang="es-ES" sz="2800" dirty="0" err="1" smtClean="0">
                <a:latin typeface="+mn-lt"/>
              </a:rPr>
              <a:t>triángulos</a:t>
            </a:r>
            <a:r>
              <a:rPr lang="en-US" altLang="es-ES" sz="2800" dirty="0" smtClean="0">
                <a:latin typeface="+mn-lt"/>
              </a:rPr>
              <a:t> </a:t>
            </a:r>
            <a:r>
              <a:rPr lang="en-US" altLang="es-ES" sz="2800" dirty="0" err="1" smtClean="0">
                <a:latin typeface="+mn-lt"/>
              </a:rPr>
              <a:t>rectángulos</a:t>
            </a:r>
            <a:r>
              <a:rPr lang="en-US" altLang="es-ES" sz="2800" dirty="0" smtClean="0">
                <a:latin typeface="+mn-lt"/>
              </a:rPr>
              <a:t> 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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obtenemos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un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rectángulo</a:t>
            </a:r>
            <a:endParaRPr lang="en-US" altLang="es-ES" sz="2800" dirty="0" smtClean="0">
              <a:latin typeface="+mn-lt"/>
              <a:sym typeface="Wingdings" panose="05000000000000000000" pitchFamily="2" charset="2"/>
            </a:endParaRPr>
          </a:p>
          <a:p>
            <a:pPr>
              <a:spcBef>
                <a:spcPct val="50000"/>
              </a:spcBef>
            </a:pPr>
            <a:r>
              <a:rPr lang="en-US" altLang="es-ES" sz="2800" dirty="0">
                <a:latin typeface="+mn-lt"/>
              </a:rPr>
              <a:t>Dos </a:t>
            </a:r>
            <a:r>
              <a:rPr lang="en-US" altLang="es-ES" sz="2800" dirty="0" err="1" smtClean="0">
                <a:latin typeface="+mn-lt"/>
              </a:rPr>
              <a:t>triángulos</a:t>
            </a:r>
            <a:r>
              <a:rPr lang="en-US" altLang="es-ES" sz="2800" dirty="0" smtClean="0">
                <a:latin typeface="+mn-lt"/>
              </a:rPr>
              <a:t> </a:t>
            </a:r>
            <a:r>
              <a:rPr lang="en-US" altLang="es-ES" sz="2800" dirty="0" err="1" smtClean="0">
                <a:latin typeface="+mn-lt"/>
              </a:rPr>
              <a:t>isósceles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 </a:t>
            </a:r>
            <a:r>
              <a:rPr lang="en-US" altLang="es-ES" sz="2800" dirty="0" err="1">
                <a:latin typeface="+mn-lt"/>
                <a:sym typeface="Wingdings" panose="05000000000000000000" pitchFamily="2" charset="2"/>
              </a:rPr>
              <a:t>obtenemos</a:t>
            </a:r>
            <a:r>
              <a:rPr lang="en-US" altLang="es-ES" sz="2800" dirty="0">
                <a:latin typeface="+mn-lt"/>
                <a:sym typeface="Wingdings" panose="05000000000000000000" pitchFamily="2" charset="2"/>
              </a:rPr>
              <a:t> un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paralelogramo</a:t>
            </a:r>
            <a:endParaRPr lang="en-US" altLang="es-ES" sz="2800" dirty="0" smtClean="0">
              <a:latin typeface="+mn-lt"/>
              <a:sym typeface="Wingdings" panose="05000000000000000000" pitchFamily="2" charset="2"/>
            </a:endParaRPr>
          </a:p>
          <a:p>
            <a:pPr>
              <a:spcBef>
                <a:spcPct val="50000"/>
              </a:spcBef>
            </a:pP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En ambos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casos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nos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interesa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hallar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la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mitad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del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área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,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por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lo </a:t>
            </a:r>
            <a:r>
              <a:rPr lang="en-US" altLang="es-ES" sz="2800" dirty="0" err="1" smtClean="0">
                <a:latin typeface="+mn-lt"/>
                <a:sym typeface="Wingdings" panose="05000000000000000000" pitchFamily="2" charset="2"/>
              </a:rPr>
              <a:t>que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  <a:sym typeface="Wingdings" panose="05000000000000000000" pitchFamily="2" charset="2"/>
              </a:rPr>
              <a:t>dividimos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  <a:sym typeface="Wingdings" panose="05000000000000000000" pitchFamily="2" charset="2"/>
              </a:rPr>
              <a:t>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  <a:sym typeface="Wingdings" panose="05000000000000000000" pitchFamily="2" charset="2"/>
              </a:rPr>
              <a:t>por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  <a:sym typeface="Wingdings" panose="05000000000000000000" pitchFamily="2" charset="2"/>
              </a:rPr>
              <a:t> 2</a:t>
            </a:r>
            <a:r>
              <a:rPr lang="en-US" altLang="es-ES" sz="2800" dirty="0" smtClean="0">
                <a:latin typeface="+mn-lt"/>
                <a:sym typeface="Wingdings" panose="05000000000000000000" pitchFamily="2" charset="2"/>
              </a:rPr>
              <a:t>.</a:t>
            </a:r>
            <a:endParaRPr lang="en-US" altLang="es-ES" sz="2800" dirty="0">
              <a:latin typeface="+mn-lt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</a:pPr>
            <a:endParaRPr lang="en-US" altLang="es-ES" sz="2800" dirty="0" smtClean="0">
              <a:latin typeface="+mn-lt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s-ES" sz="2800" dirty="0" smtClean="0">
                <a:latin typeface="+mn-lt"/>
              </a:rPr>
              <a:t> </a:t>
            </a:r>
            <a:endParaRPr lang="en-US" altLang="es-E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399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1" grpId="0"/>
      <p:bldP spid="32" grpId="0" animBg="1"/>
      <p:bldP spid="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25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200400" y="2899747"/>
            <a:ext cx="985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>
                <a:latin typeface="Times New Roman" panose="02020603050405020304" pitchFamily="18" charset="0"/>
              </a:rPr>
              <a:t>9 cm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81200" y="1985347"/>
            <a:ext cx="985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>
                <a:latin typeface="Times New Roman" panose="02020603050405020304" pitchFamily="18" charset="0"/>
              </a:rPr>
              <a:t>5 cm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114800" y="1985347"/>
            <a:ext cx="985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>
                <a:latin typeface="Times New Roman" panose="02020603050405020304" pitchFamily="18" charset="0"/>
              </a:rPr>
              <a:t>6 cm</a:t>
            </a: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2362200" y="1985347"/>
            <a:ext cx="2819400" cy="914400"/>
          </a:xfrm>
          <a:custGeom>
            <a:avLst/>
            <a:gdLst>
              <a:gd name="T0" fmla="*/ 914400 w 1776"/>
              <a:gd name="T1" fmla="*/ 0 h 576"/>
              <a:gd name="T2" fmla="*/ 0 w 1776"/>
              <a:gd name="T3" fmla="*/ 914400 h 576"/>
              <a:gd name="T4" fmla="*/ 2819400 w 1776"/>
              <a:gd name="T5" fmla="*/ 914400 h 576"/>
              <a:gd name="T6" fmla="*/ 914400 w 1776"/>
              <a:gd name="T7" fmla="*/ 0 h 5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776" h="576">
                <a:moveTo>
                  <a:pt x="576" y="0"/>
                </a:moveTo>
                <a:lnTo>
                  <a:pt x="0" y="576"/>
                </a:lnTo>
                <a:lnTo>
                  <a:pt x="1776" y="576"/>
                </a:lnTo>
                <a:lnTo>
                  <a:pt x="576" y="0"/>
                </a:lnTo>
                <a:close/>
              </a:path>
            </a:pathLst>
          </a:cu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3352800" y="2213947"/>
            <a:ext cx="985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3200">
                <a:latin typeface="Times New Roman" panose="02020603050405020304" pitchFamily="18" charset="0"/>
              </a:rPr>
              <a:t>3 cm</a:t>
            </a: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3240088" y="2007572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21" name="WordArt 19"/>
          <p:cNvSpPr>
            <a:spLocks noChangeArrowheads="1" noChangeShapeType="1" noTextEdit="1"/>
          </p:cNvSpPr>
          <p:nvPr/>
        </p:nvSpPr>
        <p:spPr bwMode="auto">
          <a:xfrm>
            <a:off x="1835150" y="488335"/>
            <a:ext cx="70104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s-ES" sz="3600" b="1" dirty="0">
                <a:solidFill>
                  <a:schemeClr val="accent2"/>
                </a:solidFill>
                <a:latin typeface="AvantGarde" pitchFamily="34" charset="0"/>
              </a:rPr>
              <a:t>Área de un triángulo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/>
              <p:cNvSpPr txBox="1"/>
              <p:nvPr/>
            </p:nvSpPr>
            <p:spPr>
              <a:xfrm>
                <a:off x="2119345" y="4131526"/>
                <a:ext cx="7677358" cy="931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𝑎𝑙𝑡𝑢𝑟𝑎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9 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 3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=13,5 </m:t>
                      </m:r>
                      <m:sSup>
                        <m:sSup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𝑐𝑚</m:t>
                          </m:r>
                        </m:e>
                        <m:sup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" sz="3200" dirty="0"/>
              </a:p>
            </p:txBody>
          </p:sp>
        </mc:Choice>
        <mc:Fallback xmlns="">
          <p:sp>
            <p:nvSpPr>
              <p:cNvPr id="3" name="Cuadro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345" y="4131526"/>
                <a:ext cx="7677358" cy="93179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2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3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8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 animBg="1"/>
      <p:bldP spid="11" grpId="0"/>
      <p:bldP spid="12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26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19910" y="276670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s-ES" sz="5400" dirty="0" smtClean="0"/>
              <a:t>   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Ejercicio</a:t>
            </a:r>
            <a:r>
              <a:rPr lang="en-US" altLang="es-ES" sz="5400" dirty="0" smtClean="0">
                <a:solidFill>
                  <a:srgbClr val="038CE1"/>
                </a:solidFill>
                <a:latin typeface="+mn-lt"/>
              </a:rPr>
              <a:t> de </a:t>
            </a:r>
            <a:r>
              <a:rPr lang="en-US" altLang="es-ES" sz="5400" dirty="0" err="1" smtClean="0">
                <a:solidFill>
                  <a:srgbClr val="038CE1"/>
                </a:solidFill>
                <a:latin typeface="+mn-lt"/>
              </a:rPr>
              <a:t>repaso</a:t>
            </a:r>
            <a:endParaRPr lang="en-US" altLang="es-ES" sz="4000" dirty="0" smtClean="0">
              <a:solidFill>
                <a:srgbClr val="038CE1"/>
              </a:solidFill>
              <a:latin typeface="+mn-lt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1973179" y="4826122"/>
            <a:ext cx="2819400" cy="1219200"/>
          </a:xfrm>
          <a:prstGeom prst="parallelogram">
            <a:avLst>
              <a:gd name="adj" fmla="val 57813"/>
            </a:avLst>
          </a:pr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2430379" y="5969122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 dirty="0">
                <a:latin typeface="Times New Roman" panose="02020603050405020304" pitchFamily="18" charset="0"/>
              </a:rPr>
              <a:t>5 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cm</a:t>
            </a:r>
            <a:endParaRPr lang="en-US" altLang="es-ES" sz="3200" dirty="0">
              <a:latin typeface="Times New Roman" panose="02020603050405020304" pitchFamily="18" charset="0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735179" y="5130922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 dirty="0">
                <a:latin typeface="Times New Roman" panose="02020603050405020304" pitchFamily="18" charset="0"/>
              </a:rPr>
              <a:t>3 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cm</a:t>
            </a:r>
            <a:endParaRPr lang="en-US" altLang="es-ES" sz="3200" dirty="0">
              <a:latin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5935579" y="5359522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 dirty="0">
                <a:latin typeface="Times New Roman" panose="02020603050405020304" pitchFamily="18" charset="0"/>
              </a:rPr>
              <a:t>A = b x </a:t>
            </a:r>
            <a:r>
              <a:rPr lang="en-US" altLang="es-ES" sz="3600" dirty="0" smtClean="0">
                <a:latin typeface="Times New Roman" panose="02020603050405020304" pitchFamily="18" charset="0"/>
              </a:rPr>
              <a:t>a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859379" y="6045322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>
                <a:latin typeface="Times New Roman" panose="02020603050405020304" pitchFamily="18" charset="0"/>
              </a:rPr>
              <a:t>A = 5 x 3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8069179" y="6045322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 dirty="0">
                <a:latin typeface="Times New Roman" panose="02020603050405020304" pitchFamily="18" charset="0"/>
              </a:rPr>
              <a:t>= 15 </a:t>
            </a:r>
            <a:r>
              <a:rPr lang="en-US" altLang="es-ES" sz="3200" dirty="0" smtClean="0">
                <a:latin typeface="Times New Roman" panose="02020603050405020304" pitchFamily="18" charset="0"/>
              </a:rPr>
              <a:t>cm</a:t>
            </a:r>
            <a:r>
              <a:rPr lang="en-US" altLang="es-ES" sz="4000" b="1" baseline="32000" dirty="0" smtClean="0">
                <a:latin typeface="Times New Roman" panose="02020603050405020304" pitchFamily="18" charset="0"/>
              </a:rPr>
              <a:t>2</a:t>
            </a:r>
            <a:endParaRPr lang="en-US" altLang="es-ES" sz="4000" b="1" baseline="32000" dirty="0">
              <a:latin typeface="Times New Roman" panose="02020603050405020304" pitchFamily="18" charset="0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 flipH="1">
            <a:off x="2658979" y="4826122"/>
            <a:ext cx="76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658979" y="5892922"/>
            <a:ext cx="152400" cy="15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sp>
        <p:nvSpPr>
          <p:cNvPr id="17" name="Oval 12"/>
          <p:cNvSpPr>
            <a:spLocks noChangeArrowheads="1"/>
          </p:cNvSpPr>
          <p:nvPr/>
        </p:nvSpPr>
        <p:spPr bwMode="auto">
          <a:xfrm>
            <a:off x="8069179" y="5816722"/>
            <a:ext cx="1524000" cy="990600"/>
          </a:xfrm>
          <a:prstGeom prst="ellipse">
            <a:avLst/>
          </a:prstGeom>
          <a:noFill/>
          <a:ln w="38100" cap="rnd">
            <a:solidFill>
              <a:srgbClr val="6600CC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s-ES" altLang="es-ES" sz="2400">
              <a:solidFill>
                <a:srgbClr val="6600CC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1820779" y="1320922"/>
            <a:ext cx="8153400" cy="954107"/>
          </a:xfrm>
          <a:prstGeom prst="rect">
            <a:avLst/>
          </a:prstGeom>
          <a:solidFill>
            <a:schemeClr val="bg1"/>
          </a:solidFill>
          <a:ln w="28575" cap="rnd">
            <a:solidFill>
              <a:srgbClr val="CC00FF"/>
            </a:solidFill>
            <a:prstDash val="sys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s-ES" sz="2800" dirty="0" smtClean="0">
                <a:latin typeface="Times New Roman" panose="02020603050405020304" pitchFamily="18" charset="0"/>
              </a:rPr>
              <a:t>Para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calcular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 el </a:t>
            </a:r>
            <a:r>
              <a:rPr lang="en-US" altLang="es-ES" sz="2800" dirty="0" err="1">
                <a:solidFill>
                  <a:srgbClr val="038CE1"/>
                </a:solidFill>
                <a:latin typeface="+mn-lt"/>
              </a:rPr>
              <a:t>á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rea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</a:rPr>
              <a:t> de un </a:t>
            </a:r>
            <a:r>
              <a:rPr lang="en-US" altLang="es-ES" sz="2800" dirty="0" err="1" smtClean="0">
                <a:solidFill>
                  <a:srgbClr val="038CE1"/>
                </a:solidFill>
                <a:latin typeface="+mn-lt"/>
              </a:rPr>
              <a:t>paralelogramo</a:t>
            </a:r>
            <a:r>
              <a:rPr lang="en-US" altLang="es-ES" sz="2800" dirty="0" smtClean="0">
                <a:solidFill>
                  <a:srgbClr val="038CE1"/>
                </a:solidFill>
                <a:latin typeface="+mn-lt"/>
              </a:rPr>
              <a:t>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utiliza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 lo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que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sabes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sobre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 el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área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 de un </a:t>
            </a:r>
            <a:r>
              <a:rPr lang="en-US" altLang="es-ES" sz="2800" dirty="0" err="1" smtClean="0">
                <a:latin typeface="Times New Roman" panose="02020603050405020304" pitchFamily="18" charset="0"/>
              </a:rPr>
              <a:t>rectángulo</a:t>
            </a:r>
            <a:r>
              <a:rPr lang="en-US" altLang="es-ES" sz="2800" dirty="0" smtClean="0">
                <a:latin typeface="Times New Roman" panose="02020603050405020304" pitchFamily="18" charset="0"/>
              </a:rPr>
              <a:t>.</a:t>
            </a:r>
            <a:endParaRPr lang="en-US" altLang="es-ES" sz="2800" dirty="0">
              <a:latin typeface="Times New Roman" panose="02020603050405020304" pitchFamily="18" charset="0"/>
            </a:endParaRPr>
          </a:p>
        </p:txBody>
      </p:sp>
      <p:sp>
        <p:nvSpPr>
          <p:cNvPr id="19" name="AutoShape 14"/>
          <p:cNvSpPr>
            <a:spLocks noChangeArrowheads="1"/>
          </p:cNvSpPr>
          <p:nvPr/>
        </p:nvSpPr>
        <p:spPr bwMode="auto">
          <a:xfrm>
            <a:off x="2506579" y="2616322"/>
            <a:ext cx="2743200" cy="1295400"/>
          </a:xfrm>
          <a:prstGeom prst="parallelogram">
            <a:avLst>
              <a:gd name="adj" fmla="val 52941"/>
            </a:avLst>
          </a:pr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>
            <a:off x="3192379" y="2616322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S"/>
          </a:p>
        </p:txBody>
      </p:sp>
      <p:sp>
        <p:nvSpPr>
          <p:cNvPr id="21" name="Freeform 16"/>
          <p:cNvSpPr>
            <a:spLocks/>
          </p:cNvSpPr>
          <p:nvPr/>
        </p:nvSpPr>
        <p:spPr bwMode="auto">
          <a:xfrm>
            <a:off x="6697579" y="2616322"/>
            <a:ext cx="2057400" cy="1295400"/>
          </a:xfrm>
          <a:custGeom>
            <a:avLst/>
            <a:gdLst>
              <a:gd name="T0" fmla="*/ 0 w 1296"/>
              <a:gd name="T1" fmla="*/ 1295400 h 816"/>
              <a:gd name="T2" fmla="*/ 0 w 1296"/>
              <a:gd name="T3" fmla="*/ 0 h 816"/>
              <a:gd name="T4" fmla="*/ 2057400 w 1296"/>
              <a:gd name="T5" fmla="*/ 0 h 816"/>
              <a:gd name="T6" fmla="*/ 1371600 w 1296"/>
              <a:gd name="T7" fmla="*/ 1295400 h 816"/>
              <a:gd name="T8" fmla="*/ 0 w 1296"/>
              <a:gd name="T9" fmla="*/ 129540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96" h="816">
                <a:moveTo>
                  <a:pt x="0" y="816"/>
                </a:moveTo>
                <a:lnTo>
                  <a:pt x="0" y="0"/>
                </a:lnTo>
                <a:lnTo>
                  <a:pt x="1296" y="0"/>
                </a:lnTo>
                <a:lnTo>
                  <a:pt x="864" y="816"/>
                </a:lnTo>
                <a:lnTo>
                  <a:pt x="0" y="816"/>
                </a:lnTo>
                <a:close/>
              </a:path>
            </a:pathLst>
          </a:cu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/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 flipH="1">
            <a:off x="6011779" y="2616322"/>
            <a:ext cx="685800" cy="1295400"/>
          </a:xfrm>
          <a:prstGeom prst="rtTriangle">
            <a:avLst/>
          </a:prstGeom>
          <a:solidFill>
            <a:srgbClr val="D86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3192379" y="3683122"/>
            <a:ext cx="228600" cy="228600"/>
            <a:chOff x="3744" y="1440"/>
            <a:chExt cx="144" cy="144"/>
          </a:xfrm>
        </p:grpSpPr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3744" y="14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3888" y="14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ES"/>
            </a:p>
          </p:txBody>
        </p:sp>
      </p:grpSp>
      <p:sp>
        <p:nvSpPr>
          <p:cNvPr id="26" name="Text Box 21"/>
          <p:cNvSpPr txBox="1">
            <a:spLocks noChangeArrowheads="1"/>
          </p:cNvSpPr>
          <p:nvPr/>
        </p:nvSpPr>
        <p:spPr bwMode="auto">
          <a:xfrm>
            <a:off x="5783179" y="4597522"/>
            <a:ext cx="4419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 dirty="0">
                <a:latin typeface="Times New Roman" panose="02020603050405020304" pitchFamily="18" charset="0"/>
              </a:rPr>
              <a:t> A = base x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altura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27" name="AutoShape 22"/>
          <p:cNvSpPr>
            <a:spLocks noChangeArrowheads="1"/>
          </p:cNvSpPr>
          <p:nvPr/>
        </p:nvSpPr>
        <p:spPr bwMode="auto">
          <a:xfrm>
            <a:off x="6392779" y="4064122"/>
            <a:ext cx="2743200" cy="304800"/>
          </a:xfrm>
          <a:prstGeom prst="curvedUpArrow">
            <a:avLst>
              <a:gd name="adj1" fmla="val 180000"/>
              <a:gd name="adj2" fmla="val 360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8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95833E-6 4.07407E-6 L 0.17592 -0.0009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9" y="-4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 animBg="1"/>
      <p:bldP spid="17" grpId="0" animBg="1"/>
      <p:bldP spid="18" grpId="0" animBg="1"/>
      <p:bldP spid="20" grpId="0" animBg="1"/>
      <p:bldP spid="21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00" y="6165304"/>
            <a:ext cx="874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498904" y="6160220"/>
            <a:ext cx="2133600" cy="365125"/>
          </a:xfrm>
        </p:spPr>
        <p:txBody>
          <a:bodyPr/>
          <a:lstStyle/>
          <a:p>
            <a:fld id="{0DE0433C-A6FD-494E-9439-4741394F9850}" type="slidenum">
              <a:rPr lang="es-ES" smtClean="0"/>
              <a:t>27</a:t>
            </a:fld>
            <a:endParaRPr lang="es-ES"/>
          </a:p>
        </p:txBody>
      </p:sp>
      <p:pic>
        <p:nvPicPr>
          <p:cNvPr id="6" name="Picture 3" descr="C:\Users\mcpuig\AppData\Local\Microsoft\Windows\INetCache\IE\209U2EL3\Fotolia_44095455_X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06" y="96743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51858" y="301009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s-ES" sz="5400" dirty="0">
                <a:solidFill>
                  <a:schemeClr val="tx2"/>
                </a:solidFill>
              </a:rPr>
              <a:t>    </a:t>
            </a:r>
            <a:r>
              <a:rPr lang="en-US" altLang="es-ES" sz="5400" dirty="0" err="1">
                <a:solidFill>
                  <a:srgbClr val="038CE1"/>
                </a:solidFill>
              </a:rPr>
              <a:t>Ejercicio</a:t>
            </a:r>
            <a:r>
              <a:rPr lang="en-US" altLang="es-ES" sz="5400" dirty="0">
                <a:solidFill>
                  <a:srgbClr val="038CE1"/>
                </a:solidFill>
              </a:rPr>
              <a:t> de </a:t>
            </a:r>
            <a:r>
              <a:rPr lang="en-US" altLang="es-ES" sz="5400" dirty="0" err="1">
                <a:solidFill>
                  <a:srgbClr val="038CE1"/>
                </a:solidFill>
              </a:rPr>
              <a:t>repaso</a:t>
            </a:r>
            <a:endParaRPr lang="en-US" altLang="es-ES" sz="4000" dirty="0">
              <a:solidFill>
                <a:srgbClr val="038CE1"/>
              </a:solidFill>
            </a:endParaRPr>
          </a:p>
        </p:txBody>
      </p:sp>
      <p:sp>
        <p:nvSpPr>
          <p:cNvPr id="9" name="PubTriangle"/>
          <p:cNvSpPr>
            <a:spLocks noEditPoints="1" noChangeArrowheads="1"/>
          </p:cNvSpPr>
          <p:nvPr/>
        </p:nvSpPr>
        <p:spPr bwMode="auto">
          <a:xfrm>
            <a:off x="2381612" y="2898774"/>
            <a:ext cx="2720975" cy="1730375"/>
          </a:xfrm>
          <a:custGeom>
            <a:avLst/>
            <a:gdLst>
              <a:gd name="T0" fmla="*/ 1360488 w 21600"/>
              <a:gd name="T1" fmla="*/ 0 h 21600"/>
              <a:gd name="T2" fmla="*/ 680244 w 21600"/>
              <a:gd name="T3" fmla="*/ 865188 h 21600"/>
              <a:gd name="T4" fmla="*/ 0 w 21600"/>
              <a:gd name="T5" fmla="*/ 1730375 h 21600"/>
              <a:gd name="T6" fmla="*/ 1360488 w 21600"/>
              <a:gd name="T7" fmla="*/ 1730375 h 21600"/>
              <a:gd name="T8" fmla="*/ 2720975 w 21600"/>
              <a:gd name="T9" fmla="*/ 1730375 h 21600"/>
              <a:gd name="T10" fmla="*/ 2040731 w 21600"/>
              <a:gd name="T11" fmla="*/ 865188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5400 w 21600"/>
              <a:gd name="T19" fmla="*/ 10800 h 21600"/>
              <a:gd name="T20" fmla="*/ 16200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  <a:close/>
              </a:path>
            </a:pathLst>
          </a:cu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s-E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3753212" y="2898774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296012" y="4575174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 dirty="0">
                <a:latin typeface="Times New Roman" panose="02020603050405020304" pitchFamily="18" charset="0"/>
              </a:rPr>
              <a:t>8 m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677012" y="3584574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>
                <a:latin typeface="Times New Roman" panose="02020603050405020304" pitchFamily="18" charset="0"/>
              </a:rPr>
              <a:t> 6 m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864587" y="4554537"/>
            <a:ext cx="2895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 dirty="0">
                <a:latin typeface="Times New Roman" panose="02020603050405020304" pitchFamily="18" charset="0"/>
              </a:rPr>
              <a:t>A = 8 x 6</a:t>
            </a: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6746304" y="5189787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6936804" y="5155614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7312387" y="4645458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>
                <a:latin typeface="Times New Roman" panose="02020603050405020304" pitchFamily="18" charset="0"/>
              </a:rPr>
              <a:t>     = 24 m</a:t>
            </a:r>
            <a:r>
              <a:rPr lang="en-US" altLang="es-ES" sz="4000" b="1" baseline="32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5831904" y="3230562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600" dirty="0">
                <a:latin typeface="Times New Roman" panose="02020603050405020304" pitchFamily="18" charset="0"/>
              </a:rPr>
              <a:t>A = base x </a:t>
            </a:r>
            <a:r>
              <a:rPr lang="en-US" altLang="es-ES" sz="3600" dirty="0" err="1" smtClean="0">
                <a:latin typeface="Times New Roman" panose="02020603050405020304" pitchFamily="18" charset="0"/>
              </a:rPr>
              <a:t>altura</a:t>
            </a:r>
            <a:endParaRPr lang="en-US" altLang="es-ES" sz="3600" dirty="0">
              <a:latin typeface="Times New Roman" panose="02020603050405020304" pitchFamily="18" charset="0"/>
            </a:endParaRPr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6670104" y="3763962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ES"/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7355904" y="3687762"/>
            <a:ext cx="1143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3200">
                <a:latin typeface="Times New Roman" panose="02020603050405020304" pitchFamily="18" charset="0"/>
              </a:rPr>
              <a:t>  2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312040" y="1603374"/>
            <a:ext cx="889594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s-ES" sz="3200" dirty="0" smtClean="0">
                <a:solidFill>
                  <a:schemeClr val="tx2"/>
                </a:solidFill>
              </a:rPr>
              <a:t>El </a:t>
            </a:r>
            <a:r>
              <a:rPr lang="en-US" altLang="es-ES" sz="3200" smtClean="0">
                <a:solidFill>
                  <a:schemeClr val="tx2"/>
                </a:solidFill>
              </a:rPr>
              <a:t>área</a:t>
            </a:r>
            <a:r>
              <a:rPr lang="en-US" altLang="es-ES" sz="3200" dirty="0" smtClean="0">
                <a:solidFill>
                  <a:schemeClr val="tx2"/>
                </a:solidFill>
              </a:rPr>
              <a:t> </a:t>
            </a:r>
            <a:r>
              <a:rPr lang="en-US" altLang="es-ES" sz="3200" dirty="0" smtClean="0">
                <a:solidFill>
                  <a:schemeClr val="tx2"/>
                </a:solidFill>
              </a:rPr>
              <a:t>de un </a:t>
            </a:r>
            <a:r>
              <a:rPr lang="en-US" altLang="es-ES" sz="3200" dirty="0" err="1" smtClean="0">
                <a:solidFill>
                  <a:schemeClr val="tx2"/>
                </a:solidFill>
              </a:rPr>
              <a:t>triángulo</a:t>
            </a:r>
            <a:r>
              <a:rPr lang="en-US" altLang="es-ES" sz="3200" dirty="0" smtClean="0">
                <a:solidFill>
                  <a:schemeClr val="tx2"/>
                </a:solidFill>
              </a:rPr>
              <a:t> </a:t>
            </a:r>
            <a:r>
              <a:rPr lang="en-US" altLang="es-ES" sz="3200" dirty="0" err="1" smtClean="0">
                <a:solidFill>
                  <a:schemeClr val="tx2"/>
                </a:solidFill>
              </a:rPr>
              <a:t>rectángulo</a:t>
            </a:r>
            <a:r>
              <a:rPr lang="en-US" altLang="es-ES" sz="3200" dirty="0" smtClean="0">
                <a:solidFill>
                  <a:schemeClr val="tx2"/>
                </a:solidFill>
              </a:rPr>
              <a:t> </a:t>
            </a:r>
            <a:r>
              <a:rPr lang="en-US" altLang="es-ES" sz="3200" dirty="0" err="1" smtClean="0">
                <a:solidFill>
                  <a:schemeClr val="tx2"/>
                </a:solidFill>
              </a:rPr>
              <a:t>es</a:t>
            </a:r>
            <a:r>
              <a:rPr lang="en-US" altLang="es-ES" sz="3200" dirty="0" smtClean="0">
                <a:solidFill>
                  <a:schemeClr val="tx2"/>
                </a:solidFill>
              </a:rPr>
              <a:t> </a:t>
            </a:r>
            <a:r>
              <a:rPr lang="en-US" altLang="es-ES" sz="3200" dirty="0" smtClean="0">
                <a:solidFill>
                  <a:srgbClr val="038CE1"/>
                </a:solidFill>
                <a:latin typeface="+mn-lt"/>
              </a:rPr>
              <a:t>la </a:t>
            </a:r>
            <a:r>
              <a:rPr lang="en-US" altLang="es-ES" sz="3200" dirty="0" err="1" smtClean="0">
                <a:solidFill>
                  <a:srgbClr val="038CE1"/>
                </a:solidFill>
                <a:latin typeface="+mn-lt"/>
              </a:rPr>
              <a:t>mitad</a:t>
            </a:r>
            <a:r>
              <a:rPr lang="en-US" altLang="es-ES" sz="3200" dirty="0" smtClean="0">
                <a:solidFill>
                  <a:srgbClr val="038CE1"/>
                </a:solidFill>
                <a:latin typeface="+mn-lt"/>
              </a:rPr>
              <a:t> del </a:t>
            </a:r>
            <a:r>
              <a:rPr lang="en-US" altLang="es-ES" sz="3200" dirty="0" err="1" smtClean="0">
                <a:solidFill>
                  <a:srgbClr val="038CE1"/>
                </a:solidFill>
                <a:latin typeface="+mn-lt"/>
              </a:rPr>
              <a:t>área</a:t>
            </a:r>
            <a:r>
              <a:rPr lang="en-US" altLang="es-ES" sz="3200" dirty="0" smtClean="0">
                <a:solidFill>
                  <a:srgbClr val="6600CC"/>
                </a:solidFill>
                <a:latin typeface="Impact" panose="020B0806030902050204" pitchFamily="34" charset="0"/>
              </a:rPr>
              <a:t> </a:t>
            </a:r>
            <a:r>
              <a:rPr lang="en-US" altLang="es-ES" sz="3200" dirty="0" smtClean="0">
                <a:solidFill>
                  <a:schemeClr val="tx2"/>
                </a:solidFill>
              </a:rPr>
              <a:t>de un </a:t>
            </a:r>
            <a:r>
              <a:rPr lang="en-US" altLang="es-ES" sz="3200" dirty="0" err="1" smtClean="0">
                <a:solidFill>
                  <a:schemeClr val="tx2"/>
                </a:solidFill>
              </a:rPr>
              <a:t>rectángulo</a:t>
            </a:r>
            <a:r>
              <a:rPr lang="en-US" altLang="es-ES" sz="3200" dirty="0" smtClean="0">
                <a:solidFill>
                  <a:schemeClr val="tx2"/>
                </a:solidFill>
              </a:rPr>
              <a:t>. </a:t>
            </a:r>
            <a:endParaRPr lang="en-US" altLang="es-ES" sz="2000" dirty="0">
              <a:solidFill>
                <a:schemeClr val="tx2"/>
              </a:solidFill>
            </a:endParaRPr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10632504" y="1714748"/>
            <a:ext cx="1066800" cy="838200"/>
          </a:xfrm>
          <a:prstGeom prst="rtTriangle">
            <a:avLst/>
          </a:pr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/>
          </a:p>
        </p:txBody>
      </p:sp>
      <p:sp>
        <p:nvSpPr>
          <p:cNvPr id="24" name="AutoShape 19"/>
          <p:cNvSpPr>
            <a:spLocks noChangeArrowheads="1"/>
          </p:cNvSpPr>
          <p:nvPr/>
        </p:nvSpPr>
        <p:spPr bwMode="auto">
          <a:xfrm rot="10800000">
            <a:off x="10632504" y="1688598"/>
            <a:ext cx="1066800" cy="838200"/>
          </a:xfrm>
          <a:prstGeom prst="rtTriangle">
            <a:avLst/>
          </a:prstGeom>
          <a:gradFill rotWithShape="1">
            <a:gsLst>
              <a:gs pos="0">
                <a:srgbClr val="FF9900"/>
              </a:gs>
              <a:gs pos="100000">
                <a:srgbClr val="FFFF99"/>
              </a:gs>
            </a:gsLst>
            <a:lin ang="5400000" scaled="1"/>
          </a:gradFill>
          <a:ln w="38100" cmpd="sng">
            <a:solidFill>
              <a:srgbClr val="FF99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3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xit" presetSubtype="1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checkerboard(across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/>
      <p:bldP spid="16" grpId="0"/>
      <p:bldP spid="18" grpId="0"/>
      <p:bldP spid="19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859</Words>
  <Application>Microsoft Office PowerPoint</Application>
  <PresentationFormat>Panorámica</PresentationFormat>
  <Paragraphs>218</Paragraphs>
  <Slides>27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40" baseType="lpstr">
      <vt:lpstr>Arial</vt:lpstr>
      <vt:lpstr>AvantGarde</vt:lpstr>
      <vt:lpstr>Calibri</vt:lpstr>
      <vt:lpstr>Calibri Light</vt:lpstr>
      <vt:lpstr>Cambria Math</vt:lpstr>
      <vt:lpstr>Gill Sans Ultra Bold Condensed</vt:lpstr>
      <vt:lpstr>Impact</vt:lpstr>
      <vt:lpstr>Tahoma</vt:lpstr>
      <vt:lpstr>Times New Roman</vt:lpstr>
      <vt:lpstr>Verdana</vt:lpstr>
      <vt:lpstr>Wingdings</vt:lpstr>
      <vt:lpstr>Tema de Office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Matilde Lafuente</dc:creator>
  <cp:lastModifiedBy>Cristina Vilaplana Prieto</cp:lastModifiedBy>
  <cp:revision>134</cp:revision>
  <dcterms:created xsi:type="dcterms:W3CDTF">2017-01-18T18:04:43Z</dcterms:created>
  <dcterms:modified xsi:type="dcterms:W3CDTF">2017-04-10T07:23:29Z</dcterms:modified>
</cp:coreProperties>
</file>