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9" r:id="rId3"/>
    <p:sldId id="272" r:id="rId4"/>
    <p:sldId id="282" r:id="rId5"/>
    <p:sldId id="283" r:id="rId6"/>
    <p:sldId id="285" r:id="rId7"/>
    <p:sldId id="290" r:id="rId8"/>
    <p:sldId id="289" r:id="rId9"/>
    <p:sldId id="292" r:id="rId10"/>
    <p:sldId id="293" r:id="rId11"/>
    <p:sldId id="291" r:id="rId12"/>
    <p:sldId id="294" r:id="rId13"/>
    <p:sldId id="295" r:id="rId14"/>
    <p:sldId id="298" r:id="rId15"/>
    <p:sldId id="299" r:id="rId16"/>
    <p:sldId id="296" r:id="rId17"/>
    <p:sldId id="286" r:id="rId18"/>
    <p:sldId id="300" r:id="rId19"/>
    <p:sldId id="301" r:id="rId20"/>
    <p:sldId id="304" r:id="rId21"/>
    <p:sldId id="302" r:id="rId22"/>
    <p:sldId id="306" r:id="rId23"/>
    <p:sldId id="305" r:id="rId24"/>
    <p:sldId id="303" r:id="rId25"/>
    <p:sldId id="309" r:id="rId26"/>
    <p:sldId id="307" r:id="rId27"/>
    <p:sldId id="308" r:id="rId28"/>
    <p:sldId id="310" r:id="rId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ilde Lafuente Lechuga" initials="MLL" lastIdx="1" clrIdx="0">
    <p:extLst>
      <p:ext uri="{19B8F6BF-5375-455C-9EA6-DF929625EA0E}">
        <p15:presenceInfo xmlns:p15="http://schemas.microsoft.com/office/powerpoint/2012/main" userId="Matilde Lafuente Lechug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AE5DE"/>
    <a:srgbClr val="FCEE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90" autoAdjust="0"/>
    <p:restoredTop sz="94103" autoAdjust="0"/>
  </p:normalViewPr>
  <p:slideViewPr>
    <p:cSldViewPr snapToGrid="0">
      <p:cViewPr varScale="1">
        <p:scale>
          <a:sx n="70" d="100"/>
          <a:sy n="70" d="100"/>
        </p:scale>
        <p:origin x="88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943D2-E78C-47D4-A268-9AB0C20645F7}" type="datetimeFigureOut">
              <a:rPr lang="es-ES" smtClean="0"/>
              <a:t>13/12/2017</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8F5FD-081B-4580-9EBB-CB394A462846}" type="slidenum">
              <a:rPr lang="es-ES" smtClean="0"/>
              <a:t>‹Nº›</a:t>
            </a:fld>
            <a:endParaRPr lang="es-ES"/>
          </a:p>
        </p:txBody>
      </p:sp>
    </p:spTree>
    <p:extLst>
      <p:ext uri="{BB962C8B-B14F-4D97-AF65-F5344CB8AC3E}">
        <p14:creationId xmlns:p14="http://schemas.microsoft.com/office/powerpoint/2010/main" val="2328104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4C18F5FD-081B-4580-9EBB-CB394A462846}" type="slidenum">
              <a:rPr lang="es-ES" smtClean="0"/>
              <a:t>1</a:t>
            </a:fld>
            <a:endParaRPr lang="es-ES"/>
          </a:p>
        </p:txBody>
      </p:sp>
    </p:spTree>
    <p:extLst>
      <p:ext uri="{BB962C8B-B14F-4D97-AF65-F5344CB8AC3E}">
        <p14:creationId xmlns:p14="http://schemas.microsoft.com/office/powerpoint/2010/main" val="301116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A52ACA4A-2591-4AD0-9F4E-3CB438C721D2}" type="datetime1">
              <a:rPr lang="es-ES" smtClean="0"/>
              <a:t>13/12/2017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2546361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EDA079F-2D18-4C2A-B254-A19710AAEB6A}" type="datetime1">
              <a:rPr lang="es-ES" smtClean="0"/>
              <a:t>13/12/2017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1176727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72B48A0A-9A81-493B-9673-FC1CA0E2CF09}" type="datetime1">
              <a:rPr lang="es-ES" smtClean="0"/>
              <a:t>13/12/2017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11113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009E3B69-BF44-43AF-8351-9283D9E962FE}" type="datetime1">
              <a:rPr lang="es-ES" smtClean="0"/>
              <a:t>13/12/2017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157064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3853B502-0379-4F1E-BB58-D0D75319510A}" type="datetime1">
              <a:rPr lang="es-ES" smtClean="0"/>
              <a:t>13/12/2017</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443219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BDA0FFF8-00A3-4F04-B143-EC876152B9DF}" type="datetime1">
              <a:rPr lang="es-ES" smtClean="0"/>
              <a:t>13/12/2017</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3588512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2FAC79B1-D63B-4907-8B1F-2EA22DF0DDB2}" type="datetime1">
              <a:rPr lang="es-ES" smtClean="0"/>
              <a:t>13/12/2017</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11784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70FCC1AD-7B22-49DE-B47E-4E12955329C6}" type="datetime1">
              <a:rPr lang="es-ES" smtClean="0"/>
              <a:t>13/12/2017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292733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B6254C4-AA75-4B97-B99D-4BB08A5EBB28}" type="datetime1">
              <a:rPr lang="es-ES" smtClean="0"/>
              <a:t>13/12/2017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1707406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B75C6411-FD4B-4A6A-8AC8-95A72142E996}" type="datetime1">
              <a:rPr lang="es-ES" smtClean="0"/>
              <a:t>13/12/2017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252714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89721ED-2A8C-4632-8CCA-10D1893DB70F}" type="datetime1">
              <a:rPr lang="es-ES" smtClean="0"/>
              <a:t>13/12/2017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592A4D-5C03-4CFD-8B6A-C9F59B2971D9}" type="slidenum">
              <a:rPr lang="es-ES" smtClean="0"/>
              <a:t>‹Nº›</a:t>
            </a:fld>
            <a:endParaRPr lang="es-ES"/>
          </a:p>
        </p:txBody>
      </p:sp>
    </p:spTree>
    <p:extLst>
      <p:ext uri="{BB962C8B-B14F-4D97-AF65-F5344CB8AC3E}">
        <p14:creationId xmlns:p14="http://schemas.microsoft.com/office/powerpoint/2010/main" val="247509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A954F-9D10-437C-A88B-F704817EF0D6}" type="datetime1">
              <a:rPr lang="es-ES" smtClean="0"/>
              <a:t>13/12/2017</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592A4D-5C03-4CFD-8B6A-C9F59B2971D9}" type="slidenum">
              <a:rPr lang="es-ES" smtClean="0"/>
              <a:t>‹Nº›</a:t>
            </a:fld>
            <a:endParaRPr lang="es-ES"/>
          </a:p>
        </p:txBody>
      </p:sp>
    </p:spTree>
    <p:extLst>
      <p:ext uri="{BB962C8B-B14F-4D97-AF65-F5344CB8AC3E}">
        <p14:creationId xmlns:p14="http://schemas.microsoft.com/office/powerpoint/2010/main" val="3224147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0.png"/><Relationship Id="rId5" Type="http://schemas.openxmlformats.org/officeDocument/2006/relationships/image" Target="../media/image130.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50.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7.png"/><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8.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9.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8.jp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6.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0.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1.png"/><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png"/><Relationship Id="rId7"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microsoft.com/office/2007/relationships/hdphoto" Target="../media/hdphoto2.wdp"/><Relationship Id="rId9"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microsoft.com/office/2007/relationships/hdphoto" Target="../media/hdphoto2.wdp"/></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microsoft.com/office/2007/relationships/hdphoto" Target="../media/hdphoto2.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microsoft.com/office/2007/relationships/hdphoto" Target="../media/hdphoto2.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6.jpg"/><Relationship Id="rId4" Type="http://schemas.microsoft.com/office/2007/relationships/hdphoto" Target="../media/hdphoto2.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6.png"/><Relationship Id="rId4" Type="http://schemas.microsoft.com/office/2007/relationships/hdphoto" Target="../media/hdphoto2.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C:\Users\mcpuig\AppData\Local\Microsoft\Windows\INetCache\IE\209U2EL3\Fotolia_44095455_XS[1].jpg"/>
          <p:cNvPicPr>
            <a:picLocks noChangeAspect="1" noChangeArrowheads="1"/>
          </p:cNvPicPr>
          <p:nvPr/>
        </p:nvPicPr>
        <p:blipFill>
          <a:blip r:embed="rId3">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530896" y="1988840"/>
            <a:ext cx="4394200" cy="4394200"/>
          </a:xfrm>
          <a:prstGeom prst="rect">
            <a:avLst/>
          </a:prstGeom>
          <a:noFill/>
          <a:extLst>
            <a:ext uri="{909E8E84-426E-40DD-AFC4-6F175D3DCCD1}">
              <a14:hiddenFill xmlns:a14="http://schemas.microsoft.com/office/drawing/2010/main">
                <a:solidFill>
                  <a:srgbClr val="FFFFFF"/>
                </a:solidFill>
              </a14:hiddenFill>
            </a:ext>
          </a:extLst>
        </p:spPr>
      </p:pic>
      <p:sp>
        <p:nvSpPr>
          <p:cNvPr id="4" name="3 CuadroTexto"/>
          <p:cNvSpPr txBox="1"/>
          <p:nvPr/>
        </p:nvSpPr>
        <p:spPr>
          <a:xfrm>
            <a:off x="4439816" y="1280954"/>
            <a:ext cx="5713424" cy="707886"/>
          </a:xfrm>
          <a:prstGeom prst="rect">
            <a:avLst/>
          </a:prstGeom>
          <a:noFill/>
        </p:spPr>
        <p:txBody>
          <a:bodyPr wrap="none" rtlCol="0">
            <a:spAutoFit/>
          </a:bodyPr>
          <a:lstStyle/>
          <a:p>
            <a:r>
              <a:rPr lang="es-ES" sz="4000" b="1" dirty="0" smtClean="0">
                <a:solidFill>
                  <a:schemeClr val="accent2"/>
                </a:solidFill>
                <a:latin typeface="AvantGarde" pitchFamily="34" charset="0"/>
                <a:ea typeface="Verdana" panose="020B0604030504040204" pitchFamily="34" charset="0"/>
                <a:cs typeface="Verdana" panose="020B0604030504040204" pitchFamily="34" charset="0"/>
              </a:rPr>
              <a:t>Sumas y Progresiones</a:t>
            </a:r>
            <a:endParaRPr lang="es-ES" sz="4000" b="1" dirty="0">
              <a:solidFill>
                <a:schemeClr val="accent2"/>
              </a:solidFill>
              <a:latin typeface="AvantGarde" pitchFamily="34" charset="0"/>
              <a:ea typeface="Verdana" panose="020B0604030504040204" pitchFamily="34" charset="0"/>
              <a:cs typeface="Verdana" panose="020B0604030504040204" pitchFamily="34" charset="0"/>
            </a:endParaRPr>
          </a:p>
        </p:txBody>
      </p:sp>
      <p:pic>
        <p:nvPicPr>
          <p:cNvPr id="5" name="Picture 1"/>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50876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3416320" cy="584775"/>
          </a:xfrm>
          <a:prstGeom prst="rect">
            <a:avLst/>
          </a:prstGeom>
          <a:noFill/>
        </p:spPr>
        <p:txBody>
          <a:bodyPr wrap="none" rtlCol="0">
            <a:spAutoFit/>
          </a:bodyPr>
          <a:lstStyle/>
          <a:p>
            <a:r>
              <a:rPr lang="es-ES" sz="3200" b="1" dirty="0" smtClean="0">
                <a:solidFill>
                  <a:schemeClr val="accent2"/>
                </a:solidFill>
                <a:latin typeface="AvantGarde" pitchFamily="34" charset="0"/>
              </a:rPr>
              <a:t>N</a:t>
            </a:r>
            <a:r>
              <a:rPr lang="es-ES" sz="2800" dirty="0" smtClean="0">
                <a:solidFill>
                  <a:schemeClr val="accent2"/>
                </a:solidFill>
                <a:latin typeface="AvantGarde" pitchFamily="34" charset="0"/>
              </a:rPr>
              <a:t>otación </a:t>
            </a:r>
            <a:r>
              <a:rPr lang="es-ES" sz="3200" b="1" dirty="0" smtClean="0">
                <a:solidFill>
                  <a:schemeClr val="accent2"/>
                </a:solidFill>
                <a:latin typeface="AvantGarde" pitchFamily="34" charset="0"/>
              </a:rPr>
              <a:t>S</a:t>
            </a:r>
            <a:r>
              <a:rPr lang="es-ES" sz="2800" dirty="0" smtClean="0">
                <a:solidFill>
                  <a:schemeClr val="accent2"/>
                </a:solidFill>
                <a:latin typeface="AvantGarde" pitchFamily="34" charset="0"/>
              </a:rPr>
              <a:t>umatoria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uadroTexto 6"/>
              <p:cNvSpPr txBox="1"/>
              <p:nvPr/>
            </p:nvSpPr>
            <p:spPr>
              <a:xfrm>
                <a:off x="682580" y="1081825"/>
                <a:ext cx="10792495" cy="1800493"/>
              </a:xfrm>
              <a:prstGeom prst="rect">
                <a:avLst/>
              </a:prstGeom>
              <a:noFill/>
            </p:spPr>
            <p:txBody>
              <a:bodyPr wrap="square" rtlCol="0">
                <a:spAutoFit/>
              </a:bodyPr>
              <a:lstStyle/>
              <a:p>
                <a:pPr algn="just">
                  <a:spcAft>
                    <a:spcPts val="1800"/>
                  </a:spcAft>
                </a:pPr>
                <a:r>
                  <a:rPr lang="es-ES" sz="2400" dirty="0" smtClean="0"/>
                  <a:t>Supongamos que queremos saber el número de alumnos que hay en el primer curso del grado en ADE que está dividido en 8 grupos. Si denotamos por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𝑛</m:t>
                        </m:r>
                      </m:e>
                      <m:sub>
                        <m:r>
                          <a:rPr lang="es-ES" sz="2400" b="0" i="1" smtClean="0">
                            <a:latin typeface="Cambria Math" panose="02040503050406030204" pitchFamily="18" charset="0"/>
                          </a:rPr>
                          <m:t>𝑖</m:t>
                        </m:r>
                      </m:sub>
                    </m:sSub>
                  </m:oMath>
                </a14:m>
                <a:r>
                  <a:rPr lang="es-ES" sz="2400" dirty="0" smtClean="0"/>
                  <a:t> al número de alumno del grupo </a:t>
                </a:r>
                <a14:m>
                  <m:oMath xmlns:m="http://schemas.openxmlformats.org/officeDocument/2006/math">
                    <m:r>
                      <a:rPr lang="es-ES" sz="2400" i="1">
                        <a:latin typeface="Cambria Math" panose="02040503050406030204" pitchFamily="18" charset="0"/>
                      </a:rPr>
                      <m:t>𝑖</m:t>
                    </m:r>
                  </m:oMath>
                </a14:m>
                <a:r>
                  <a:rPr lang="es-ES" sz="2400" dirty="0" smtClean="0"/>
                  <a:t>, entonces el número total de alumnos de primero será:</a:t>
                </a:r>
              </a:p>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𝑛</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𝑛</m:t>
                          </m:r>
                        </m:e>
                        <m:sub>
                          <m:r>
                            <a:rPr lang="es-ES" sz="2400" b="0" i="1" smtClean="0">
                              <a:latin typeface="Cambria Math" panose="02040503050406030204" pitchFamily="18" charset="0"/>
                            </a:rPr>
                            <m:t>2</m:t>
                          </m:r>
                        </m:sub>
                      </m:sSub>
                      <m:r>
                        <a:rPr lang="es-ES" sz="2400" b="0" i="1" smtClean="0">
                          <a:latin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𝑛</m:t>
                          </m:r>
                        </m:e>
                        <m:sub>
                          <m:r>
                            <a:rPr lang="es-ES" sz="2400" b="0" i="1" smtClean="0">
                              <a:latin typeface="Cambria Math" panose="02040503050406030204" pitchFamily="18" charset="0"/>
                              <a:ea typeface="Cambria Math" panose="02040503050406030204" pitchFamily="18" charset="0"/>
                            </a:rPr>
                            <m:t>8</m:t>
                          </m:r>
                        </m:sub>
                      </m:sSub>
                    </m:oMath>
                  </m:oMathPara>
                </a14:m>
                <a:endParaRPr lang="es-ES" sz="2400" dirty="0" smtClean="0"/>
              </a:p>
            </p:txBody>
          </p:sp>
        </mc:Choice>
        <mc:Fallback xmlns="">
          <p:sp>
            <p:nvSpPr>
              <p:cNvPr id="7" name="CuadroTexto 6"/>
              <p:cNvSpPr txBox="1">
                <a:spLocks noRot="1" noChangeAspect="1" noMove="1" noResize="1" noEditPoints="1" noAdjustHandles="1" noChangeArrowheads="1" noChangeShapeType="1" noTextEdit="1"/>
              </p:cNvSpPr>
              <p:nvPr/>
            </p:nvSpPr>
            <p:spPr>
              <a:xfrm>
                <a:off x="682580" y="1081825"/>
                <a:ext cx="10792495" cy="1800493"/>
              </a:xfrm>
              <a:prstGeom prst="rect">
                <a:avLst/>
              </a:prstGeom>
              <a:blipFill rotWithShape="0">
                <a:blip r:embed="rId5"/>
                <a:stretch>
                  <a:fillRect l="-904" t="-2703" r="-84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p:cNvSpPr txBox="1"/>
              <p:nvPr/>
            </p:nvSpPr>
            <p:spPr>
              <a:xfrm>
                <a:off x="682578" y="3318323"/>
                <a:ext cx="11050076" cy="1908471"/>
              </a:xfrm>
              <a:prstGeom prst="rect">
                <a:avLst/>
              </a:prstGeom>
              <a:noFill/>
            </p:spPr>
            <p:txBody>
              <a:bodyPr wrap="square" rtlCol="0">
                <a:spAutoFit/>
              </a:bodyPr>
              <a:lstStyle/>
              <a:p>
                <a:pPr algn="just"/>
                <a:r>
                  <a:rPr lang="es-ES" sz="2400" dirty="0" smtClean="0"/>
                  <a:t>Para estas sumas tan grandes es conveniente tener una notación abreviada. Para ello se utiliza la letra griega </a:t>
                </a:r>
                <a:r>
                  <a:rPr lang="el-GR" sz="2400" dirty="0" smtClean="0"/>
                  <a:t>Σ</a:t>
                </a:r>
                <a:r>
                  <a:rPr lang="es-ES" sz="2400" dirty="0" smtClean="0"/>
                  <a:t> como símbolo de sumatorio. La suma anterior se escribe como:</a:t>
                </a:r>
              </a:p>
              <a:p>
                <a:pPr/>
                <a14:m>
                  <m:oMathPara xmlns:m="http://schemas.openxmlformats.org/officeDocument/2006/math">
                    <m:oMathParaPr>
                      <m:jc m:val="centerGroup"/>
                    </m:oMathParaPr>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𝑛</m:t>
                          </m:r>
                        </m:e>
                        <m:sub>
                          <m:r>
                            <a:rPr lang="es-ES" sz="2400" i="1">
                              <a:latin typeface="Cambria Math" panose="02040503050406030204" pitchFamily="18" charset="0"/>
                            </a:rPr>
                            <m:t>1</m:t>
                          </m:r>
                        </m:sub>
                      </m:sSub>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𝑛</m:t>
                          </m:r>
                        </m:e>
                        <m:sub>
                          <m:r>
                            <a:rPr lang="es-ES" sz="2400" i="1">
                              <a:latin typeface="Cambria Math" panose="02040503050406030204" pitchFamily="18" charset="0"/>
                            </a:rPr>
                            <m:t>2</m:t>
                          </m:r>
                        </m:sub>
                      </m:sSub>
                      <m:r>
                        <a:rPr lang="es-ES" sz="2400" i="1">
                          <a:latin typeface="Cambria Math" panose="02040503050406030204" pitchFamily="18" charset="0"/>
                        </a:rPr>
                        <m:t>+</m:t>
                      </m:r>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𝑛</m:t>
                          </m:r>
                        </m:e>
                        <m:sub>
                          <m:r>
                            <a:rPr lang="es-ES" sz="2400" i="1">
                              <a:latin typeface="Cambria Math" panose="02040503050406030204" pitchFamily="18" charset="0"/>
                              <a:ea typeface="Cambria Math" panose="02040503050406030204" pitchFamily="18" charset="0"/>
                            </a:rPr>
                            <m:t>8</m:t>
                          </m:r>
                        </m:sub>
                      </m:sSub>
                      <m:r>
                        <a:rPr lang="es-ES" sz="2400" b="0" i="1" smtClean="0">
                          <a:latin typeface="Cambria Math" panose="02040503050406030204" pitchFamily="18" charset="0"/>
                          <a:ea typeface="Cambria Math" panose="02040503050406030204" pitchFamily="18" charset="0"/>
                        </a:rPr>
                        <m:t>=</m:t>
                      </m:r>
                      <m:nary>
                        <m:naryPr>
                          <m:chr m:val="∑"/>
                          <m:ctrlPr>
                            <a:rPr lang="es-ES" sz="2400" i="1" smtClean="0">
                              <a:latin typeface="Cambria Math" panose="02040503050406030204" pitchFamily="18" charset="0"/>
                            </a:rPr>
                          </m:ctrlPr>
                        </m:naryPr>
                        <m:sub>
                          <m:r>
                            <m:rPr>
                              <m:brk m:alnAt="23"/>
                            </m:rPr>
                            <a:rPr lang="es-ES" sz="2400" b="0" i="1" smtClean="0">
                              <a:latin typeface="Cambria Math" panose="02040503050406030204" pitchFamily="18" charset="0"/>
                            </a:rPr>
                            <m:t>𝑖</m:t>
                          </m:r>
                          <m:r>
                            <a:rPr lang="es-ES" sz="2400" b="0" i="1" smtClean="0">
                              <a:latin typeface="Cambria Math" panose="02040503050406030204" pitchFamily="18" charset="0"/>
                            </a:rPr>
                            <m:t>=1</m:t>
                          </m:r>
                        </m:sub>
                        <m:sup>
                          <m:r>
                            <a:rPr lang="es-ES" sz="2400" b="0" i="1" smtClean="0">
                              <a:latin typeface="Cambria Math" panose="02040503050406030204" pitchFamily="18" charset="0"/>
                            </a:rPr>
                            <m:t>8</m:t>
                          </m:r>
                        </m:sup>
                        <m:e>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𝑛</m:t>
                              </m:r>
                            </m:e>
                            <m:sub>
                              <m:r>
                                <a:rPr lang="es-ES" sz="2400" b="0" i="1" smtClean="0">
                                  <a:latin typeface="Cambria Math" panose="02040503050406030204" pitchFamily="18" charset="0"/>
                                </a:rPr>
                                <m:t>𝑖</m:t>
                              </m:r>
                            </m:sub>
                          </m:sSub>
                        </m:e>
                      </m:nary>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82578" y="3318323"/>
                <a:ext cx="11050076" cy="1908471"/>
              </a:xfrm>
              <a:prstGeom prst="rect">
                <a:avLst/>
              </a:prstGeom>
              <a:blipFill rotWithShape="0">
                <a:blip r:embed="rId6"/>
                <a:stretch>
                  <a:fillRect l="-883" t="-2556" r="-827"/>
                </a:stretch>
              </a:blipFill>
            </p:spPr>
            <p:txBody>
              <a:bodyPr/>
              <a:lstStyle/>
              <a:p>
                <a:r>
                  <a:rPr lang="es-ES">
                    <a:noFill/>
                  </a:rPr>
                  <a:t> </a:t>
                </a:r>
              </a:p>
            </p:txBody>
          </p:sp>
        </mc:Fallback>
      </mc:AlternateContent>
      <p:sp>
        <p:nvSpPr>
          <p:cNvPr id="9" name="Botón de acción: Personalizar 8">
            <a:hlinkClick r:id="rId7" action="ppaction://hlinksldjump" highlightClick="1"/>
          </p:cNvPr>
          <p:cNvSpPr/>
          <p:nvPr/>
        </p:nvSpPr>
        <p:spPr>
          <a:xfrm>
            <a:off x="10321181" y="5474776"/>
            <a:ext cx="1585531" cy="492926"/>
          </a:xfrm>
          <a:prstGeom prst="actionButtonBlank">
            <a:avLst/>
          </a:prstGeom>
          <a:solidFill>
            <a:schemeClr val="accent1">
              <a:lumMod val="60000"/>
              <a:lumOff val="40000"/>
            </a:schemeClr>
          </a:solidFill>
          <a:scene3d>
            <a:camera prst="orthographicFront"/>
            <a:lightRig rig="threePt" dir="t"/>
          </a:scene3d>
          <a:sp3d>
            <a:bevelT w="127000"/>
            <a:bevelB w="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hlinkClick r:id="rId7" action="ppaction://hlinksldjump"/>
          </p:cNvPr>
          <p:cNvSpPr txBox="1"/>
          <p:nvPr/>
        </p:nvSpPr>
        <p:spPr>
          <a:xfrm>
            <a:off x="10438131" y="5536573"/>
            <a:ext cx="1468581" cy="369332"/>
          </a:xfrm>
          <a:prstGeom prst="rect">
            <a:avLst/>
          </a:prstGeom>
          <a:noFill/>
        </p:spPr>
        <p:txBody>
          <a:bodyPr wrap="square" rtlCol="0">
            <a:spAutoFit/>
          </a:bodyPr>
          <a:lstStyle/>
          <a:p>
            <a:r>
              <a:rPr lang="es-ES" b="1" dirty="0" smtClean="0">
                <a:solidFill>
                  <a:srgbClr val="ED7D31"/>
                </a:solidFill>
                <a:latin typeface="AvantGarde"/>
              </a:rPr>
              <a:t>EJEMPLOS</a:t>
            </a:r>
            <a:endParaRPr lang="es-ES" b="1" dirty="0">
              <a:solidFill>
                <a:srgbClr val="ED7D31"/>
              </a:solidFill>
              <a:latin typeface="AvantGarde"/>
            </a:endParaRPr>
          </a:p>
        </p:txBody>
      </p:sp>
    </p:spTree>
    <p:extLst>
      <p:ext uri="{BB962C8B-B14F-4D97-AF65-F5344CB8AC3E}">
        <p14:creationId xmlns:p14="http://schemas.microsoft.com/office/powerpoint/2010/main" val="32608722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5194051" cy="646331"/>
          </a:xfrm>
          <a:prstGeom prst="rect">
            <a:avLst/>
          </a:prstGeom>
          <a:noFill/>
        </p:spPr>
        <p:txBody>
          <a:bodyPr wrap="none" rtlCol="0">
            <a:spAutoFit/>
          </a:bodyPr>
          <a:lstStyle/>
          <a:p>
            <a:r>
              <a:rPr lang="es-ES" sz="3600" b="1" dirty="0">
                <a:solidFill>
                  <a:schemeClr val="accent2"/>
                </a:solidFill>
                <a:latin typeface="AvantGarde" pitchFamily="34" charset="0"/>
              </a:rPr>
              <a:t>N</a:t>
            </a:r>
            <a:r>
              <a:rPr lang="es-ES" sz="2800" dirty="0">
                <a:solidFill>
                  <a:schemeClr val="accent2"/>
                </a:solidFill>
                <a:latin typeface="AvantGarde" pitchFamily="34" charset="0"/>
              </a:rPr>
              <a:t>otación</a:t>
            </a:r>
            <a:r>
              <a:rPr lang="es-ES" sz="3200" dirty="0">
                <a:solidFill>
                  <a:schemeClr val="accent2"/>
                </a:solidFill>
                <a:latin typeface="AvantGarde" pitchFamily="34" charset="0"/>
              </a:rPr>
              <a:t> </a:t>
            </a:r>
            <a:r>
              <a:rPr lang="es-ES" sz="3600" b="1" dirty="0" smtClean="0">
                <a:solidFill>
                  <a:schemeClr val="accent2"/>
                </a:solidFill>
                <a:latin typeface="AvantGarde" pitchFamily="34" charset="0"/>
              </a:rPr>
              <a:t>S</a:t>
            </a:r>
            <a:r>
              <a:rPr lang="es-ES" sz="2800" dirty="0" smtClean="0">
                <a:solidFill>
                  <a:schemeClr val="accent2"/>
                </a:solidFill>
                <a:latin typeface="AvantGarde" pitchFamily="34" charset="0"/>
              </a:rPr>
              <a:t>umatoria</a:t>
            </a:r>
            <a:r>
              <a:rPr lang="es-ES" sz="3200" dirty="0" smtClean="0">
                <a:solidFill>
                  <a:schemeClr val="accent2"/>
                </a:solidFill>
                <a:latin typeface="AvantGarde" pitchFamily="34" charset="0"/>
              </a:rPr>
              <a:t>:</a:t>
            </a:r>
            <a:r>
              <a:rPr lang="es-ES" sz="2800" dirty="0" smtClean="0">
                <a:solidFill>
                  <a:schemeClr val="accent2"/>
                </a:solidFill>
                <a:latin typeface="AvantGarde" pitchFamily="34" charset="0"/>
              </a:rPr>
              <a:t> Ejemplos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3" name="Rectángulo 2"/>
              <p:cNvSpPr/>
              <p:nvPr/>
            </p:nvSpPr>
            <p:spPr>
              <a:xfrm>
                <a:off x="1170088" y="1825464"/>
                <a:ext cx="4258025" cy="8699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b="0" i="1" smtClean="0">
                              <a:latin typeface="Cambria Math" panose="02040503050406030204" pitchFamily="18" charset="0"/>
                            </a:rPr>
                            <m:t>3</m:t>
                          </m:r>
                        </m:sup>
                        <m:e>
                          <m:sSup>
                            <m:sSupPr>
                              <m:ctrlPr>
                                <a:rPr lang="es-ES" i="1" smtClean="0">
                                  <a:latin typeface="Cambria Math" panose="02040503050406030204" pitchFamily="18" charset="0"/>
                                </a:rPr>
                              </m:ctrlPr>
                            </m:sSupPr>
                            <m:e>
                              <m:r>
                                <a:rPr lang="es-ES" b="0" i="1" smtClean="0">
                                  <a:latin typeface="Cambria Math" panose="02040503050406030204" pitchFamily="18" charset="0"/>
                                </a:rPr>
                                <m:t>𝑖</m:t>
                              </m:r>
                            </m:e>
                            <m:sup>
                              <m:r>
                                <a:rPr lang="es-ES" b="0" i="1" smtClean="0">
                                  <a:latin typeface="Cambria Math" panose="02040503050406030204" pitchFamily="18" charset="0"/>
                                </a:rPr>
                                <m:t>3</m:t>
                              </m:r>
                            </m:sup>
                          </m:sSup>
                        </m:e>
                      </m:nary>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1</m:t>
                          </m:r>
                        </m:e>
                        <m:sup>
                          <m:r>
                            <a:rPr lang="es-ES" b="0" i="1" smtClean="0">
                              <a:latin typeface="Cambria Math" panose="02040503050406030204" pitchFamily="18" charset="0"/>
                            </a:rPr>
                            <m:t>3</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2</m:t>
                          </m:r>
                        </m:e>
                        <m:sup>
                          <m:r>
                            <a:rPr lang="es-ES" b="0" i="1" smtClean="0">
                              <a:latin typeface="Cambria Math" panose="02040503050406030204" pitchFamily="18" charset="0"/>
                            </a:rPr>
                            <m:t>3</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3</m:t>
                          </m:r>
                        </m:e>
                        <m:sup>
                          <m:r>
                            <a:rPr lang="es-ES" b="0" i="1" smtClean="0">
                              <a:latin typeface="Cambria Math" panose="02040503050406030204" pitchFamily="18" charset="0"/>
                            </a:rPr>
                            <m:t>3</m:t>
                          </m:r>
                        </m:sup>
                      </m:sSup>
                      <m:r>
                        <a:rPr lang="es-ES" b="0" i="1" smtClean="0">
                          <a:latin typeface="Cambria Math" panose="02040503050406030204" pitchFamily="18" charset="0"/>
                        </a:rPr>
                        <m:t>=1+8+27=36</m:t>
                      </m:r>
                    </m:oMath>
                  </m:oMathPara>
                </a14:m>
                <a:endParaRPr lang="es-ES" dirty="0"/>
              </a:p>
            </p:txBody>
          </p:sp>
        </mc:Choice>
        <mc:Fallback xmlns="">
          <p:sp>
            <p:nvSpPr>
              <p:cNvPr id="3" name="Rectángulo 2"/>
              <p:cNvSpPr>
                <a:spLocks noRot="1" noChangeAspect="1" noMove="1" noResize="1" noEditPoints="1" noAdjustHandles="1" noChangeArrowheads="1" noChangeShapeType="1" noTextEdit="1"/>
              </p:cNvSpPr>
              <p:nvPr/>
            </p:nvSpPr>
            <p:spPr>
              <a:xfrm>
                <a:off x="1170088" y="1825464"/>
                <a:ext cx="4258025" cy="869982"/>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1008584" y="3110275"/>
                <a:ext cx="8943026" cy="11794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a:rPr lang="es-ES" b="0" i="1" smtClean="0">
                              <a:latin typeface="Cambria Math" panose="02040503050406030204" pitchFamily="18" charset="0"/>
                            </a:rPr>
                            <m:t>𝑗</m:t>
                          </m:r>
                          <m:r>
                            <a:rPr lang="es-ES" i="1">
                              <a:latin typeface="Cambria Math" panose="02040503050406030204" pitchFamily="18" charset="0"/>
                            </a:rPr>
                            <m:t>=1</m:t>
                          </m:r>
                        </m:sub>
                        <m:sup>
                          <m:r>
                            <a:rPr lang="es-ES" b="0" i="1" smtClean="0">
                              <a:latin typeface="Cambria Math" panose="02040503050406030204" pitchFamily="18" charset="0"/>
                            </a:rPr>
                            <m:t>3</m:t>
                          </m:r>
                        </m:sup>
                        <m:e>
                          <m:r>
                            <a:rPr lang="es-ES" b="0" i="1" smtClean="0">
                              <a:latin typeface="Cambria Math" panose="02040503050406030204" pitchFamily="18" charset="0"/>
                            </a:rPr>
                            <m:t>(2</m:t>
                          </m:r>
                          <m:r>
                            <a:rPr lang="es-ES" b="0" i="1" smtClean="0">
                              <a:latin typeface="Cambria Math" panose="02040503050406030204" pitchFamily="18" charset="0"/>
                            </a:rPr>
                            <m:t>𝑗</m:t>
                          </m:r>
                          <m:r>
                            <a:rPr lang="es-ES" b="0" i="1" smtClean="0">
                              <a:latin typeface="Cambria Math" panose="02040503050406030204" pitchFamily="18" charset="0"/>
                            </a:rPr>
                            <m:t>−4)</m:t>
                          </m:r>
                        </m:e>
                      </m:nary>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i="1">
                              <a:latin typeface="Cambria Math" panose="02040503050406030204" pitchFamily="18" charset="0"/>
                            </a:rPr>
                            <m:t>2</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i="1">
                              <a:latin typeface="Cambria Math" panose="02040503050406030204" pitchFamily="18" charset="0"/>
                            </a:rPr>
                            <m:t>−4</m:t>
                          </m:r>
                        </m:e>
                      </m:d>
                      <m:r>
                        <a:rPr lang="es-ES" i="1">
                          <a:latin typeface="Cambria Math" panose="02040503050406030204" pitchFamily="18" charset="0"/>
                        </a:rPr>
                        <m:t>+</m:t>
                      </m:r>
                      <m:d>
                        <m:dPr>
                          <m:ctrlPr>
                            <a:rPr lang="es-ES" b="0" i="1" smtClean="0">
                              <a:latin typeface="Cambria Math" panose="02040503050406030204" pitchFamily="18" charset="0"/>
                            </a:rPr>
                          </m:ctrlPr>
                        </m:dPr>
                        <m:e>
                          <m:r>
                            <a:rPr lang="es-ES" i="1">
                              <a:latin typeface="Cambria Math" panose="02040503050406030204" pitchFamily="18" charset="0"/>
                            </a:rPr>
                            <m:t>2</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m:t>
                          </m:r>
                          <m:r>
                            <a:rPr lang="es-ES" i="1">
                              <a:latin typeface="Cambria Math" panose="02040503050406030204" pitchFamily="18" charset="0"/>
                            </a:rPr>
                            <m:t>−4</m:t>
                          </m:r>
                        </m:e>
                      </m:d>
                      <m:r>
                        <a:rPr lang="es-ES" i="1">
                          <a:latin typeface="Cambria Math" panose="02040503050406030204" pitchFamily="18" charset="0"/>
                        </a:rPr>
                        <m:t>+</m:t>
                      </m:r>
                      <m:d>
                        <m:dPr>
                          <m:ctrlPr>
                            <a:rPr lang="es-ES" b="0" i="1" smtClean="0">
                              <a:latin typeface="Cambria Math" panose="02040503050406030204" pitchFamily="18" charset="0"/>
                            </a:rPr>
                          </m:ctrlPr>
                        </m:dPr>
                        <m:e>
                          <m:r>
                            <a:rPr lang="es-ES" i="1">
                              <a:latin typeface="Cambria Math" panose="02040503050406030204" pitchFamily="18" charset="0"/>
                            </a:rPr>
                            <m:t>2</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r>
                            <a:rPr lang="es-ES" i="1">
                              <a:latin typeface="Cambria Math" panose="02040503050406030204" pitchFamily="18" charset="0"/>
                            </a:rPr>
                            <m:t>−4</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i="1">
                              <a:latin typeface="Cambria Math" panose="02040503050406030204" pitchFamily="18" charset="0"/>
                            </a:rPr>
                            <m:t>2</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m:t>
                          </m:r>
                          <m:r>
                            <a:rPr lang="es-ES" i="1">
                              <a:latin typeface="Cambria Math" panose="02040503050406030204" pitchFamily="18" charset="0"/>
                            </a:rPr>
                            <m:t>−4</m:t>
                          </m:r>
                        </m:e>
                      </m:d>
                      <m:r>
                        <a:rPr lang="es-ES" b="0" i="1" smtClean="0">
                          <a:latin typeface="Cambria Math" panose="02040503050406030204" pitchFamily="18" charset="0"/>
                        </a:rPr>
                        <m:t>=−2+0+2+4=4</m:t>
                      </m:r>
                    </m:oMath>
                  </m:oMathPara>
                </a14:m>
                <a:endParaRPr lang="es-ES" dirty="0"/>
              </a:p>
              <a:p>
                <a:endParaRPr lang="es-ES" dirty="0"/>
              </a:p>
            </p:txBody>
          </p:sp>
        </mc:Choice>
        <mc:Fallback xmlns="">
          <p:sp>
            <p:nvSpPr>
              <p:cNvPr id="15" name="Rectángulo 14"/>
              <p:cNvSpPr>
                <a:spLocks noRot="1" noChangeAspect="1" noMove="1" noResize="1" noEditPoints="1" noAdjustHandles="1" noChangeArrowheads="1" noChangeShapeType="1" noTextEdit="1"/>
              </p:cNvSpPr>
              <p:nvPr/>
            </p:nvSpPr>
            <p:spPr>
              <a:xfrm>
                <a:off x="1008584" y="3110275"/>
                <a:ext cx="8943026" cy="1179425"/>
              </a:xfrm>
              <a:prstGeom prst="rect">
                <a:avLst/>
              </a:prstGeom>
              <a:blipFill>
                <a:blip r:embed="rId6"/>
                <a:stretch>
                  <a:fillRect/>
                </a:stretch>
              </a:blipFill>
            </p:spPr>
            <p:txBody>
              <a:bodyPr/>
              <a:lstStyle/>
              <a:p>
                <a:r>
                  <a:rPr lang="es-ES">
                    <a:noFill/>
                  </a:rPr>
                  <a:t> </a:t>
                </a:r>
              </a:p>
            </p:txBody>
          </p:sp>
        </mc:Fallback>
      </mc:AlternateContent>
      <p:sp>
        <p:nvSpPr>
          <p:cNvPr id="11" name="Rectángulo 10"/>
          <p:cNvSpPr/>
          <p:nvPr/>
        </p:nvSpPr>
        <p:spPr>
          <a:xfrm>
            <a:off x="1036401" y="1028787"/>
            <a:ext cx="5547281" cy="461665"/>
          </a:xfrm>
          <a:prstGeom prst="rect">
            <a:avLst/>
          </a:prstGeom>
        </p:spPr>
        <p:txBody>
          <a:bodyPr wrap="square">
            <a:spAutoFit/>
          </a:bodyPr>
          <a:lstStyle/>
          <a:p>
            <a:pPr marL="342900" indent="-342900">
              <a:buClr>
                <a:srgbClr val="0070C0"/>
              </a:buClr>
              <a:buFont typeface="Wingdings" panose="05000000000000000000" pitchFamily="2" charset="2"/>
              <a:buChar char="q"/>
            </a:pPr>
            <a:r>
              <a:rPr lang="es-ES" sz="2400" dirty="0" smtClean="0"/>
              <a:t>Desarrollar los siguientes sumatorios:</a:t>
            </a:r>
          </a:p>
        </p:txBody>
      </p:sp>
      <mc:AlternateContent xmlns:mc="http://schemas.openxmlformats.org/markup-compatibility/2006" xmlns:a14="http://schemas.microsoft.com/office/drawing/2010/main">
        <mc:Choice Requires="a14">
          <p:sp>
            <p:nvSpPr>
              <p:cNvPr id="12" name="Rectángulo 11"/>
              <p:cNvSpPr/>
              <p:nvPr/>
            </p:nvSpPr>
            <p:spPr>
              <a:xfrm>
                <a:off x="1139604" y="4305434"/>
                <a:ext cx="6061981" cy="87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m:t>
                          </m:r>
                          <m:r>
                            <a:rPr lang="es-ES" b="0" i="1" smtClean="0">
                              <a:latin typeface="Cambria Math" panose="02040503050406030204" pitchFamily="18" charset="0"/>
                            </a:rPr>
                            <m:t>2</m:t>
                          </m:r>
                        </m:sub>
                        <m:sup>
                          <m:r>
                            <a:rPr lang="es-ES" b="0" i="1" smtClean="0">
                              <a:latin typeface="Cambria Math" panose="02040503050406030204" pitchFamily="18" charset="0"/>
                            </a:rPr>
                            <m:t>5</m:t>
                          </m:r>
                        </m:sup>
                        <m:e>
                          <m:f>
                            <m:fPr>
                              <m:ctrlPr>
                                <a:rPr lang="es-ES" b="0" i="1" smtClean="0">
                                  <a:latin typeface="Cambria Math" panose="02040503050406030204" pitchFamily="18" charset="0"/>
                                </a:rPr>
                              </m:ctrlPr>
                            </m:fPr>
                            <m:num>
                              <m:r>
                                <a:rPr lang="es-ES" b="0" i="1" smtClean="0">
                                  <a:latin typeface="Cambria Math" panose="02040503050406030204" pitchFamily="18" charset="0"/>
                                </a:rPr>
                                <m:t>𝑖</m:t>
                              </m:r>
                            </m:num>
                            <m:den>
                              <m:r>
                                <a:rPr lang="es-ES" b="0" i="1" smtClean="0">
                                  <a:latin typeface="Cambria Math" panose="02040503050406030204" pitchFamily="18" charset="0"/>
                                </a:rPr>
                                <m:t>𝑖</m:t>
                              </m:r>
                              <m:r>
                                <a:rPr lang="es-ES" b="0" i="1" smtClean="0">
                                  <a:latin typeface="Cambria Math" panose="02040503050406030204" pitchFamily="18" charset="0"/>
                                </a:rPr>
                                <m:t>+1</m:t>
                              </m:r>
                            </m:den>
                          </m:f>
                        </m:e>
                      </m:nary>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2</m:t>
                          </m:r>
                        </m:num>
                        <m:den>
                          <m:r>
                            <a:rPr lang="es-ES" b="0" i="1" smtClean="0">
                              <a:latin typeface="Cambria Math" panose="02040503050406030204" pitchFamily="18" charset="0"/>
                            </a:rPr>
                            <m:t>3</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3</m:t>
                          </m:r>
                        </m:num>
                        <m:den>
                          <m:r>
                            <a:rPr lang="es-ES" b="0" i="1" smtClean="0">
                              <a:latin typeface="Cambria Math" panose="02040503050406030204" pitchFamily="18" charset="0"/>
                            </a:rPr>
                            <m:t>4</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m:t>
                          </m:r>
                        </m:num>
                        <m:den>
                          <m:r>
                            <a:rPr lang="es-ES" b="0" i="1" smtClean="0">
                              <a:latin typeface="Cambria Math" panose="02040503050406030204" pitchFamily="18" charset="0"/>
                            </a:rPr>
                            <m:t>5</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m:t>
                          </m:r>
                        </m:num>
                        <m:den>
                          <m:r>
                            <a:rPr lang="es-ES" b="0" i="1" smtClean="0">
                              <a:latin typeface="Cambria Math" panose="02040503050406030204" pitchFamily="18" charset="0"/>
                            </a:rPr>
                            <m:t>6</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40+45+48+50</m:t>
                          </m:r>
                        </m:num>
                        <m:den>
                          <m:r>
                            <a:rPr lang="es-ES" b="0" i="1" smtClean="0">
                              <a:latin typeface="Cambria Math" panose="02040503050406030204" pitchFamily="18" charset="0"/>
                            </a:rPr>
                            <m:t>60</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183</m:t>
                          </m:r>
                        </m:num>
                        <m:den>
                          <m:r>
                            <a:rPr lang="es-ES" b="0" i="1" smtClean="0">
                              <a:latin typeface="Cambria Math" panose="02040503050406030204" pitchFamily="18" charset="0"/>
                            </a:rPr>
                            <m:t>60</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61</m:t>
                          </m:r>
                        </m:num>
                        <m:den>
                          <m:r>
                            <a:rPr lang="es-ES" b="0" i="1" smtClean="0">
                              <a:latin typeface="Cambria Math" panose="02040503050406030204" pitchFamily="18" charset="0"/>
                            </a:rPr>
                            <m:t>30</m:t>
                          </m:r>
                        </m:den>
                      </m:f>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1139604" y="4305434"/>
                <a:ext cx="6061981" cy="875048"/>
              </a:xfrm>
              <a:prstGeom prst="rect">
                <a:avLst/>
              </a:prstGeom>
              <a:blipFill>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5073928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5194051" cy="646331"/>
          </a:xfrm>
          <a:prstGeom prst="rect">
            <a:avLst/>
          </a:prstGeom>
          <a:noFill/>
        </p:spPr>
        <p:txBody>
          <a:bodyPr wrap="none" rtlCol="0">
            <a:spAutoFit/>
          </a:bodyPr>
          <a:lstStyle/>
          <a:p>
            <a:r>
              <a:rPr lang="es-ES" sz="3600" b="1" dirty="0">
                <a:solidFill>
                  <a:schemeClr val="accent2"/>
                </a:solidFill>
                <a:latin typeface="AvantGarde" pitchFamily="34" charset="0"/>
              </a:rPr>
              <a:t>N</a:t>
            </a:r>
            <a:r>
              <a:rPr lang="es-ES" sz="2800" dirty="0">
                <a:solidFill>
                  <a:schemeClr val="accent2"/>
                </a:solidFill>
                <a:latin typeface="AvantGarde" pitchFamily="34" charset="0"/>
              </a:rPr>
              <a:t>otación</a:t>
            </a:r>
            <a:r>
              <a:rPr lang="es-ES" sz="3200" dirty="0">
                <a:solidFill>
                  <a:schemeClr val="accent2"/>
                </a:solidFill>
                <a:latin typeface="AvantGarde" pitchFamily="34" charset="0"/>
              </a:rPr>
              <a:t> </a:t>
            </a:r>
            <a:r>
              <a:rPr lang="es-ES" sz="3600" b="1" dirty="0" smtClean="0">
                <a:solidFill>
                  <a:schemeClr val="accent2"/>
                </a:solidFill>
                <a:latin typeface="AvantGarde" pitchFamily="34" charset="0"/>
              </a:rPr>
              <a:t>S</a:t>
            </a:r>
            <a:r>
              <a:rPr lang="es-ES" sz="2800" dirty="0" smtClean="0">
                <a:solidFill>
                  <a:schemeClr val="accent2"/>
                </a:solidFill>
                <a:latin typeface="AvantGarde" pitchFamily="34" charset="0"/>
              </a:rPr>
              <a:t>umatoria</a:t>
            </a:r>
            <a:r>
              <a:rPr lang="es-ES" sz="3200" dirty="0" smtClean="0">
                <a:solidFill>
                  <a:schemeClr val="accent2"/>
                </a:solidFill>
                <a:latin typeface="AvantGarde" pitchFamily="34" charset="0"/>
              </a:rPr>
              <a:t>:</a:t>
            </a:r>
            <a:r>
              <a:rPr lang="es-ES" sz="2800" dirty="0" smtClean="0">
                <a:solidFill>
                  <a:schemeClr val="accent2"/>
                </a:solidFill>
                <a:latin typeface="AvantGarde" pitchFamily="34" charset="0"/>
              </a:rPr>
              <a:t> Ejemplos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16" name="Rectángulo 15"/>
              <p:cNvSpPr/>
              <p:nvPr/>
            </p:nvSpPr>
            <p:spPr>
              <a:xfrm>
                <a:off x="1119910" y="1522598"/>
                <a:ext cx="4962064" cy="871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a:rPr lang="es-ES" b="0" i="1" smtClean="0">
                              <a:latin typeface="Cambria Math" panose="02040503050406030204" pitchFamily="18" charset="0"/>
                            </a:rPr>
                            <m:t>𝑘</m:t>
                          </m:r>
                          <m:r>
                            <a:rPr lang="es-ES" i="1">
                              <a:latin typeface="Cambria Math" panose="02040503050406030204" pitchFamily="18" charset="0"/>
                            </a:rPr>
                            <m:t>=1</m:t>
                          </m:r>
                        </m:sub>
                        <m:sup>
                          <m:r>
                            <a:rPr lang="es-ES" b="0" i="1" smtClean="0">
                              <a:latin typeface="Cambria Math" panose="02040503050406030204" pitchFamily="18" charset="0"/>
                            </a:rPr>
                            <m:t>2</m:t>
                          </m:r>
                        </m:sup>
                        <m:e>
                          <m:f>
                            <m:fPr>
                              <m:ctrlPr>
                                <a:rPr lang="es-ES"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𝑘</m:t>
                              </m:r>
                              <m:r>
                                <a:rPr lang="es-ES" b="0" i="1" smtClean="0">
                                  <a:latin typeface="Cambria Math" panose="02040503050406030204" pitchFamily="18" charset="0"/>
                                </a:rPr>
                                <m:t>+2</m:t>
                              </m:r>
                            </m:den>
                          </m:f>
                        </m:e>
                      </m:nary>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1+2</m:t>
                          </m:r>
                        </m:den>
                      </m:f>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2+</m:t>
                          </m:r>
                          <m:r>
                            <a:rPr lang="es-ES" i="1">
                              <a:latin typeface="Cambria Math" panose="02040503050406030204" pitchFamily="18" charset="0"/>
                            </a:rPr>
                            <m:t>2</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3</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4</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4+3</m:t>
                          </m:r>
                        </m:num>
                        <m:den>
                          <m:r>
                            <a:rPr lang="es-ES" b="0" i="1" smtClean="0">
                              <a:latin typeface="Cambria Math" panose="02040503050406030204" pitchFamily="18" charset="0"/>
                            </a:rPr>
                            <m:t>12</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7</m:t>
                          </m:r>
                        </m:num>
                        <m:den>
                          <m:r>
                            <a:rPr lang="es-ES" b="0" i="1" smtClean="0">
                              <a:latin typeface="Cambria Math" panose="02040503050406030204" pitchFamily="18" charset="0"/>
                            </a:rPr>
                            <m:t>12</m:t>
                          </m:r>
                        </m:den>
                      </m:f>
                    </m:oMath>
                  </m:oMathPara>
                </a14:m>
                <a:endParaRPr lang="es-ES" dirty="0"/>
              </a:p>
            </p:txBody>
          </p:sp>
        </mc:Choice>
        <mc:Fallback xmlns="">
          <p:sp>
            <p:nvSpPr>
              <p:cNvPr id="16" name="Rectángulo 15"/>
              <p:cNvSpPr>
                <a:spLocks noRot="1" noChangeAspect="1" noMove="1" noResize="1" noEditPoints="1" noAdjustHandles="1" noChangeArrowheads="1" noChangeShapeType="1" noTextEdit="1"/>
              </p:cNvSpPr>
              <p:nvPr/>
            </p:nvSpPr>
            <p:spPr>
              <a:xfrm>
                <a:off x="1119910" y="1522598"/>
                <a:ext cx="4962064" cy="871072"/>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916868" y="2937931"/>
                <a:ext cx="8196026" cy="8485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a:rPr lang="es-ES" b="0" i="1" smtClean="0">
                              <a:latin typeface="Cambria Math" panose="02040503050406030204" pitchFamily="18" charset="0"/>
                            </a:rPr>
                            <m:t>𝑡</m:t>
                          </m:r>
                          <m:r>
                            <a:rPr lang="es-ES" i="1">
                              <a:latin typeface="Cambria Math" panose="02040503050406030204" pitchFamily="18" charset="0"/>
                            </a:rPr>
                            <m:t>=1</m:t>
                          </m:r>
                        </m:sub>
                        <m:sup>
                          <m:r>
                            <a:rPr lang="es-ES" b="0" i="1" smtClean="0">
                              <a:latin typeface="Cambria Math" panose="02040503050406030204" pitchFamily="18" charset="0"/>
                            </a:rPr>
                            <m:t>𝑛</m:t>
                          </m:r>
                        </m:sup>
                        <m:e>
                          <m:sSup>
                            <m:sSupPr>
                              <m:ctrlPr>
                                <a:rPr lang="es-ES" i="1" smtClean="0">
                                  <a:latin typeface="Cambria Math" panose="02040503050406030204" pitchFamily="18" charset="0"/>
                                </a:rPr>
                              </m:ctrlPr>
                            </m:sSupPr>
                            <m:e>
                              <m:r>
                                <a:rPr lang="es-ES" b="0" i="1" smtClean="0">
                                  <a:latin typeface="Cambria Math" panose="02040503050406030204" pitchFamily="18" charset="0"/>
                                </a:rPr>
                                <m:t>𝑝</m:t>
                              </m:r>
                            </m:e>
                            <m:sup>
                              <m:r>
                                <a:rPr lang="es-ES" b="0" i="1" smtClean="0">
                                  <a:latin typeface="Cambria Math" panose="02040503050406030204" pitchFamily="18" charset="0"/>
                                </a:rPr>
                                <m:t>𝑡</m:t>
                              </m:r>
                            </m:sup>
                          </m:sSup>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e>
                      </m:nary>
                      <m:r>
                        <a:rPr lang="es-ES" b="0" i="1" smtClean="0">
                          <a:latin typeface="Cambria Math" panose="02040503050406030204" pitchFamily="18" charset="0"/>
                        </a:rPr>
                        <m:t>=</m:t>
                      </m:r>
                      <m:r>
                        <a:rPr lang="es-ES" b="0" i="1" smtClean="0">
                          <a:latin typeface="Cambria Math" panose="02040503050406030204" pitchFamily="18" charset="0"/>
                        </a:rPr>
                        <m:t>𝑝𝑞</m:t>
                      </m:r>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𝑝</m:t>
                          </m:r>
                        </m:e>
                        <m:sup>
                          <m:r>
                            <a:rPr lang="es-ES" b="0" i="1" smtClean="0">
                              <a:latin typeface="Cambria Math" panose="02040503050406030204" pitchFamily="18" charset="0"/>
                            </a:rPr>
                            <m:t>2</m:t>
                          </m:r>
                        </m:sup>
                      </m:sSup>
                      <m:r>
                        <a:rPr lang="es-ES" b="0" i="1" smtClean="0">
                          <a:latin typeface="Cambria Math" panose="02040503050406030204" pitchFamily="18" charset="0"/>
                        </a:rPr>
                        <m:t>𝑞</m:t>
                      </m:r>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𝑝</m:t>
                          </m:r>
                        </m:e>
                        <m:sup>
                          <m:r>
                            <a:rPr lang="es-ES" b="0" i="1" smtClean="0">
                              <a:latin typeface="Cambria Math" panose="02040503050406030204" pitchFamily="18" charset="0"/>
                            </a:rPr>
                            <m:t>3</m:t>
                          </m:r>
                        </m:sup>
                      </m:sSup>
                      <m:r>
                        <a:rPr lang="es-ES" b="0" i="1" smtClean="0">
                          <a:latin typeface="Cambria Math" panose="02040503050406030204" pitchFamily="18" charset="0"/>
                        </a:rPr>
                        <m:t>𝑞</m:t>
                      </m:r>
                      <m:r>
                        <a:rPr lang="es-ES" b="0" i="1" smtClean="0">
                          <a:latin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𝑝</m:t>
                          </m:r>
                        </m:e>
                        <m:sup>
                          <m:r>
                            <a:rPr lang="es-ES" b="0" i="1" smtClean="0">
                              <a:latin typeface="Cambria Math" panose="02040503050406030204" pitchFamily="18" charset="0"/>
                              <a:ea typeface="Cambria Math" panose="02040503050406030204" pitchFamily="18" charset="0"/>
                            </a:rPr>
                            <m:t>𝑛</m:t>
                          </m:r>
                        </m:sup>
                      </m:sSup>
                      <m:r>
                        <a:rPr lang="es-ES" b="0" i="1" smtClean="0">
                          <a:latin typeface="Cambria Math" panose="02040503050406030204" pitchFamily="18" charset="0"/>
                          <a:ea typeface="Cambria Math" panose="02040503050406030204" pitchFamily="18" charset="0"/>
                        </a:rPr>
                        <m:t>𝑞</m:t>
                      </m:r>
                      <m:r>
                        <a:rPr lang="es-ES" b="0" i="0" smtClean="0">
                          <a:latin typeface="Cambria Math" panose="02040503050406030204" pitchFamily="18" charset="0"/>
                          <a:ea typeface="Cambria Math" panose="02040503050406030204" pitchFamily="18" charset="0"/>
                        </a:rPr>
                        <m:t>=</m:t>
                      </m:r>
                      <m:r>
                        <m:rPr>
                          <m:sty m:val="p"/>
                        </m:rPr>
                        <a:rPr lang="es-ES" b="0" i="0" smtClean="0">
                          <a:latin typeface="Cambria Math" panose="02040503050406030204" pitchFamily="18" charset="0"/>
                          <a:ea typeface="Cambria Math" panose="02040503050406030204" pitchFamily="18" charset="0"/>
                        </a:rPr>
                        <m:t>q</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𝑝</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𝑝</m:t>
                              </m:r>
                            </m:e>
                            <m:sup>
                              <m:r>
                                <a:rPr lang="es-ES" b="0" i="1" smtClean="0">
                                  <a:latin typeface="Cambria Math" panose="02040503050406030204" pitchFamily="18" charset="0"/>
                                  <a:ea typeface="Cambria Math" panose="02040503050406030204" pitchFamily="18" charset="0"/>
                                </a:rPr>
                                <m:t>3</m:t>
                              </m:r>
                            </m:sup>
                          </m:sSup>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𝑝</m:t>
                              </m:r>
                            </m:e>
                            <m:sup>
                              <m:r>
                                <a:rPr lang="es-ES" b="0" i="1" smtClean="0">
                                  <a:latin typeface="Cambria Math" panose="02040503050406030204" pitchFamily="18" charset="0"/>
                                  <a:ea typeface="Cambria Math" panose="02040503050406030204" pitchFamily="18" charset="0"/>
                                </a:rPr>
                                <m:t>𝑛</m:t>
                              </m:r>
                            </m:sup>
                          </m:sSup>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nary>
                        <m:naryPr>
                          <m:chr m:val="∑"/>
                          <m:ctrlPr>
                            <a:rPr lang="es-ES" i="1">
                              <a:latin typeface="Cambria Math" panose="02040503050406030204" pitchFamily="18" charset="0"/>
                            </a:rPr>
                          </m:ctrlPr>
                        </m:naryPr>
                        <m:sub>
                          <m:r>
                            <a:rPr lang="es-ES" i="1">
                              <a:latin typeface="Cambria Math" panose="02040503050406030204" pitchFamily="18" charset="0"/>
                            </a:rPr>
                            <m:t>𝑡</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r>
                                <a:rPr lang="es-ES" i="1">
                                  <a:latin typeface="Cambria Math" panose="02040503050406030204" pitchFamily="18" charset="0"/>
                                </a:rPr>
                                <m:t>𝑝</m:t>
                              </m:r>
                            </m:e>
                            <m:sup>
                              <m:r>
                                <a:rPr lang="es-ES" i="1">
                                  <a:latin typeface="Cambria Math" panose="02040503050406030204" pitchFamily="18" charset="0"/>
                                </a:rPr>
                                <m:t>𝑡</m:t>
                              </m:r>
                            </m:sup>
                          </m:sSup>
                        </m:e>
                      </m:nary>
                    </m:oMath>
                  </m:oMathPara>
                </a14:m>
                <a:endParaRPr lang="es-ES" dirty="0"/>
              </a:p>
            </p:txBody>
          </p:sp>
        </mc:Choice>
        <mc:Fallback xmlns="">
          <p:sp>
            <p:nvSpPr>
              <p:cNvPr id="17" name="Rectángulo 16"/>
              <p:cNvSpPr>
                <a:spLocks noRot="1" noChangeAspect="1" noMove="1" noResize="1" noEditPoints="1" noAdjustHandles="1" noChangeArrowheads="1" noChangeShapeType="1" noTextEdit="1"/>
              </p:cNvSpPr>
              <p:nvPr/>
            </p:nvSpPr>
            <p:spPr>
              <a:xfrm>
                <a:off x="916868" y="2937931"/>
                <a:ext cx="8196026" cy="84850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1106052" y="4276880"/>
                <a:ext cx="3625415" cy="8808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a:rPr lang="es-ES" b="0" i="1" smtClean="0">
                              <a:latin typeface="Cambria Math" panose="02040503050406030204" pitchFamily="18" charset="0"/>
                            </a:rPr>
                            <m:t>𝑖</m:t>
                          </m:r>
                          <m:r>
                            <a:rPr lang="es-ES" i="1">
                              <a:latin typeface="Cambria Math" panose="02040503050406030204" pitchFamily="18" charset="0"/>
                            </a:rPr>
                            <m:t>=1</m:t>
                          </m:r>
                        </m:sub>
                        <m:sup>
                          <m:r>
                            <a:rPr lang="es-ES" b="0" i="1" smtClean="0">
                              <a:latin typeface="Cambria Math" panose="02040503050406030204" pitchFamily="18" charset="0"/>
                            </a:rPr>
                            <m:t>4</m:t>
                          </m:r>
                        </m:sup>
                        <m:e>
                          <m:sSup>
                            <m:sSupPr>
                              <m:ctrlPr>
                                <a:rPr lang="es-ES" b="0" i="1" smtClean="0">
                                  <a:latin typeface="Cambria Math" panose="02040503050406030204" pitchFamily="18" charset="0"/>
                                </a:rPr>
                              </m:ctrlPr>
                            </m:sSupPr>
                            <m:e>
                              <m:r>
                                <a:rPr lang="es-ES" b="0" i="1" smtClean="0">
                                  <a:latin typeface="Cambria Math" panose="02040503050406030204" pitchFamily="18" charset="0"/>
                                </a:rPr>
                                <m:t>𝐾</m:t>
                              </m:r>
                            </m:e>
                            <m:sup>
                              <m:f>
                                <m:fPr>
                                  <m:type m:val="skw"/>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𝑖</m:t>
                                  </m:r>
                                </m:den>
                              </m:f>
                            </m:sup>
                          </m:sSup>
                        </m:e>
                      </m:nary>
                      <m:r>
                        <a:rPr lang="es-ES" b="0" i="1" smtClean="0">
                          <a:latin typeface="Cambria Math" panose="02040503050406030204" pitchFamily="18" charset="0"/>
                        </a:rPr>
                        <m:t>=</m:t>
                      </m:r>
                      <m:r>
                        <a:rPr lang="es-ES" b="0" i="1" smtClean="0">
                          <a:latin typeface="Cambria Math" panose="02040503050406030204" pitchFamily="18" charset="0"/>
                        </a:rPr>
                        <m:t>𝐾</m:t>
                      </m:r>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𝐾</m:t>
                          </m:r>
                        </m:e>
                        <m:sup>
                          <m:f>
                            <m:fPr>
                              <m:type m:val="skw"/>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den>
                          </m:f>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𝐾</m:t>
                          </m:r>
                        </m:e>
                        <m:sup>
                          <m:f>
                            <m:fPr>
                              <m:type m:val="skw"/>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3</m:t>
                              </m:r>
                            </m:den>
                          </m:f>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𝐾</m:t>
                          </m:r>
                        </m:e>
                        <m:sup>
                          <m:f>
                            <m:fPr>
                              <m:type m:val="skw"/>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4</m:t>
                              </m:r>
                            </m:den>
                          </m:f>
                        </m:sup>
                      </m:sSup>
                    </m:oMath>
                  </m:oMathPara>
                </a14:m>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1106052" y="4276880"/>
                <a:ext cx="3625415" cy="88088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1083879" y="5460058"/>
                <a:ext cx="5051255" cy="871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i="1" smtClean="0">
                              <a:latin typeface="Cambria Math" panose="02040503050406030204" pitchFamily="18" charset="0"/>
                            </a:rPr>
                          </m:ctrlPr>
                        </m:naryPr>
                        <m:sub>
                          <m:r>
                            <a:rPr lang="es-ES" b="0" i="1" smtClean="0">
                              <a:latin typeface="Cambria Math" panose="02040503050406030204" pitchFamily="18" charset="0"/>
                            </a:rPr>
                            <m:t>𝑖</m:t>
                          </m:r>
                          <m:r>
                            <a:rPr lang="es-ES" i="1">
                              <a:latin typeface="Cambria Math" panose="02040503050406030204" pitchFamily="18" charset="0"/>
                            </a:rPr>
                            <m:t>=1</m:t>
                          </m:r>
                        </m:sub>
                        <m:sup>
                          <m:r>
                            <a:rPr lang="es-ES" b="0" i="1" smtClean="0">
                              <a:latin typeface="Cambria Math" panose="02040503050406030204" pitchFamily="18" charset="0"/>
                            </a:rPr>
                            <m:t>3</m:t>
                          </m:r>
                        </m:sup>
                        <m:e>
                          <m:sSup>
                            <m:sSupPr>
                              <m:ctrlPr>
                                <a:rPr lang="es-ES" b="0" i="1" smtClean="0">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−5</m:t>
                                  </m:r>
                                </m:e>
                              </m:d>
                            </m:e>
                            <m:sup>
                              <m:r>
                                <a:rPr lang="es-ES" b="0" i="1" smtClean="0">
                                  <a:latin typeface="Cambria Math" panose="02040503050406030204" pitchFamily="18" charset="0"/>
                                </a:rPr>
                                <m:t>2</m:t>
                              </m:r>
                            </m:sup>
                          </m:sSup>
                        </m:e>
                      </m:nary>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1</m:t>
                                  </m:r>
                                </m:sub>
                              </m:sSub>
                              <m:r>
                                <a:rPr lang="es-ES" i="1">
                                  <a:latin typeface="Cambria Math" panose="02040503050406030204" pitchFamily="18" charset="0"/>
                                </a:rPr>
                                <m:t>−5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2</m:t>
                                  </m:r>
                                </m:sub>
                              </m:sSub>
                              <m:r>
                                <a:rPr lang="es-ES" i="1">
                                  <a:latin typeface="Cambria Math" panose="02040503050406030204" pitchFamily="18" charset="0"/>
                                </a:rPr>
                                <m:t>−5</m:t>
                              </m:r>
                            </m:e>
                          </m:d>
                        </m:e>
                        <m:sup>
                          <m:r>
                            <a:rPr lang="es-ES" i="1">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3</m:t>
                                  </m:r>
                                </m:sub>
                              </m:sSub>
                              <m:r>
                                <a:rPr lang="es-ES" i="1">
                                  <a:latin typeface="Cambria Math" panose="02040503050406030204" pitchFamily="18" charset="0"/>
                                </a:rPr>
                                <m:t>−5</m:t>
                              </m:r>
                            </m:e>
                          </m:d>
                        </m:e>
                        <m:sup>
                          <m:r>
                            <a:rPr lang="es-ES" i="1">
                              <a:latin typeface="Cambria Math" panose="02040503050406030204" pitchFamily="18" charset="0"/>
                            </a:rPr>
                            <m:t>2</m:t>
                          </m:r>
                        </m:sup>
                      </m:sSup>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1083879" y="5460058"/>
                <a:ext cx="5051255" cy="871136"/>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6048663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5194051" cy="646331"/>
          </a:xfrm>
          <a:prstGeom prst="rect">
            <a:avLst/>
          </a:prstGeom>
          <a:noFill/>
        </p:spPr>
        <p:txBody>
          <a:bodyPr wrap="none" rtlCol="0">
            <a:spAutoFit/>
          </a:bodyPr>
          <a:lstStyle/>
          <a:p>
            <a:r>
              <a:rPr lang="es-ES" sz="3600" b="1" dirty="0">
                <a:solidFill>
                  <a:schemeClr val="accent2"/>
                </a:solidFill>
                <a:latin typeface="AvantGarde" pitchFamily="34" charset="0"/>
              </a:rPr>
              <a:t>N</a:t>
            </a:r>
            <a:r>
              <a:rPr lang="es-ES" sz="2800" dirty="0">
                <a:solidFill>
                  <a:schemeClr val="accent2"/>
                </a:solidFill>
                <a:latin typeface="AvantGarde" pitchFamily="34" charset="0"/>
              </a:rPr>
              <a:t>otación</a:t>
            </a:r>
            <a:r>
              <a:rPr lang="es-ES" sz="3200" dirty="0">
                <a:solidFill>
                  <a:schemeClr val="accent2"/>
                </a:solidFill>
                <a:latin typeface="AvantGarde" pitchFamily="34" charset="0"/>
              </a:rPr>
              <a:t> </a:t>
            </a:r>
            <a:r>
              <a:rPr lang="es-ES" sz="3600" b="1" dirty="0" smtClean="0">
                <a:solidFill>
                  <a:schemeClr val="accent2"/>
                </a:solidFill>
                <a:latin typeface="AvantGarde" pitchFamily="34" charset="0"/>
              </a:rPr>
              <a:t>S</a:t>
            </a:r>
            <a:r>
              <a:rPr lang="es-ES" sz="2800" dirty="0" smtClean="0">
                <a:solidFill>
                  <a:schemeClr val="accent2"/>
                </a:solidFill>
                <a:latin typeface="AvantGarde" pitchFamily="34" charset="0"/>
              </a:rPr>
              <a:t>umatoria</a:t>
            </a:r>
            <a:r>
              <a:rPr lang="es-ES" sz="3200" dirty="0" smtClean="0">
                <a:solidFill>
                  <a:schemeClr val="accent2"/>
                </a:solidFill>
                <a:latin typeface="AvantGarde" pitchFamily="34" charset="0"/>
              </a:rPr>
              <a:t>:</a:t>
            </a:r>
            <a:r>
              <a:rPr lang="es-ES" sz="2800" dirty="0" smtClean="0">
                <a:solidFill>
                  <a:schemeClr val="accent2"/>
                </a:solidFill>
                <a:latin typeface="AvantGarde" pitchFamily="34" charset="0"/>
              </a:rPr>
              <a:t> Ejemplos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Rectángulo 6"/>
          <p:cNvSpPr/>
          <p:nvPr/>
        </p:nvSpPr>
        <p:spPr>
          <a:xfrm>
            <a:off x="476837" y="1028787"/>
            <a:ext cx="5547281" cy="461665"/>
          </a:xfrm>
          <a:prstGeom prst="rect">
            <a:avLst/>
          </a:prstGeom>
        </p:spPr>
        <p:txBody>
          <a:bodyPr wrap="square">
            <a:spAutoFit/>
          </a:bodyPr>
          <a:lstStyle/>
          <a:p>
            <a:pPr marL="342900" indent="-342900">
              <a:buClr>
                <a:srgbClr val="0070C0"/>
              </a:buClr>
              <a:buFont typeface="Wingdings" panose="05000000000000000000" pitchFamily="2" charset="2"/>
              <a:buChar char="§"/>
            </a:pPr>
            <a:r>
              <a:rPr lang="es-ES" sz="2400" dirty="0" smtClean="0"/>
              <a:t>Expresar como sumatorio:</a:t>
            </a:r>
          </a:p>
        </p:txBody>
      </p:sp>
      <mc:AlternateContent xmlns:mc="http://schemas.openxmlformats.org/markup-compatibility/2006" xmlns:a14="http://schemas.microsoft.com/office/drawing/2010/main">
        <mc:Choice Requires="a14">
          <p:sp>
            <p:nvSpPr>
              <p:cNvPr id="2" name="CuadroTexto 1"/>
              <p:cNvSpPr txBox="1"/>
              <p:nvPr/>
            </p:nvSpPr>
            <p:spPr>
              <a:xfrm>
                <a:off x="531433" y="1446511"/>
                <a:ext cx="7193199" cy="1036759"/>
              </a:xfrm>
              <a:prstGeom prst="rect">
                <a:avLst/>
              </a:prstGeom>
              <a:noFill/>
            </p:spPr>
            <p:txBody>
              <a:bodyPr wrap="square" lIns="0" tIns="0" rIns="0" bIns="0" rtlCol="0">
                <a:spAutoFit/>
              </a:bodyPr>
              <a:lstStyle/>
              <a:p>
                <a:pPr>
                  <a:buClr>
                    <a:srgbClr val="0070C0"/>
                  </a:buClr>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1+4+9+16=</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1</m:t>
                          </m:r>
                        </m:e>
                        <m:sup>
                          <m:r>
                            <a:rPr lang="es-ES" sz="2400" b="0" i="1" smtClean="0">
                              <a:latin typeface="Cambria Math" panose="02040503050406030204" pitchFamily="18" charset="0"/>
                            </a:rPr>
                            <m:t>2</m:t>
                          </m:r>
                        </m:sup>
                      </m:s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2</m:t>
                          </m:r>
                        </m:e>
                        <m:sup>
                          <m:r>
                            <a:rPr lang="es-ES" sz="2400" b="0" i="1" smtClean="0">
                              <a:latin typeface="Cambria Math" panose="02040503050406030204" pitchFamily="18" charset="0"/>
                            </a:rPr>
                            <m:t>2</m:t>
                          </m:r>
                        </m:sup>
                      </m:s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3</m:t>
                          </m:r>
                        </m:e>
                        <m:sup>
                          <m:r>
                            <a:rPr lang="es-ES" sz="2400" b="0" i="1" smtClean="0">
                              <a:latin typeface="Cambria Math" panose="02040503050406030204" pitchFamily="18" charset="0"/>
                            </a:rPr>
                            <m:t>2</m:t>
                          </m:r>
                        </m:sup>
                      </m:s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4</m:t>
                          </m:r>
                        </m:e>
                        <m:sup>
                          <m:r>
                            <a:rPr lang="es-ES" sz="2400" b="0" i="1" smtClean="0">
                              <a:latin typeface="Cambria Math" panose="02040503050406030204" pitchFamily="18" charset="0"/>
                            </a:rPr>
                            <m:t>2</m:t>
                          </m:r>
                        </m:sup>
                      </m:sSup>
                      <m:r>
                        <a:rPr lang="es-ES" sz="2400" b="0" i="1" smtClean="0">
                          <a:latin typeface="Cambria Math" panose="02040503050406030204" pitchFamily="18" charset="0"/>
                        </a:rPr>
                        <m:t>=</m:t>
                      </m:r>
                      <m:nary>
                        <m:naryPr>
                          <m:chr m:val="∑"/>
                          <m:ctrlPr>
                            <a:rPr lang="es-ES" sz="2400" b="0" i="1" smtClean="0">
                              <a:latin typeface="Cambria Math" panose="02040503050406030204" pitchFamily="18" charset="0"/>
                            </a:rPr>
                          </m:ctrlPr>
                        </m:naryPr>
                        <m:sub>
                          <m:r>
                            <m:rPr>
                              <m:brk m:alnAt="23"/>
                            </m:rPr>
                            <a:rPr lang="es-ES" sz="2400" b="0" i="1" smtClean="0">
                              <a:latin typeface="Cambria Math" panose="02040503050406030204" pitchFamily="18" charset="0"/>
                            </a:rPr>
                            <m:t>𝑖</m:t>
                          </m:r>
                          <m:r>
                            <a:rPr lang="es-ES" sz="2400" b="0" i="1" smtClean="0">
                              <a:latin typeface="Cambria Math" panose="02040503050406030204" pitchFamily="18" charset="0"/>
                            </a:rPr>
                            <m:t>=1</m:t>
                          </m:r>
                        </m:sub>
                        <m:sup>
                          <m:r>
                            <a:rPr lang="es-ES" sz="2400" b="0" i="1" smtClean="0">
                              <a:latin typeface="Cambria Math" panose="02040503050406030204" pitchFamily="18" charset="0"/>
                            </a:rPr>
                            <m:t>4</m:t>
                          </m:r>
                        </m:sup>
                        <m:e>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𝑖</m:t>
                              </m:r>
                            </m:e>
                            <m:sup>
                              <m:r>
                                <a:rPr lang="es-ES" sz="2400" b="0" i="1" smtClean="0">
                                  <a:latin typeface="Cambria Math" panose="02040503050406030204" pitchFamily="18" charset="0"/>
                                </a:rPr>
                                <m:t>2</m:t>
                              </m:r>
                            </m:sup>
                          </m:sSup>
                        </m:e>
                      </m:nary>
                    </m:oMath>
                  </m:oMathPara>
                </a14:m>
                <a:endParaRPr lang="es-ES" sz="24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531433" y="1446511"/>
                <a:ext cx="7193199" cy="1036759"/>
              </a:xfrm>
              <a:prstGeom prst="rect">
                <a:avLst/>
              </a:prstGeom>
              <a:blipFill rotWithShape="0">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531433" y="2483270"/>
                <a:ext cx="6516844" cy="1036759"/>
              </a:xfrm>
              <a:prstGeom prst="rect">
                <a:avLst/>
              </a:prstGeom>
              <a:noFill/>
            </p:spPr>
            <p:txBody>
              <a:bodyPr wrap="square" lIns="0" tIns="0" rIns="0" bIns="0" rtlCol="0">
                <a:spAutoFit/>
              </a:bodyPr>
              <a:lstStyle/>
              <a:p>
                <a:pPr>
                  <a:buClr>
                    <a:srgbClr val="0070C0"/>
                  </a:buClr>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1+3+5+7+9+11=</m:t>
                      </m:r>
                      <m:nary>
                        <m:naryPr>
                          <m:chr m:val="∑"/>
                          <m:ctrlPr>
                            <a:rPr lang="es-ES" sz="2400" b="0" i="1" smtClean="0">
                              <a:latin typeface="Cambria Math" panose="02040503050406030204" pitchFamily="18" charset="0"/>
                            </a:rPr>
                          </m:ctrlPr>
                        </m:naryPr>
                        <m:sub>
                          <m:r>
                            <m:rPr>
                              <m:brk m:alnAt="23"/>
                            </m:rPr>
                            <a:rPr lang="es-ES" sz="2400" b="0" i="1" smtClean="0">
                              <a:latin typeface="Cambria Math" panose="02040503050406030204" pitchFamily="18" charset="0"/>
                            </a:rPr>
                            <m:t>𝑛</m:t>
                          </m:r>
                          <m:r>
                            <a:rPr lang="es-ES" sz="2400" b="0" i="1" smtClean="0">
                              <a:latin typeface="Cambria Math" panose="02040503050406030204" pitchFamily="18" charset="0"/>
                            </a:rPr>
                            <m:t>=1</m:t>
                          </m:r>
                        </m:sub>
                        <m:sup>
                          <m:r>
                            <a:rPr lang="es-ES" sz="2400" b="0" i="1" smtClean="0">
                              <a:latin typeface="Cambria Math" panose="02040503050406030204" pitchFamily="18" charset="0"/>
                            </a:rPr>
                            <m:t>6</m:t>
                          </m:r>
                        </m:sup>
                        <m:e>
                          <m:d>
                            <m:dPr>
                              <m:ctrlPr>
                                <a:rPr lang="es-ES" sz="2400" b="0" i="1" smtClean="0">
                                  <a:latin typeface="Cambria Math" panose="02040503050406030204" pitchFamily="18" charset="0"/>
                                </a:rPr>
                              </m:ctrlPr>
                            </m:dPr>
                            <m:e>
                              <m:r>
                                <a:rPr lang="es-ES" sz="2400" b="0" i="1" smtClean="0">
                                  <a:latin typeface="Cambria Math" panose="02040503050406030204" pitchFamily="18" charset="0"/>
                                </a:rPr>
                                <m:t>2</m:t>
                              </m:r>
                              <m:r>
                                <a:rPr lang="es-ES" sz="2400" b="0" i="1" smtClean="0">
                                  <a:latin typeface="Cambria Math" panose="02040503050406030204" pitchFamily="18" charset="0"/>
                                </a:rPr>
                                <m:t>𝑛</m:t>
                              </m:r>
                              <m:r>
                                <a:rPr lang="es-ES" sz="2400" b="0" i="1" smtClean="0">
                                  <a:latin typeface="Cambria Math" panose="02040503050406030204" pitchFamily="18" charset="0"/>
                                </a:rPr>
                                <m:t>−1</m:t>
                              </m:r>
                            </m:e>
                          </m:d>
                        </m:e>
                      </m:nary>
                    </m:oMath>
                  </m:oMathPara>
                </a14:m>
                <a:endParaRPr lang="es-ES"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531433" y="2483270"/>
                <a:ext cx="6516844" cy="1036759"/>
              </a:xfrm>
              <a:prstGeom prst="rect">
                <a:avLst/>
              </a:prstGeom>
              <a:blipFill rotWithShape="0">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533705" y="3864474"/>
                <a:ext cx="11658295" cy="369332"/>
              </a:xfrm>
              <a:prstGeom prst="rect">
                <a:avLst/>
              </a:prstGeom>
              <a:noFill/>
            </p:spPr>
            <p:txBody>
              <a:bodyPr wrap="square" lIns="0" tIns="0" rIns="0" bIns="0" rtlCol="0">
                <a:spAutoFit/>
              </a:bodyPr>
              <a:lstStyle/>
              <a:p>
                <a:pPr marL="342900" indent="-342900">
                  <a:buClr>
                    <a:srgbClr val="0070C0"/>
                  </a:buClr>
                  <a:buFont typeface="Wingdings" panose="05000000000000000000" pitchFamily="2" charset="2"/>
                  <a:buChar char="§"/>
                </a:pPr>
                <a:r>
                  <a:rPr lang="es-ES" sz="2400" b="0" dirty="0" smtClean="0"/>
                  <a:t>La suma de todos los múltiplo de </a:t>
                </a:r>
                <a14:m>
                  <m:oMath xmlns:m="http://schemas.openxmlformats.org/officeDocument/2006/math">
                    <m:r>
                      <a:rPr lang="es-ES" sz="2400" b="0" i="1" smtClean="0">
                        <a:latin typeface="Cambria Math" panose="02040503050406030204" pitchFamily="18" charset="0"/>
                      </a:rPr>
                      <m:t>4</m:t>
                    </m:r>
                  </m:oMath>
                </a14:m>
                <a:r>
                  <a:rPr lang="es-ES" sz="2400" b="0" dirty="0" smtClean="0"/>
                  <a:t>, desde 36 hasta 80</a:t>
                </a:r>
                <a:r>
                  <a:rPr lang="es-ES" sz="2400" dirty="0" smtClean="0"/>
                  <a:t>:</a:t>
                </a:r>
                <a:endParaRPr lang="es-ES" sz="2400" b="0" dirty="0" smtClean="0"/>
              </a:p>
            </p:txBody>
          </p:sp>
        </mc:Choice>
        <mc:Fallback xmlns="">
          <p:sp>
            <p:nvSpPr>
              <p:cNvPr id="12" name="CuadroTexto 11"/>
              <p:cNvSpPr txBox="1">
                <a:spLocks noRot="1" noChangeAspect="1" noMove="1" noResize="1" noEditPoints="1" noAdjustHandles="1" noChangeArrowheads="1" noChangeShapeType="1" noTextEdit="1"/>
              </p:cNvSpPr>
              <p:nvPr/>
            </p:nvSpPr>
            <p:spPr>
              <a:xfrm>
                <a:off x="533705" y="3864474"/>
                <a:ext cx="11658295" cy="369332"/>
              </a:xfrm>
              <a:prstGeom prst="rect">
                <a:avLst/>
              </a:prstGeom>
              <a:blipFill rotWithShape="0">
                <a:blip r:embed="rId7"/>
                <a:stretch>
                  <a:fillRect l="-1517" t="-26230" b="-4754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p:cNvSpPr txBox="1"/>
              <p:nvPr/>
            </p:nvSpPr>
            <p:spPr>
              <a:xfrm>
                <a:off x="1541368" y="4335917"/>
                <a:ext cx="7853753" cy="11306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36+40+</m:t>
                      </m:r>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rPr>
                        <m:t>+80=4</m:t>
                      </m:r>
                      <m:r>
                        <a:rPr lang="es-ES" sz="2400" i="1">
                          <a:latin typeface="Cambria Math" panose="02040503050406030204" pitchFamily="18" charset="0"/>
                          <a:ea typeface="Cambria Math" panose="02040503050406030204" pitchFamily="18" charset="0"/>
                        </a:rPr>
                        <m:t>∙9</m:t>
                      </m:r>
                      <m:r>
                        <a:rPr lang="es-ES" sz="2400" i="1">
                          <a:latin typeface="Cambria Math" panose="02040503050406030204" pitchFamily="18" charset="0"/>
                        </a:rPr>
                        <m:t>+4</m:t>
                      </m:r>
                      <m:r>
                        <a:rPr lang="es-ES" sz="2400" i="1">
                          <a:latin typeface="Cambria Math" panose="02040503050406030204" pitchFamily="18" charset="0"/>
                          <a:ea typeface="Cambria Math" panose="02040503050406030204" pitchFamily="18" charset="0"/>
                        </a:rPr>
                        <m:t>∙10</m:t>
                      </m:r>
                      <m:r>
                        <a:rPr lang="es-ES" sz="2400" i="1">
                          <a:latin typeface="Cambria Math" panose="02040503050406030204" pitchFamily="18" charset="0"/>
                        </a:rPr>
                        <m:t>+</m:t>
                      </m:r>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rPr>
                        <m:t>+4</m:t>
                      </m:r>
                      <m:r>
                        <a:rPr lang="es-ES" sz="2400" i="1">
                          <a:latin typeface="Cambria Math" panose="02040503050406030204" pitchFamily="18" charset="0"/>
                          <a:ea typeface="Cambria Math" panose="02040503050406030204" pitchFamily="18" charset="0"/>
                        </a:rPr>
                        <m:t>∙20</m:t>
                      </m:r>
                      <m:r>
                        <a:rPr lang="es-ES" sz="2400" i="1">
                          <a:latin typeface="Cambria Math" panose="02040503050406030204" pitchFamily="18" charset="0"/>
                        </a:rPr>
                        <m:t>=</m:t>
                      </m:r>
                      <m:nary>
                        <m:naryPr>
                          <m:chr m:val="∑"/>
                          <m:ctrlPr>
                            <a:rPr lang="es-ES" sz="2400" i="1">
                              <a:latin typeface="Cambria Math" panose="02040503050406030204" pitchFamily="18" charset="0"/>
                            </a:rPr>
                          </m:ctrlPr>
                        </m:naryPr>
                        <m:sub>
                          <m:r>
                            <m:rPr>
                              <m:brk m:alnAt="23"/>
                            </m:rPr>
                            <a:rPr lang="es-ES" sz="2400" i="1">
                              <a:latin typeface="Cambria Math" panose="02040503050406030204" pitchFamily="18" charset="0"/>
                            </a:rPr>
                            <m:t>𝑛</m:t>
                          </m:r>
                          <m:r>
                            <a:rPr lang="es-ES" sz="2400" i="1">
                              <a:latin typeface="Cambria Math" panose="02040503050406030204" pitchFamily="18" charset="0"/>
                            </a:rPr>
                            <m:t>=9</m:t>
                          </m:r>
                        </m:sub>
                        <m:sup>
                          <m:r>
                            <a:rPr lang="es-ES" sz="2400" i="1">
                              <a:latin typeface="Cambria Math" panose="02040503050406030204" pitchFamily="18" charset="0"/>
                            </a:rPr>
                            <m:t>20</m:t>
                          </m:r>
                        </m:sup>
                        <m:e>
                          <m:r>
                            <a:rPr lang="es-ES" sz="2400" i="1">
                              <a:latin typeface="Cambria Math" panose="02040503050406030204" pitchFamily="18" charset="0"/>
                            </a:rPr>
                            <m:t>4</m:t>
                          </m:r>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𝑛</m:t>
                          </m:r>
                        </m:e>
                      </m:nary>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1541368" y="4335917"/>
                <a:ext cx="7853753" cy="1130631"/>
              </a:xfrm>
              <a:prstGeom prst="rect">
                <a:avLst/>
              </a:prstGeom>
              <a:blipFill rotWithShape="0">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392014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2113079" cy="646331"/>
          </a:xfrm>
          <a:prstGeom prst="rect">
            <a:avLst/>
          </a:prstGeom>
          <a:noFill/>
        </p:spPr>
        <p:txBody>
          <a:bodyPr wrap="none" rtlCol="0">
            <a:spAutoFit/>
          </a:bodyPr>
          <a:lstStyle/>
          <a:p>
            <a:r>
              <a:rPr lang="es-ES" sz="3600" b="1" dirty="0" smtClean="0">
                <a:solidFill>
                  <a:schemeClr val="accent2"/>
                </a:solidFill>
                <a:latin typeface="AvantGarde" pitchFamily="34" charset="0"/>
              </a:rPr>
              <a:t>S</a:t>
            </a:r>
            <a:r>
              <a:rPr lang="es-ES" sz="2800" dirty="0" smtClean="0">
                <a:solidFill>
                  <a:schemeClr val="accent2"/>
                </a:solidFill>
                <a:latin typeface="AvantGarde" pitchFamily="34" charset="0"/>
              </a:rPr>
              <a:t>ucesiones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342145" y="6272118"/>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3" name="CuadroTexto 2"/>
              <p:cNvSpPr txBox="1"/>
              <p:nvPr/>
            </p:nvSpPr>
            <p:spPr>
              <a:xfrm>
                <a:off x="466876" y="1167600"/>
                <a:ext cx="11588436" cy="1200329"/>
              </a:xfrm>
              <a:prstGeom prst="rect">
                <a:avLst/>
              </a:prstGeom>
              <a:noFill/>
            </p:spPr>
            <p:txBody>
              <a:bodyPr wrap="square" rtlCol="0">
                <a:spAutoFit/>
              </a:bodyPr>
              <a:lstStyle/>
              <a:p>
                <a:pPr algn="just"/>
                <a:r>
                  <a:rPr lang="es-ES" sz="2400" dirty="0" smtClean="0"/>
                  <a:t>Una </a:t>
                </a:r>
                <a:r>
                  <a:rPr lang="es-ES" sz="2400" dirty="0" smtClean="0">
                    <a:solidFill>
                      <a:srgbClr val="0070C0"/>
                    </a:solidFill>
                  </a:rPr>
                  <a:t>sucesión</a:t>
                </a:r>
                <a:r>
                  <a:rPr lang="es-ES" sz="2400" dirty="0" smtClean="0"/>
                  <a:t> de números reales es un conjunto ordenado de números reales llamados </a:t>
                </a:r>
                <a:r>
                  <a:rPr lang="es-ES" sz="2400" dirty="0" smtClean="0">
                    <a:solidFill>
                      <a:srgbClr val="0070C0"/>
                    </a:solidFill>
                  </a:rPr>
                  <a:t>términos</a:t>
                </a:r>
                <a:r>
                  <a:rPr lang="es-ES" sz="2400" dirty="0" smtClean="0"/>
                  <a:t>. Cada término de la sucesión se representa con una letra minúscula con subíndice:</a:t>
                </a:r>
              </a:p>
              <a:p>
                <a:pPr algn="just"/>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 </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 </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3</m:t>
                      </m:r>
                      <m:r>
                        <a:rPr lang="es-ES" sz="2400" b="0" i="1" smtClean="0">
                          <a:latin typeface="Cambria Math" panose="02040503050406030204" pitchFamily="18" charset="0"/>
                        </a:rPr>
                        <m:t>,…….</m:t>
                      </m:r>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466876" y="1167600"/>
                <a:ext cx="11588436" cy="1200329"/>
              </a:xfrm>
              <a:prstGeom prst="rect">
                <a:avLst/>
              </a:prstGeom>
              <a:blipFill rotWithShape="0">
                <a:blip r:embed="rId5"/>
                <a:stretch>
                  <a:fillRect l="-842" t="-4082" r="-789" b="-102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466876" y="2700557"/>
                <a:ext cx="11588436" cy="1569660"/>
              </a:xfrm>
              <a:prstGeom prst="rect">
                <a:avLst/>
              </a:prstGeom>
              <a:noFill/>
            </p:spPr>
            <p:txBody>
              <a:bodyPr wrap="square" rtlCol="0">
                <a:spAutoFit/>
              </a:bodyPr>
              <a:lstStyle/>
              <a:p>
                <a:pPr algn="just"/>
                <a:r>
                  <a:rPr lang="es-ES" sz="2400" dirty="0" smtClean="0"/>
                  <a:t>El conjunto ordenado de números impares: 3, 5, 7, 9, 11,… es una sucesión de números reales. Al término:</a:t>
                </a:r>
              </a:p>
              <a:p>
                <a:pPr algn="just"/>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=3+2</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𝑛</m:t>
                          </m:r>
                          <m:r>
                            <a:rPr lang="es-ES" sz="2400" b="0" i="1" smtClean="0">
                              <a:latin typeface="Cambria Math" panose="02040503050406030204" pitchFamily="18" charset="0"/>
                            </a:rPr>
                            <m:t>−1</m:t>
                          </m:r>
                        </m:e>
                      </m:d>
                    </m:oMath>
                  </m:oMathPara>
                </a14:m>
                <a:endParaRPr lang="es-ES" sz="2400" b="0" dirty="0" smtClean="0"/>
              </a:p>
              <a:p>
                <a:pPr algn="just"/>
                <a:r>
                  <a:rPr lang="es-ES" sz="2400" dirty="0" smtClean="0"/>
                  <a:t>Se le llama </a:t>
                </a:r>
                <a:r>
                  <a:rPr lang="es-ES" sz="2400" dirty="0" smtClean="0">
                    <a:solidFill>
                      <a:srgbClr val="0070C0"/>
                    </a:solidFill>
                  </a:rPr>
                  <a:t>término general </a:t>
                </a:r>
                <a:endParaRPr lang="es-ES" sz="2400" dirty="0">
                  <a:solidFill>
                    <a:srgbClr val="0070C0"/>
                  </a:solidFill>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466876" y="2700557"/>
                <a:ext cx="11588436" cy="1569660"/>
              </a:xfrm>
              <a:prstGeom prst="rect">
                <a:avLst/>
              </a:prstGeom>
              <a:blipFill rotWithShape="0">
                <a:blip r:embed="rId6"/>
                <a:stretch>
                  <a:fillRect l="-842" t="-3113" r="-789" b="-8171"/>
                </a:stretch>
              </a:blipFill>
            </p:spPr>
            <p:txBody>
              <a:bodyPr/>
              <a:lstStyle/>
              <a:p>
                <a:r>
                  <a:rPr lang="es-ES">
                    <a:noFill/>
                  </a:rPr>
                  <a:t> </a:t>
                </a:r>
              </a:p>
            </p:txBody>
          </p:sp>
        </mc:Fallback>
      </mc:AlternateContent>
      <p:sp>
        <p:nvSpPr>
          <p:cNvPr id="11" name="CuadroTexto 10"/>
          <p:cNvSpPr txBox="1"/>
          <p:nvPr/>
        </p:nvSpPr>
        <p:spPr>
          <a:xfrm>
            <a:off x="466876" y="4615054"/>
            <a:ext cx="11588436" cy="1200329"/>
          </a:xfrm>
          <a:prstGeom prst="rect">
            <a:avLst/>
          </a:prstGeom>
          <a:noFill/>
        </p:spPr>
        <p:txBody>
          <a:bodyPr wrap="square" rtlCol="0">
            <a:spAutoFit/>
          </a:bodyPr>
          <a:lstStyle/>
          <a:p>
            <a:pPr algn="just"/>
            <a:r>
              <a:rPr lang="es-ES" sz="2400" dirty="0" smtClean="0"/>
              <a:t>Sin embargo, no todas las sucesiones tienen término general. Por ejemplo, en la sucesión de los números primos: 2, 3, 5, 7, 11, 13, 17,… no hay ninguna expresión que represente al término general.</a:t>
            </a:r>
            <a:endParaRPr lang="es-ES" sz="2400" dirty="0"/>
          </a:p>
        </p:txBody>
      </p:sp>
    </p:spTree>
    <p:extLst>
      <p:ext uri="{BB962C8B-B14F-4D97-AF65-F5344CB8AC3E}">
        <p14:creationId xmlns:p14="http://schemas.microsoft.com/office/powerpoint/2010/main" val="719330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2113079" cy="646331"/>
          </a:xfrm>
          <a:prstGeom prst="rect">
            <a:avLst/>
          </a:prstGeom>
          <a:noFill/>
        </p:spPr>
        <p:txBody>
          <a:bodyPr wrap="none" rtlCol="0">
            <a:spAutoFit/>
          </a:bodyPr>
          <a:lstStyle/>
          <a:p>
            <a:r>
              <a:rPr lang="es-ES" sz="3600" b="1" dirty="0" smtClean="0">
                <a:solidFill>
                  <a:schemeClr val="accent2"/>
                </a:solidFill>
                <a:latin typeface="AvantGarde" pitchFamily="34" charset="0"/>
              </a:rPr>
              <a:t>S</a:t>
            </a:r>
            <a:r>
              <a:rPr lang="es-ES" sz="2800" dirty="0" smtClean="0">
                <a:solidFill>
                  <a:schemeClr val="accent2"/>
                </a:solidFill>
                <a:latin typeface="AvantGarde" pitchFamily="34" charset="0"/>
              </a:rPr>
              <a:t>ucesiones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342145" y="6272118"/>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CuadroTexto 2"/>
          <p:cNvSpPr txBox="1"/>
          <p:nvPr/>
        </p:nvSpPr>
        <p:spPr>
          <a:xfrm>
            <a:off x="466876" y="1167600"/>
            <a:ext cx="11588436" cy="830997"/>
          </a:xfrm>
          <a:prstGeom prst="rect">
            <a:avLst/>
          </a:prstGeom>
          <a:noFill/>
        </p:spPr>
        <p:txBody>
          <a:bodyPr wrap="square" rtlCol="0">
            <a:spAutoFit/>
          </a:bodyPr>
          <a:lstStyle/>
          <a:p>
            <a:pPr algn="just"/>
            <a:r>
              <a:rPr lang="es-ES" sz="2400" dirty="0" smtClean="0"/>
              <a:t>Una </a:t>
            </a:r>
            <a:r>
              <a:rPr lang="es-ES" sz="2400" dirty="0" smtClean="0">
                <a:solidFill>
                  <a:srgbClr val="0070C0"/>
                </a:solidFill>
              </a:rPr>
              <a:t>sucesión</a:t>
            </a:r>
            <a:r>
              <a:rPr lang="es-ES" sz="2400" dirty="0" smtClean="0"/>
              <a:t> es </a:t>
            </a:r>
            <a:r>
              <a:rPr lang="es-ES" sz="2400" dirty="0" smtClean="0">
                <a:solidFill>
                  <a:srgbClr val="0070C0"/>
                </a:solidFill>
              </a:rPr>
              <a:t>finita</a:t>
            </a:r>
            <a:r>
              <a:rPr lang="es-ES" sz="2400" dirty="0" smtClean="0"/>
              <a:t> cuando tiene primer y último término.</a:t>
            </a:r>
          </a:p>
          <a:p>
            <a:pPr algn="just"/>
            <a:r>
              <a:rPr lang="es-ES" sz="2400" dirty="0" smtClean="0"/>
              <a:t>Una </a:t>
            </a:r>
            <a:r>
              <a:rPr lang="es-ES" sz="2400" dirty="0" smtClean="0">
                <a:solidFill>
                  <a:srgbClr val="0070C0"/>
                </a:solidFill>
              </a:rPr>
              <a:t>sucesión</a:t>
            </a:r>
            <a:r>
              <a:rPr lang="es-ES" sz="2400" dirty="0" smtClean="0"/>
              <a:t> es </a:t>
            </a:r>
            <a:r>
              <a:rPr lang="es-ES" sz="2400" dirty="0" smtClean="0">
                <a:solidFill>
                  <a:srgbClr val="0070C0"/>
                </a:solidFill>
              </a:rPr>
              <a:t>infinita</a:t>
            </a:r>
            <a:r>
              <a:rPr lang="es-ES" sz="2400" dirty="0" smtClean="0"/>
              <a:t> si tiene primer término pero no tiene último término.</a:t>
            </a:r>
            <a:endParaRPr lang="es-ES" sz="2400" dirty="0"/>
          </a:p>
        </p:txBody>
      </p:sp>
      <mc:AlternateContent xmlns:mc="http://schemas.openxmlformats.org/markup-compatibility/2006" xmlns:a14="http://schemas.microsoft.com/office/drawing/2010/main">
        <mc:Choice Requires="a14">
          <p:sp>
            <p:nvSpPr>
              <p:cNvPr id="9" name="CuadroTexto 8"/>
              <p:cNvSpPr txBox="1"/>
              <p:nvPr/>
            </p:nvSpPr>
            <p:spPr>
              <a:xfrm>
                <a:off x="385394" y="2183966"/>
                <a:ext cx="11588436" cy="1569660"/>
              </a:xfrm>
              <a:prstGeom prst="rect">
                <a:avLst/>
              </a:prstGeom>
              <a:noFill/>
            </p:spPr>
            <p:txBody>
              <a:bodyPr wrap="square" rtlCol="0">
                <a:spAutoFit/>
              </a:bodyPr>
              <a:lstStyle/>
              <a:p>
                <a:pPr algn="just"/>
                <a:r>
                  <a:rPr lang="es-ES" sz="2400" b="1" dirty="0" smtClean="0">
                    <a:solidFill>
                      <a:srgbClr val="ED7D31"/>
                    </a:solidFill>
                  </a:rPr>
                  <a:t>Ejemplo:</a:t>
                </a:r>
              </a:p>
              <a:p>
                <a:pPr marL="342900" indent="-342900" algn="just">
                  <a:buClr>
                    <a:srgbClr val="0070C0"/>
                  </a:buClr>
                  <a:buFont typeface="Wingdings" panose="05000000000000000000" pitchFamily="2" charset="2"/>
                  <a:buChar char="§"/>
                </a:pPr>
                <a:r>
                  <a:rPr lang="es-ES" sz="2400" dirty="0" smtClean="0"/>
                  <a:t>La sucesión: 3, 8, 13, 18, 23 es finita. Su primer término es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=3</m:t>
                    </m:r>
                  </m:oMath>
                </a14:m>
                <a:r>
                  <a:rPr lang="es-ES" sz="2400" b="0" dirty="0" smtClean="0"/>
                  <a:t> y el último es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5</m:t>
                    </m:r>
                    <m:r>
                      <a:rPr lang="es-ES" sz="2400" b="0" i="1" smtClean="0">
                        <a:latin typeface="Cambria Math" panose="02040503050406030204" pitchFamily="18" charset="0"/>
                      </a:rPr>
                      <m:t>=23</m:t>
                    </m:r>
                  </m:oMath>
                </a14:m>
                <a:endParaRPr lang="es-ES" sz="2400" dirty="0" smtClean="0">
                  <a:solidFill>
                    <a:srgbClr val="0070C0"/>
                  </a:solidFill>
                </a:endParaRPr>
              </a:p>
              <a:p>
                <a:pPr marL="342900" indent="-342900" algn="just">
                  <a:buClr>
                    <a:srgbClr val="0070C0"/>
                  </a:buClr>
                  <a:buFont typeface="Wingdings" panose="05000000000000000000" pitchFamily="2" charset="2"/>
                  <a:buChar char="§"/>
                </a:pPr>
                <a:r>
                  <a:rPr lang="es-ES" sz="2400" dirty="0" smtClean="0"/>
                  <a:t>La sucesión: 4, 7, 10, 13, 16, 19,... es infinita. Su primer término es </a:t>
                </a:r>
                <a14:m>
                  <m:oMath xmlns:m="http://schemas.openxmlformats.org/officeDocument/2006/math">
                    <m:r>
                      <a:rPr lang="es-ES" sz="2400" i="1">
                        <a:latin typeface="Cambria Math" panose="02040503050406030204" pitchFamily="18" charset="0"/>
                      </a:rPr>
                      <m:t>𝑎</m:t>
                    </m:r>
                    <m:r>
                      <a:rPr lang="es-ES" sz="2400" i="1" baseline="-25000">
                        <a:latin typeface="Cambria Math" panose="02040503050406030204" pitchFamily="18" charset="0"/>
                      </a:rPr>
                      <m:t>1</m:t>
                    </m:r>
                    <m:r>
                      <a:rPr lang="es-ES" sz="2400" i="1">
                        <a:latin typeface="Cambria Math" panose="02040503050406030204" pitchFamily="18" charset="0"/>
                      </a:rPr>
                      <m:t>=</m:t>
                    </m:r>
                  </m:oMath>
                </a14:m>
                <a:r>
                  <a:rPr lang="es-ES" sz="2400" dirty="0" smtClean="0"/>
                  <a:t>4 y no tiene último. </a:t>
                </a:r>
                <a:endParaRPr lang="es-ES" sz="2400" dirty="0">
                  <a:solidFill>
                    <a:srgbClr val="0070C0"/>
                  </a:solidFill>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385394" y="2183966"/>
                <a:ext cx="11588436" cy="1569660"/>
              </a:xfrm>
              <a:prstGeom prst="rect">
                <a:avLst/>
              </a:prstGeom>
              <a:blipFill rotWithShape="0">
                <a:blip r:embed="rId5"/>
                <a:stretch>
                  <a:fillRect l="-789" t="-3101" r="-842" b="-7752"/>
                </a:stretch>
              </a:blipFill>
            </p:spPr>
            <p:txBody>
              <a:bodyPr/>
              <a:lstStyle/>
              <a:p>
                <a:r>
                  <a:rPr lang="es-ES">
                    <a:noFill/>
                  </a:rPr>
                  <a:t> </a:t>
                </a:r>
              </a:p>
            </p:txBody>
          </p:sp>
        </mc:Fallback>
      </mc:AlternateContent>
      <p:sp>
        <p:nvSpPr>
          <p:cNvPr id="11" name="CuadroTexto 10"/>
          <p:cNvSpPr txBox="1"/>
          <p:nvPr/>
        </p:nvSpPr>
        <p:spPr>
          <a:xfrm>
            <a:off x="466876" y="4053744"/>
            <a:ext cx="11588436" cy="1938992"/>
          </a:xfrm>
          <a:prstGeom prst="rect">
            <a:avLst/>
          </a:prstGeom>
          <a:noFill/>
        </p:spPr>
        <p:txBody>
          <a:bodyPr wrap="square" rtlCol="0">
            <a:spAutoFit/>
          </a:bodyPr>
          <a:lstStyle/>
          <a:p>
            <a:pPr algn="just"/>
            <a:r>
              <a:rPr lang="es-ES" sz="2400" dirty="0" smtClean="0"/>
              <a:t>Lo términos de algunas sucesiones se pueden determinar siguiendo un criterio denominado </a:t>
            </a:r>
            <a:r>
              <a:rPr lang="es-ES" sz="2400" dirty="0" smtClean="0">
                <a:solidFill>
                  <a:srgbClr val="0070C0"/>
                </a:solidFill>
              </a:rPr>
              <a:t>regla de formación</a:t>
            </a:r>
            <a:r>
              <a:rPr lang="es-ES" sz="2400" dirty="0" smtClean="0"/>
              <a:t>, que relaciona cada término con el lugar que ocupa.</a:t>
            </a:r>
          </a:p>
          <a:p>
            <a:pPr algn="just"/>
            <a:r>
              <a:rPr lang="es-ES" sz="2400" dirty="0" smtClean="0"/>
              <a:t>Las dos reglas fundamentales son:</a:t>
            </a:r>
          </a:p>
          <a:p>
            <a:pPr marL="342900" indent="-342900" algn="just">
              <a:buClr>
                <a:srgbClr val="0070C0"/>
              </a:buClr>
              <a:buFont typeface="Wingdings" panose="05000000000000000000" pitchFamily="2" charset="2"/>
              <a:buChar char="v"/>
            </a:pPr>
            <a:r>
              <a:rPr lang="es-ES" sz="2400" dirty="0" smtClean="0"/>
              <a:t>Sumar una misma cantidad.</a:t>
            </a:r>
          </a:p>
          <a:p>
            <a:pPr marL="342900" indent="-342900" algn="just">
              <a:buClr>
                <a:srgbClr val="0070C0"/>
              </a:buClr>
              <a:buFont typeface="Wingdings" panose="05000000000000000000" pitchFamily="2" charset="2"/>
              <a:buChar char="v"/>
            </a:pPr>
            <a:r>
              <a:rPr lang="es-ES" sz="2400" dirty="0" smtClean="0"/>
              <a:t>Multiplicar por una misma cantidad.</a:t>
            </a:r>
            <a:endParaRPr lang="es-ES" sz="2400" dirty="0"/>
          </a:p>
        </p:txBody>
      </p:sp>
    </p:spTree>
    <p:extLst>
      <p:ext uri="{BB962C8B-B14F-4D97-AF65-F5344CB8AC3E}">
        <p14:creationId xmlns:p14="http://schemas.microsoft.com/office/powerpoint/2010/main" val="22019012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346062"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CuadroTexto 2"/>
          <p:cNvSpPr txBox="1"/>
          <p:nvPr/>
        </p:nvSpPr>
        <p:spPr>
          <a:xfrm>
            <a:off x="822359" y="1212690"/>
            <a:ext cx="10990907" cy="1200329"/>
          </a:xfrm>
          <a:prstGeom prst="rect">
            <a:avLst/>
          </a:prstGeom>
          <a:noFill/>
        </p:spPr>
        <p:txBody>
          <a:bodyPr wrap="square" rtlCol="0">
            <a:spAutoFit/>
          </a:bodyPr>
          <a:lstStyle/>
          <a:p>
            <a:r>
              <a:rPr lang="es-ES" sz="2400" dirty="0" smtClean="0"/>
              <a:t>Una progresión aritmética es una sucesión de números reales en la que cada término, salvo el primero, se obtiene sumando al anterior una cantidad fija </a:t>
            </a:r>
            <a:r>
              <a:rPr lang="es-ES" sz="2400" b="1" dirty="0" smtClean="0">
                <a:solidFill>
                  <a:srgbClr val="0070C0"/>
                </a:solidFill>
              </a:rPr>
              <a:t>d</a:t>
            </a:r>
            <a:r>
              <a:rPr lang="es-ES" sz="2400" dirty="0" smtClean="0"/>
              <a:t>, llamada </a:t>
            </a:r>
            <a:r>
              <a:rPr lang="es-ES" sz="2400" b="1" dirty="0" smtClean="0">
                <a:solidFill>
                  <a:srgbClr val="0070C0"/>
                </a:solidFill>
              </a:rPr>
              <a:t>diferencia</a:t>
            </a:r>
            <a:r>
              <a:rPr lang="es-ES" sz="2400" dirty="0" smtClean="0"/>
              <a:t> de la progresión.</a:t>
            </a:r>
            <a:endParaRPr lang="es-ES" sz="2400" dirty="0"/>
          </a:p>
        </p:txBody>
      </p:sp>
      <p:pic>
        <p:nvPicPr>
          <p:cNvPr id="9" name="Imagen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9583" y="2242013"/>
            <a:ext cx="2941147" cy="1195985"/>
          </a:xfrm>
          <a:prstGeom prst="rect">
            <a:avLst/>
          </a:prstGeom>
        </p:spPr>
      </p:pic>
      <mc:AlternateContent xmlns:mc="http://schemas.openxmlformats.org/markup-compatibility/2006" xmlns:a14="http://schemas.microsoft.com/office/drawing/2010/main">
        <mc:Choice Requires="a14">
          <p:sp>
            <p:nvSpPr>
              <p:cNvPr id="11" name="CuadroTexto 10"/>
              <p:cNvSpPr txBox="1"/>
              <p:nvPr/>
            </p:nvSpPr>
            <p:spPr>
              <a:xfrm>
                <a:off x="822359" y="3991068"/>
                <a:ext cx="10990907" cy="1200329"/>
              </a:xfrm>
              <a:prstGeom prst="rect">
                <a:avLst/>
              </a:prstGeom>
              <a:noFill/>
            </p:spPr>
            <p:txBody>
              <a:bodyPr wrap="square" rtlCol="0">
                <a:spAutoFit/>
              </a:bodyPr>
              <a:lstStyle/>
              <a:p>
                <a:r>
                  <a:rPr lang="es-ES" sz="2400" dirty="0" smtClean="0"/>
                  <a:t>En la sucesión </a:t>
                </a:r>
                <a14:m>
                  <m:oMath xmlns:m="http://schemas.openxmlformats.org/officeDocument/2006/math">
                    <m:d>
                      <m:dPr>
                        <m:begChr m:val="{"/>
                        <m:endChr m:val="}"/>
                        <m:ctrlPr>
                          <a:rPr lang="es-ES" sz="2400" i="1" smtClean="0">
                            <a:latin typeface="Cambria Math" panose="02040503050406030204" pitchFamily="18" charset="0"/>
                          </a:rPr>
                        </m:ctrlPr>
                      </m:dPr>
                      <m:e>
                        <m:r>
                          <a:rPr lang="es-ES" sz="2400" b="0" i="1" smtClean="0">
                            <a:latin typeface="Cambria Math" panose="02040503050406030204" pitchFamily="18" charset="0"/>
                          </a:rPr>
                          <m:t>32, 38, 44, 50, 56</m:t>
                        </m:r>
                      </m:e>
                    </m:d>
                  </m:oMath>
                </a14:m>
                <a:r>
                  <a:rPr lang="es-ES" sz="2400" dirty="0" smtClean="0"/>
                  <a:t> cada término se obtiene del anterior sumando 6 unidades. En este caso se dice que estamos ante una sucesión cuyos términos están en progresión aritmética de diferencia d=6.</a:t>
                </a:r>
                <a:endParaRPr lang="es-ES"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822359" y="3991068"/>
                <a:ext cx="10990907" cy="1200329"/>
              </a:xfrm>
              <a:prstGeom prst="rect">
                <a:avLst/>
              </a:prstGeom>
              <a:blipFill rotWithShape="0">
                <a:blip r:embed="rId6"/>
                <a:stretch>
                  <a:fillRect l="-887" t="-4061" r="-666" b="-10660"/>
                </a:stretch>
              </a:blipFill>
            </p:spPr>
            <p:txBody>
              <a:bodyPr/>
              <a:lstStyle/>
              <a:p>
                <a:r>
                  <a:rPr lang="es-ES">
                    <a:noFill/>
                  </a:rPr>
                  <a:t> </a:t>
                </a:r>
              </a:p>
            </p:txBody>
          </p:sp>
        </mc:Fallback>
      </mc:AlternateContent>
    </p:spTree>
    <p:extLst>
      <p:ext uri="{BB962C8B-B14F-4D97-AF65-F5344CB8AC3E}">
        <p14:creationId xmlns:p14="http://schemas.microsoft.com/office/powerpoint/2010/main" val="36153436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346062"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3" name="CuadroTexto 2"/>
              <p:cNvSpPr txBox="1"/>
              <p:nvPr/>
            </p:nvSpPr>
            <p:spPr>
              <a:xfrm>
                <a:off x="730024" y="1085073"/>
                <a:ext cx="10990907" cy="2012859"/>
              </a:xfrm>
              <a:prstGeom prst="rect">
                <a:avLst/>
              </a:prstGeom>
              <a:noFill/>
            </p:spPr>
            <p:txBody>
              <a:bodyPr wrap="square" rtlCol="0">
                <a:spAutoFit/>
              </a:bodyPr>
              <a:lstStyle/>
              <a:p>
                <a:pPr>
                  <a:lnSpc>
                    <a:spcPct val="130000"/>
                  </a:lnSpc>
                </a:pPr>
                <a:r>
                  <a:rPr lang="es-ES" sz="2400" dirty="0" smtClean="0"/>
                  <a:t>Consideramos la sucesión de término general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=3</m:t>
                    </m:r>
                    <m:r>
                      <a:rPr lang="es-ES" sz="2400" b="0" i="1" smtClean="0">
                        <a:latin typeface="Cambria Math" panose="02040503050406030204" pitchFamily="18" charset="0"/>
                      </a:rPr>
                      <m:t>𝑛</m:t>
                    </m:r>
                    <m:r>
                      <a:rPr lang="es-ES" sz="2400" b="0" i="1" smtClean="0">
                        <a:latin typeface="Cambria Math" panose="02040503050406030204" pitchFamily="18" charset="0"/>
                      </a:rPr>
                      <m:t>+2</m:t>
                    </m:r>
                  </m:oMath>
                </a14:m>
                <a:endParaRPr lang="es-ES" sz="2400" dirty="0" smtClean="0"/>
              </a:p>
              <a:p>
                <a:pPr>
                  <a:lnSpc>
                    <a:spcPct val="130000"/>
                  </a:lnSpc>
                </a:pPr>
                <a14:m>
                  <m:oMathPara xmlns:m="http://schemas.openxmlformats.org/officeDocument/2006/math">
                    <m:oMathParaPr>
                      <m:jc m:val="centerGroup"/>
                    </m:oMathParaPr>
                    <m:oMath xmlns:m="http://schemas.openxmlformats.org/officeDocument/2006/math">
                      <m:d>
                        <m:dPr>
                          <m:begChr m:val="{"/>
                          <m:endChr m:val="}"/>
                          <m:ctrlPr>
                            <a:rPr lang="es-ES" sz="2400" i="1" smtClean="0">
                              <a:latin typeface="Cambria Math" panose="02040503050406030204" pitchFamily="18" charset="0"/>
                            </a:rPr>
                          </m:ctrlPr>
                        </m:dPr>
                        <m:e>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e>
                      </m:d>
                      <m:r>
                        <a:rPr lang="es-ES" sz="2400" b="0" i="1" smtClean="0">
                          <a:latin typeface="Cambria Math" panose="02040503050406030204" pitchFamily="18" charset="0"/>
                        </a:rPr>
                        <m:t>=</m:t>
                      </m:r>
                      <m:d>
                        <m:dPr>
                          <m:begChr m:val="{"/>
                          <m:endChr m:val="}"/>
                          <m:ctrlPr>
                            <a:rPr lang="es-ES" sz="2400" b="0" i="1" smtClean="0">
                              <a:latin typeface="Cambria Math" panose="02040503050406030204" pitchFamily="18" charset="0"/>
                            </a:rPr>
                          </m:ctrlPr>
                        </m:dPr>
                        <m:e>
                          <m:r>
                            <a:rPr lang="es-ES" sz="2400" b="0" i="1" smtClean="0">
                              <a:latin typeface="Cambria Math" panose="02040503050406030204" pitchFamily="18" charset="0"/>
                            </a:rPr>
                            <m:t>5, 8, 11, 14, 17, 20,…</m:t>
                          </m:r>
                        </m:e>
                      </m:d>
                    </m:oMath>
                  </m:oMathPara>
                </a14:m>
                <a:endParaRPr lang="es-ES" sz="2400" dirty="0" smtClean="0"/>
              </a:p>
              <a:p>
                <a:pPr>
                  <a:lnSpc>
                    <a:spcPct val="130000"/>
                  </a:lnSpc>
                </a:pPr>
                <a:r>
                  <a:rPr lang="es-ES" sz="2400" dirty="0" smtClean="0"/>
                  <a:t>Cada término de la sucesión es igual al anterior más 3 unidades. Se dice que la sucesión es una progresión aritmética y d=3 es la diferencia de la progresión.</a:t>
                </a:r>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730024" y="1085073"/>
                <a:ext cx="10990907" cy="2012859"/>
              </a:xfrm>
              <a:prstGeom prst="rect">
                <a:avLst/>
              </a:prstGeom>
              <a:blipFill rotWithShape="0">
                <a:blip r:embed="rId5"/>
                <a:stretch>
                  <a:fillRect l="-887" r="-1387" b="-4242"/>
                </a:stretch>
              </a:blipFill>
            </p:spPr>
            <p:txBody>
              <a:bodyPr/>
              <a:lstStyle/>
              <a:p>
                <a:r>
                  <a:rPr lang="es-ES">
                    <a:noFill/>
                  </a:rPr>
                  <a:t> </a:t>
                </a:r>
              </a:p>
            </p:txBody>
          </p:sp>
        </mc:Fallback>
      </mc:AlternateContent>
      <p:cxnSp>
        <p:nvCxnSpPr>
          <p:cNvPr id="7" name="Conector recto 6"/>
          <p:cNvCxnSpPr/>
          <p:nvPr/>
        </p:nvCxnSpPr>
        <p:spPr>
          <a:xfrm>
            <a:off x="2103366" y="5194502"/>
            <a:ext cx="7184295" cy="74949"/>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2618072" y="5102170"/>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CuadroTexto 17"/>
          <p:cNvSpPr txBox="1"/>
          <p:nvPr/>
        </p:nvSpPr>
        <p:spPr>
          <a:xfrm>
            <a:off x="2467229" y="5335545"/>
            <a:ext cx="314510" cy="400110"/>
          </a:xfrm>
          <a:prstGeom prst="rect">
            <a:avLst/>
          </a:prstGeom>
          <a:noFill/>
        </p:spPr>
        <p:txBody>
          <a:bodyPr wrap="none" rtlCol="0">
            <a:spAutoFit/>
          </a:bodyPr>
          <a:lstStyle/>
          <a:p>
            <a:r>
              <a:rPr lang="es-ES" sz="2000" dirty="0" smtClean="0"/>
              <a:t>5</a:t>
            </a:r>
            <a:endParaRPr lang="es-ES" sz="2000" dirty="0"/>
          </a:p>
        </p:txBody>
      </p:sp>
      <p:cxnSp>
        <p:nvCxnSpPr>
          <p:cNvPr id="19" name="Conector recto 18"/>
          <p:cNvCxnSpPr/>
          <p:nvPr/>
        </p:nvCxnSpPr>
        <p:spPr>
          <a:xfrm>
            <a:off x="3752249" y="5088111"/>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CuadroTexto 20"/>
          <p:cNvSpPr txBox="1"/>
          <p:nvPr/>
        </p:nvSpPr>
        <p:spPr>
          <a:xfrm>
            <a:off x="3601406" y="5314952"/>
            <a:ext cx="314510" cy="400110"/>
          </a:xfrm>
          <a:prstGeom prst="rect">
            <a:avLst/>
          </a:prstGeom>
          <a:noFill/>
        </p:spPr>
        <p:txBody>
          <a:bodyPr wrap="none" rtlCol="0">
            <a:spAutoFit/>
          </a:bodyPr>
          <a:lstStyle/>
          <a:p>
            <a:r>
              <a:rPr lang="es-ES" sz="2000" dirty="0" smtClean="0"/>
              <a:t>8</a:t>
            </a:r>
            <a:endParaRPr lang="es-ES" sz="2000" dirty="0"/>
          </a:p>
        </p:txBody>
      </p:sp>
      <p:cxnSp>
        <p:nvCxnSpPr>
          <p:cNvPr id="22" name="Conector recto 21"/>
          <p:cNvCxnSpPr/>
          <p:nvPr/>
        </p:nvCxnSpPr>
        <p:spPr>
          <a:xfrm>
            <a:off x="4984282" y="5088111"/>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Conector recto 22"/>
          <p:cNvCxnSpPr/>
          <p:nvPr/>
        </p:nvCxnSpPr>
        <p:spPr>
          <a:xfrm>
            <a:off x="6129689" y="5079711"/>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Conector recto 23"/>
          <p:cNvCxnSpPr/>
          <p:nvPr/>
        </p:nvCxnSpPr>
        <p:spPr>
          <a:xfrm>
            <a:off x="7225740" y="5119273"/>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Conector recto 24"/>
          <p:cNvCxnSpPr/>
          <p:nvPr/>
        </p:nvCxnSpPr>
        <p:spPr>
          <a:xfrm>
            <a:off x="8266600" y="5102170"/>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Conector recto 25"/>
          <p:cNvCxnSpPr/>
          <p:nvPr/>
        </p:nvCxnSpPr>
        <p:spPr>
          <a:xfrm>
            <a:off x="2618072" y="5005137"/>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Rectángulo 28"/>
          <p:cNvSpPr/>
          <p:nvPr/>
        </p:nvSpPr>
        <p:spPr>
          <a:xfrm>
            <a:off x="4833439" y="5393225"/>
            <a:ext cx="444352" cy="400110"/>
          </a:xfrm>
          <a:prstGeom prst="rect">
            <a:avLst/>
          </a:prstGeom>
        </p:spPr>
        <p:txBody>
          <a:bodyPr wrap="none">
            <a:spAutoFit/>
          </a:bodyPr>
          <a:lstStyle/>
          <a:p>
            <a:r>
              <a:rPr lang="es-ES" sz="2000" dirty="0" smtClean="0"/>
              <a:t>11</a:t>
            </a:r>
            <a:endParaRPr lang="es-ES" sz="2000" dirty="0"/>
          </a:p>
        </p:txBody>
      </p:sp>
      <p:sp>
        <p:nvSpPr>
          <p:cNvPr id="30" name="Rectángulo 29"/>
          <p:cNvSpPr/>
          <p:nvPr/>
        </p:nvSpPr>
        <p:spPr>
          <a:xfrm>
            <a:off x="6016126" y="5393225"/>
            <a:ext cx="444352" cy="400110"/>
          </a:xfrm>
          <a:prstGeom prst="rect">
            <a:avLst/>
          </a:prstGeom>
        </p:spPr>
        <p:txBody>
          <a:bodyPr wrap="none">
            <a:spAutoFit/>
          </a:bodyPr>
          <a:lstStyle/>
          <a:p>
            <a:r>
              <a:rPr lang="es-ES" sz="2000" dirty="0" smtClean="0"/>
              <a:t>14</a:t>
            </a:r>
            <a:endParaRPr lang="es-ES" sz="2000" dirty="0"/>
          </a:p>
        </p:txBody>
      </p:sp>
      <p:sp>
        <p:nvSpPr>
          <p:cNvPr id="31" name="Rectángulo 30"/>
          <p:cNvSpPr/>
          <p:nvPr/>
        </p:nvSpPr>
        <p:spPr>
          <a:xfrm>
            <a:off x="7074897" y="5429344"/>
            <a:ext cx="444352" cy="400110"/>
          </a:xfrm>
          <a:prstGeom prst="rect">
            <a:avLst/>
          </a:prstGeom>
        </p:spPr>
        <p:txBody>
          <a:bodyPr wrap="none">
            <a:spAutoFit/>
          </a:bodyPr>
          <a:lstStyle/>
          <a:p>
            <a:r>
              <a:rPr lang="es-ES" sz="2000" dirty="0" smtClean="0"/>
              <a:t>17</a:t>
            </a:r>
            <a:endParaRPr lang="es-ES" sz="2000" dirty="0"/>
          </a:p>
        </p:txBody>
      </p:sp>
      <p:sp>
        <p:nvSpPr>
          <p:cNvPr id="32" name="Flecha curvada hacia abajo 31"/>
          <p:cNvSpPr/>
          <p:nvPr/>
        </p:nvSpPr>
        <p:spPr>
          <a:xfrm>
            <a:off x="2610487" y="4203473"/>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3" name="Flecha curvada hacia abajo 32"/>
          <p:cNvSpPr/>
          <p:nvPr/>
        </p:nvSpPr>
        <p:spPr>
          <a:xfrm>
            <a:off x="3826639" y="4232817"/>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4" name="Flecha curvada hacia abajo 33"/>
          <p:cNvSpPr/>
          <p:nvPr/>
        </p:nvSpPr>
        <p:spPr>
          <a:xfrm>
            <a:off x="4984282" y="4238612"/>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5" name="Flecha curvada hacia abajo 34"/>
          <p:cNvSpPr/>
          <p:nvPr/>
        </p:nvSpPr>
        <p:spPr>
          <a:xfrm>
            <a:off x="6177905" y="4183692"/>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6" name="Flecha curvada hacia abajo 35"/>
          <p:cNvSpPr/>
          <p:nvPr/>
        </p:nvSpPr>
        <p:spPr>
          <a:xfrm>
            <a:off x="7282752" y="4139433"/>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8" name="Rectángulo 37"/>
          <p:cNvSpPr/>
          <p:nvPr/>
        </p:nvSpPr>
        <p:spPr>
          <a:xfrm>
            <a:off x="2889045" y="3704193"/>
            <a:ext cx="494046" cy="461665"/>
          </a:xfrm>
          <a:prstGeom prst="rect">
            <a:avLst/>
          </a:prstGeom>
        </p:spPr>
        <p:txBody>
          <a:bodyPr wrap="none">
            <a:spAutoFit/>
          </a:bodyPr>
          <a:lstStyle/>
          <a:p>
            <a:r>
              <a:rPr lang="es-ES" sz="2400" b="1" dirty="0">
                <a:solidFill>
                  <a:srgbClr val="0070C0"/>
                </a:solidFill>
              </a:rPr>
              <a:t>+3</a:t>
            </a:r>
          </a:p>
        </p:txBody>
      </p:sp>
      <p:sp>
        <p:nvSpPr>
          <p:cNvPr id="39" name="Rectángulo 38"/>
          <p:cNvSpPr/>
          <p:nvPr/>
        </p:nvSpPr>
        <p:spPr>
          <a:xfrm>
            <a:off x="4123907" y="3770812"/>
            <a:ext cx="494046" cy="461665"/>
          </a:xfrm>
          <a:prstGeom prst="rect">
            <a:avLst/>
          </a:prstGeom>
        </p:spPr>
        <p:txBody>
          <a:bodyPr wrap="none">
            <a:spAutoFit/>
          </a:bodyPr>
          <a:lstStyle/>
          <a:p>
            <a:r>
              <a:rPr lang="es-ES" sz="2400" b="1" dirty="0">
                <a:solidFill>
                  <a:srgbClr val="0070C0"/>
                </a:solidFill>
              </a:rPr>
              <a:t>+3</a:t>
            </a:r>
          </a:p>
        </p:txBody>
      </p:sp>
      <p:sp>
        <p:nvSpPr>
          <p:cNvPr id="41" name="Rectángulo 40"/>
          <p:cNvSpPr/>
          <p:nvPr/>
        </p:nvSpPr>
        <p:spPr>
          <a:xfrm>
            <a:off x="5325293" y="3783409"/>
            <a:ext cx="494046" cy="461665"/>
          </a:xfrm>
          <a:prstGeom prst="rect">
            <a:avLst/>
          </a:prstGeom>
        </p:spPr>
        <p:txBody>
          <a:bodyPr wrap="none">
            <a:spAutoFit/>
          </a:bodyPr>
          <a:lstStyle/>
          <a:p>
            <a:r>
              <a:rPr lang="es-ES" sz="2400" b="1" dirty="0">
                <a:solidFill>
                  <a:srgbClr val="0070C0"/>
                </a:solidFill>
              </a:rPr>
              <a:t>+3</a:t>
            </a:r>
          </a:p>
        </p:txBody>
      </p:sp>
      <p:sp>
        <p:nvSpPr>
          <p:cNvPr id="42" name="Rectángulo 41"/>
          <p:cNvSpPr/>
          <p:nvPr/>
        </p:nvSpPr>
        <p:spPr>
          <a:xfrm>
            <a:off x="6460407" y="3748798"/>
            <a:ext cx="494046" cy="461665"/>
          </a:xfrm>
          <a:prstGeom prst="rect">
            <a:avLst/>
          </a:prstGeom>
        </p:spPr>
        <p:txBody>
          <a:bodyPr wrap="none">
            <a:spAutoFit/>
          </a:bodyPr>
          <a:lstStyle/>
          <a:p>
            <a:r>
              <a:rPr lang="es-ES" sz="2400" b="1" dirty="0">
                <a:solidFill>
                  <a:srgbClr val="0070C0"/>
                </a:solidFill>
              </a:rPr>
              <a:t>+3</a:t>
            </a:r>
          </a:p>
        </p:txBody>
      </p:sp>
      <p:sp>
        <p:nvSpPr>
          <p:cNvPr id="43" name="Rectángulo 42"/>
          <p:cNvSpPr/>
          <p:nvPr/>
        </p:nvSpPr>
        <p:spPr>
          <a:xfrm>
            <a:off x="7595521" y="3684551"/>
            <a:ext cx="494046" cy="461665"/>
          </a:xfrm>
          <a:prstGeom prst="rect">
            <a:avLst/>
          </a:prstGeom>
        </p:spPr>
        <p:txBody>
          <a:bodyPr wrap="none">
            <a:spAutoFit/>
          </a:bodyPr>
          <a:lstStyle/>
          <a:p>
            <a:r>
              <a:rPr lang="es-ES" sz="2400" b="1" dirty="0">
                <a:solidFill>
                  <a:srgbClr val="0070C0"/>
                </a:solidFill>
              </a:rPr>
              <a:t>+3</a:t>
            </a:r>
          </a:p>
        </p:txBody>
      </p:sp>
    </p:spTree>
    <p:extLst>
      <p:ext uri="{BB962C8B-B14F-4D97-AF65-F5344CB8AC3E}">
        <p14:creationId xmlns:p14="http://schemas.microsoft.com/office/powerpoint/2010/main" val="20649442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54483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3" name="CuadroTexto 2"/>
              <p:cNvSpPr txBox="1"/>
              <p:nvPr/>
            </p:nvSpPr>
            <p:spPr>
              <a:xfrm>
                <a:off x="730024" y="1085073"/>
                <a:ext cx="10990907" cy="3933384"/>
              </a:xfrm>
              <a:prstGeom prst="rect">
                <a:avLst/>
              </a:prstGeom>
              <a:noFill/>
            </p:spPr>
            <p:txBody>
              <a:bodyPr wrap="square" rtlCol="0">
                <a:spAutoFit/>
              </a:bodyPr>
              <a:lstStyle/>
              <a:p>
                <a:pPr>
                  <a:lnSpc>
                    <a:spcPct val="130000"/>
                  </a:lnSpc>
                </a:pPr>
                <a:r>
                  <a:rPr lang="es-ES" sz="2400" b="1" dirty="0" smtClean="0">
                    <a:solidFill>
                      <a:srgbClr val="0070C0"/>
                    </a:solidFill>
                  </a:rPr>
                  <a:t>Término general:</a:t>
                </a:r>
              </a:p>
              <a:p>
                <a:pPr>
                  <a:lnSpc>
                    <a:spcPct val="130000"/>
                  </a:lnSpc>
                </a:pPr>
                <a:r>
                  <a:rPr lang="es-ES" sz="2400" dirty="0" smtClean="0"/>
                  <a:t>Nos fijamos en la progresión aritmética infinita: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 </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 …, </m:t>
                    </m:r>
                    <m:r>
                      <a:rPr lang="es-ES" sz="2400" b="0" i="1" smtClean="0">
                        <a:latin typeface="Cambria Math" panose="02040503050406030204" pitchFamily="18" charset="0"/>
                      </a:rPr>
                      <m:t>𝑎𝑛</m:t>
                    </m:r>
                    <m:r>
                      <a:rPr lang="es-ES" sz="2400" b="0" i="1" smtClean="0">
                        <a:latin typeface="Cambria Math" panose="02040503050406030204" pitchFamily="18" charset="0"/>
                      </a:rPr>
                      <m:t>, …</m:t>
                    </m:r>
                  </m:oMath>
                </a14:m>
                <a:r>
                  <a:rPr lang="es-ES" sz="2400" dirty="0" smtClean="0"/>
                  <a:t>. Según la definición, cada término es igual al anterior mas la diferencia:</a:t>
                </a: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m:t>
                      </m:r>
                      <m:r>
                        <a:rPr lang="es-ES" sz="2400" b="0" i="1" smtClean="0">
                          <a:latin typeface="Cambria Math" panose="02040503050406030204" pitchFamily="18" charset="0"/>
                        </a:rPr>
                        <m:t>𝑑</m:t>
                      </m:r>
                    </m:oMath>
                  </m:oMathPara>
                </a14:m>
                <a:endParaRPr lang="es-ES" sz="2400" b="0" dirty="0" smtClean="0"/>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3</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+2</m:t>
                      </m:r>
                      <m:r>
                        <a:rPr lang="es-ES" sz="2400" b="0" i="1" smtClean="0">
                          <a:latin typeface="Cambria Math" panose="02040503050406030204" pitchFamily="18" charset="0"/>
                        </a:rPr>
                        <m:t>𝑑</m:t>
                      </m:r>
                    </m:oMath>
                  </m:oMathPara>
                </a14:m>
                <a:endParaRPr lang="es-ES" sz="2400" b="0" dirty="0" smtClean="0"/>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4</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3</m:t>
                      </m:r>
                      <m:r>
                        <a:rPr lang="es-ES" sz="2400" b="0" i="1" smtClean="0">
                          <a:latin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+2</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+3</m:t>
                      </m:r>
                      <m:r>
                        <a:rPr lang="es-ES" sz="2400" b="0" i="1" smtClean="0">
                          <a:latin typeface="Cambria Math" panose="02040503050406030204" pitchFamily="18" charset="0"/>
                        </a:rPr>
                        <m:t>𝑑</m:t>
                      </m:r>
                    </m:oMath>
                  </m:oMathPara>
                </a14:m>
                <a:endParaRPr lang="es-ES" sz="2400" b="0" dirty="0" smtClean="0"/>
              </a:p>
              <a:p>
                <a:pPr>
                  <a:lnSpc>
                    <a:spcPct val="130000"/>
                  </a:lnSpc>
                </a:pPr>
                <a:r>
                  <a:rPr lang="es-ES" sz="2400" dirty="0" smtClean="0"/>
                  <a:t>Generalizando este proceso se obtiene el término general de la progresión aritmética:</a:t>
                </a: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𝑛</m:t>
                          </m:r>
                          <m:r>
                            <a:rPr lang="es-ES" sz="2400" b="0" i="1" smtClean="0">
                              <a:latin typeface="Cambria Math" panose="02040503050406030204" pitchFamily="18" charset="0"/>
                            </a:rPr>
                            <m:t>−1</m:t>
                          </m:r>
                        </m:e>
                      </m:d>
                      <m:r>
                        <a:rPr lang="es-ES" sz="2400" b="0" i="1" smtClean="0">
                          <a:latin typeface="Cambria Math" panose="02040503050406030204" pitchFamily="18" charset="0"/>
                        </a:rPr>
                        <m:t>𝑑</m:t>
                      </m:r>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730024" y="1085073"/>
                <a:ext cx="10990907" cy="3933384"/>
              </a:xfrm>
              <a:prstGeom prst="rect">
                <a:avLst/>
              </a:prstGeom>
              <a:blipFill rotWithShape="0">
                <a:blip r:embed="rId5"/>
                <a:stretch>
                  <a:fillRect l="-887"/>
                </a:stretch>
              </a:blipFill>
            </p:spPr>
            <p:txBody>
              <a:bodyPr/>
              <a:lstStyle/>
              <a:p>
                <a:r>
                  <a:rPr lang="es-ES">
                    <a:noFill/>
                  </a:rPr>
                  <a:t> </a:t>
                </a:r>
              </a:p>
            </p:txBody>
          </p:sp>
        </mc:Fallback>
      </mc:AlternateContent>
      <p:sp>
        <p:nvSpPr>
          <p:cNvPr id="37" name="Botón de acción: Personalizar 36">
            <a:hlinkClick r:id="" action="ppaction://noaction" highlightClick="1"/>
          </p:cNvPr>
          <p:cNvSpPr/>
          <p:nvPr/>
        </p:nvSpPr>
        <p:spPr>
          <a:xfrm>
            <a:off x="10226977" y="5418289"/>
            <a:ext cx="1589731" cy="492926"/>
          </a:xfrm>
          <a:prstGeom prst="actionButtonBlank">
            <a:avLst/>
          </a:prstGeom>
          <a:solidFill>
            <a:schemeClr val="accent1">
              <a:lumMod val="60000"/>
              <a:lumOff val="40000"/>
            </a:schemeClr>
          </a:solidFill>
          <a:scene3d>
            <a:camera prst="orthographicFront"/>
            <a:lightRig rig="threePt" dir="t"/>
          </a:scene3d>
          <a:sp3d>
            <a:bevelT w="127000"/>
            <a:bevelB w="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smtClean="0">
                <a:solidFill>
                  <a:srgbClr val="ED7D31"/>
                </a:solidFill>
                <a:latin typeface="AvantGarde"/>
              </a:rPr>
              <a:t>EJERCICIOS</a:t>
            </a:r>
            <a:endParaRPr lang="es-ES" b="1" dirty="0">
              <a:solidFill>
                <a:srgbClr val="ED7D31"/>
              </a:solidFill>
              <a:latin typeface="AvantGarde"/>
            </a:endParaRPr>
          </a:p>
        </p:txBody>
      </p:sp>
    </p:spTree>
    <p:extLst>
      <p:ext uri="{BB962C8B-B14F-4D97-AF65-F5344CB8AC3E}">
        <p14:creationId xmlns:p14="http://schemas.microsoft.com/office/powerpoint/2010/main" val="37763637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183103"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571140" y="1107196"/>
                <a:ext cx="11382999" cy="1902059"/>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Calcular el término general de la progresión aritmética: 5, 8, 11, 14,…..:</a:t>
                </a:r>
              </a:p>
              <a:p>
                <a:pPr>
                  <a:lnSpc>
                    <a:spcPct val="13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Como d=3,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=5+</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𝑛</m:t>
                        </m:r>
                        <m:r>
                          <a:rPr lang="es-ES" sz="2400" b="0" i="1" smtClean="0">
                            <a:latin typeface="Cambria Math" panose="02040503050406030204" pitchFamily="18" charset="0"/>
                          </a:rPr>
                          <m:t>−1</m:t>
                        </m:r>
                      </m:e>
                    </m:d>
                    <m:r>
                      <a:rPr lang="es-ES" sz="2400" b="0" i="1" smtClean="0">
                        <a:latin typeface="Cambria Math" panose="02040503050406030204" pitchFamily="18" charset="0"/>
                        <a:ea typeface="Cambria Math" panose="02040503050406030204" pitchFamily="18" charset="0"/>
                      </a:rPr>
                      <m:t>∙3=3</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+2</m:t>
                    </m:r>
                  </m:oMath>
                </a14:m>
                <a:endParaRPr lang="es-ES" sz="2400" dirty="0" smtClean="0"/>
              </a:p>
              <a:p>
                <a:endParaRPr lang="es-ES"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571140" y="1107196"/>
                <a:ext cx="11382999" cy="1902059"/>
              </a:xfrm>
              <a:prstGeom prst="rect">
                <a:avLst/>
              </a:prstGeom>
              <a:blipFill rotWithShape="0">
                <a:blip r:embed="rId5"/>
                <a:stretch>
                  <a:fillRect l="-7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571140" y="2818678"/>
                <a:ext cx="11382999" cy="1902059"/>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Hallar el primer término de una progresión aritmética sabiendo que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11</m:t>
                    </m:r>
                    <m:r>
                      <a:rPr lang="es-ES" sz="2400" b="0" i="1" smtClean="0">
                        <a:latin typeface="Cambria Math" panose="02040503050406030204" pitchFamily="18" charset="0"/>
                      </a:rPr>
                      <m:t>=35 </m:t>
                    </m:r>
                  </m:oMath>
                </a14:m>
                <a:r>
                  <a:rPr lang="es-ES" sz="2400" dirty="0" smtClean="0"/>
                  <a:t>y d=4</a:t>
                </a:r>
              </a:p>
              <a:p>
                <a:pPr>
                  <a:lnSpc>
                    <a:spcPct val="13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Escribamos,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11</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11−1</m:t>
                        </m:r>
                      </m:e>
                    </m:d>
                    <m:r>
                      <a:rPr lang="es-ES" sz="2400" b="0" i="1" smtClean="0">
                        <a:latin typeface="Cambria Math" panose="02040503050406030204" pitchFamily="18" charset="0"/>
                        <a:ea typeface="Cambria Math" panose="02040503050406030204" pitchFamily="18" charset="0"/>
                      </a:rPr>
                      <m:t>∙4=35</m:t>
                    </m:r>
                  </m:oMath>
                </a14:m>
                <a:r>
                  <a:rPr lang="es-ES" sz="2400" dirty="0" smtClean="0"/>
                  <a:t>, de donde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=35−40=−5</m:t>
                    </m:r>
                  </m:oMath>
                </a14:m>
                <a:endParaRPr lang="es-ES" sz="2400" dirty="0" smtClean="0"/>
              </a:p>
              <a:p>
                <a:endParaRPr lang="es-ES"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571140" y="2818678"/>
                <a:ext cx="11382999" cy="1902059"/>
              </a:xfrm>
              <a:prstGeom prst="rect">
                <a:avLst/>
              </a:prstGeom>
              <a:blipFill rotWithShape="0">
                <a:blip r:embed="rId6"/>
                <a:stretch>
                  <a:fillRect l="-7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564020" y="4477998"/>
                <a:ext cx="11382999" cy="2382191"/>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Hallar el octavo término de una progresión aritmética cuyo primer término es 3 y su diferencia 5</a:t>
                </a:r>
              </a:p>
              <a:p>
                <a:pPr>
                  <a:lnSpc>
                    <a:spcPct val="13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Como d=5,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8</m:t>
                    </m:r>
                    <m:r>
                      <a:rPr lang="es-ES" sz="2400" b="0" i="1" smtClean="0">
                        <a:latin typeface="Cambria Math" panose="02040503050406030204" pitchFamily="18" charset="0"/>
                      </a:rPr>
                      <m:t>=3+</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8−1</m:t>
                        </m:r>
                      </m:e>
                    </m:d>
                    <m:r>
                      <a:rPr lang="es-ES" sz="2400" b="0" i="1" smtClean="0">
                        <a:latin typeface="Cambria Math" panose="02040503050406030204" pitchFamily="18" charset="0"/>
                        <a:ea typeface="Cambria Math" panose="02040503050406030204" pitchFamily="18" charset="0"/>
                      </a:rPr>
                      <m:t>∙5=38</m:t>
                    </m:r>
                  </m:oMath>
                </a14:m>
                <a:endParaRPr lang="es-ES" sz="2400" dirty="0" smtClean="0"/>
              </a:p>
              <a:p>
                <a:endParaRPr lang="es-ES" sz="24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564020" y="4477998"/>
                <a:ext cx="11382999" cy="2382191"/>
              </a:xfrm>
              <a:prstGeom prst="rect">
                <a:avLst/>
              </a:prstGeom>
              <a:blipFill rotWithShape="0">
                <a:blip r:embed="rId7"/>
                <a:stretch>
                  <a:fillRect l="-750"/>
                </a:stretch>
              </a:blipFill>
            </p:spPr>
            <p:txBody>
              <a:bodyPr/>
              <a:lstStyle/>
              <a:p>
                <a:r>
                  <a:rPr lang="es-ES">
                    <a:noFill/>
                  </a:rPr>
                  <a:t> </a:t>
                </a:r>
              </a:p>
            </p:txBody>
          </p:sp>
        </mc:Fallback>
      </mc:AlternateContent>
    </p:spTree>
    <p:extLst>
      <p:ext uri="{BB962C8B-B14F-4D97-AF65-F5344CB8AC3E}">
        <p14:creationId xmlns:p14="http://schemas.microsoft.com/office/powerpoint/2010/main" val="574817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183103"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468588" y="961792"/>
                <a:ext cx="11382999" cy="2382191"/>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¿Cuántos términos tiene una progresión aritmética cuyo primer término es 15 y el último -90, si la diferencia es -3?</a:t>
                </a:r>
              </a:p>
              <a:p>
                <a:pPr>
                  <a:lnSpc>
                    <a:spcPct val="13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Como d=-3,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=−90=15+</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𝑛</m:t>
                        </m:r>
                        <m:r>
                          <a:rPr lang="es-ES" sz="2400" b="0" i="1" smtClean="0">
                            <a:latin typeface="Cambria Math" panose="02040503050406030204" pitchFamily="18" charset="0"/>
                          </a:rPr>
                          <m:t>−1</m:t>
                        </m:r>
                      </m:e>
                    </m:d>
                    <m:r>
                      <a:rPr lang="es-ES" sz="2400" b="0" i="1" smtClean="0">
                        <a:latin typeface="Cambria Math" panose="02040503050406030204" pitchFamily="18" charset="0"/>
                        <a:ea typeface="Cambria Math" panose="02040503050406030204" pitchFamily="18" charset="0"/>
                      </a:rPr>
                      <m:t>∙</m:t>
                    </m:r>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−3</m:t>
                        </m:r>
                      </m:e>
                    </m:d>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=36</m:t>
                    </m:r>
                  </m:oMath>
                </a14:m>
                <a:endParaRPr lang="es-ES" sz="2400" dirty="0" smtClean="0"/>
              </a:p>
              <a:p>
                <a:endParaRPr lang="es-ES"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68588" y="961792"/>
                <a:ext cx="11382999" cy="2382191"/>
              </a:xfrm>
              <a:prstGeom prst="rect">
                <a:avLst/>
              </a:prstGeom>
              <a:blipFill rotWithShape="0">
                <a:blip r:embed="rId5"/>
                <a:stretch>
                  <a:fillRect l="-7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468590" y="3075052"/>
                <a:ext cx="11382999" cy="1973104"/>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Hallar la diferencia de una progresión aritmética que consta de 12 términos siendo 6 el primero y 39 el último</a:t>
                </a:r>
              </a:p>
              <a:p>
                <a:pPr>
                  <a:lnSpc>
                    <a:spcPct val="13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Escribamos,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12</m:t>
                    </m:r>
                    <m:r>
                      <a:rPr lang="es-ES" sz="2400" b="0" i="1" smtClean="0">
                        <a:latin typeface="Cambria Math" panose="02040503050406030204" pitchFamily="18" charset="0"/>
                      </a:rPr>
                      <m:t>=39=6+</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12−1</m:t>
                        </m:r>
                      </m:e>
                    </m:d>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𝑑</m:t>
                    </m:r>
                  </m:oMath>
                </a14:m>
                <a:r>
                  <a:rPr lang="es-ES" sz="2400" dirty="0" smtClean="0"/>
                  <a:t>, de donde </a:t>
                </a:r>
                <a14:m>
                  <m:oMath xmlns:m="http://schemas.openxmlformats.org/officeDocument/2006/math">
                    <m:r>
                      <a:rPr lang="es-ES" sz="2400" b="0" i="1" smtClean="0">
                        <a:latin typeface="Cambria Math" panose="02040503050406030204" pitchFamily="18" charset="0"/>
                      </a:rPr>
                      <m:t>𝑑</m:t>
                    </m:r>
                    <m:r>
                      <a:rPr lang="es-ES" sz="2400" b="0" i="1" smtClean="0">
                        <a:latin typeface="Cambria Math" panose="02040503050406030204" pitchFamily="18" charset="0"/>
                      </a:rPr>
                      <m:t>=3</m:t>
                    </m:r>
                  </m:oMath>
                </a14:m>
                <a:endParaRPr lang="es-ES"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468590" y="3075052"/>
                <a:ext cx="11382999" cy="1973104"/>
              </a:xfrm>
              <a:prstGeom prst="rect">
                <a:avLst/>
              </a:prstGeom>
              <a:blipFill rotWithShape="0">
                <a:blip r:embed="rId6"/>
                <a:stretch>
                  <a:fillRect l="-750" r="-107" b="-6173"/>
                </a:stretch>
              </a:blipFill>
            </p:spPr>
            <p:txBody>
              <a:bodyPr/>
              <a:lstStyle/>
              <a:p>
                <a:r>
                  <a:rPr lang="es-ES">
                    <a:noFill/>
                  </a:rPr>
                  <a:t> </a:t>
                </a:r>
              </a:p>
            </p:txBody>
          </p:sp>
        </mc:Fallback>
      </mc:AlternateContent>
    </p:spTree>
    <p:extLst>
      <p:ext uri="{BB962C8B-B14F-4D97-AF65-F5344CB8AC3E}">
        <p14:creationId xmlns:p14="http://schemas.microsoft.com/office/powerpoint/2010/main" val="17483343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5763116"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Suma.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CuadroTexto 2"/>
          <p:cNvSpPr txBox="1"/>
          <p:nvPr/>
        </p:nvSpPr>
        <p:spPr>
          <a:xfrm>
            <a:off x="436204" y="1032847"/>
            <a:ext cx="11510263" cy="904863"/>
          </a:xfrm>
          <a:prstGeom prst="rect">
            <a:avLst/>
          </a:prstGeom>
          <a:noFill/>
        </p:spPr>
        <p:txBody>
          <a:bodyPr wrap="square" rtlCol="0">
            <a:spAutoFit/>
          </a:bodyPr>
          <a:lstStyle/>
          <a:p>
            <a:pPr>
              <a:lnSpc>
                <a:spcPct val="110000"/>
              </a:lnSpc>
            </a:pPr>
            <a:r>
              <a:rPr lang="es-ES" sz="2400" dirty="0" smtClean="0"/>
              <a:t>Veamos ahora como se suman los n primeros términos de una progresión aritmética. Para ello vamos a contar la famosa </a:t>
            </a:r>
            <a:r>
              <a:rPr lang="es-ES" sz="2400" dirty="0" smtClean="0">
                <a:solidFill>
                  <a:srgbClr val="0070C0"/>
                </a:solidFill>
              </a:rPr>
              <a:t>anécdota de Gauss</a:t>
            </a:r>
            <a:r>
              <a:rPr lang="es-ES" sz="2400" dirty="0" smtClean="0"/>
              <a:t>:</a:t>
            </a:r>
            <a:endParaRPr lang="es-ES" sz="2400" dirty="0"/>
          </a:p>
        </p:txBody>
      </p:sp>
      <p:pic>
        <p:nvPicPr>
          <p:cNvPr id="12" name="Imagen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845" y="2647198"/>
            <a:ext cx="2356312" cy="2120681"/>
          </a:xfrm>
          <a:prstGeom prst="rect">
            <a:avLst/>
          </a:prstGeom>
        </p:spPr>
      </p:pic>
      <p:sp>
        <p:nvSpPr>
          <p:cNvPr id="13" name="CuadroTexto 12"/>
          <p:cNvSpPr txBox="1"/>
          <p:nvPr/>
        </p:nvSpPr>
        <p:spPr>
          <a:xfrm>
            <a:off x="3041584" y="2036313"/>
            <a:ext cx="9150416" cy="2936188"/>
          </a:xfrm>
          <a:prstGeom prst="rect">
            <a:avLst/>
          </a:prstGeom>
          <a:noFill/>
        </p:spPr>
        <p:txBody>
          <a:bodyPr wrap="square" rtlCol="0">
            <a:spAutoFit/>
          </a:bodyPr>
          <a:lstStyle/>
          <a:p>
            <a:pPr algn="just">
              <a:lnSpc>
                <a:spcPct val="110000"/>
              </a:lnSpc>
            </a:pPr>
            <a:r>
              <a:rPr lang="es-ES" sz="2400" i="1" dirty="0" smtClean="0"/>
              <a:t>“… Tenía Gauss 10 años cuando un día en la escuela primaria el profesor manda sumar los cien primeros números naturales. El maestro quería unos minutos de tranquilidad…. pero transcurrido pocos segundos Gauss levanta la mano y dice tener la solución: los cien primeros números naturales suman 5.050. Y efectivamente es </a:t>
            </a:r>
            <a:r>
              <a:rPr lang="es-ES" sz="2400" i="1" dirty="0" err="1" smtClean="0"/>
              <a:t>asi</a:t>
            </a:r>
            <a:r>
              <a:rPr lang="es-ES" sz="2400" i="1" dirty="0" smtClean="0"/>
              <a:t>. ¿Cómo lo hizo Gauss?, mentalmente se dio cuenta de que la suma del primer término con el último , del segundo con el penúltimo, etc., era constante:”</a:t>
            </a:r>
            <a:endParaRPr lang="es-ES" sz="2400" i="1" dirty="0"/>
          </a:p>
        </p:txBody>
      </p:sp>
    </p:spTree>
    <p:extLst>
      <p:ext uri="{BB962C8B-B14F-4D97-AF65-F5344CB8AC3E}">
        <p14:creationId xmlns:p14="http://schemas.microsoft.com/office/powerpoint/2010/main" val="39339680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5763116"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Suma.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3" name="CuadroTexto 2"/>
              <p:cNvSpPr txBox="1"/>
              <p:nvPr/>
            </p:nvSpPr>
            <p:spPr>
              <a:xfrm>
                <a:off x="866295" y="3433830"/>
                <a:ext cx="11510263" cy="1981248"/>
              </a:xfrm>
              <a:prstGeom prst="rect">
                <a:avLst/>
              </a:prstGeom>
              <a:noFill/>
            </p:spPr>
            <p:txBody>
              <a:bodyPr wrap="square" rtlCol="0">
                <a:spAutoFit/>
              </a:bodyPr>
              <a:lstStyle/>
              <a:p>
                <a:pPr>
                  <a:lnSpc>
                    <a:spcPct val="130000"/>
                  </a:lnSpc>
                </a:pPr>
                <a:r>
                  <a:rPr lang="es-ES" sz="2400" dirty="0" smtClean="0"/>
                  <a:t>Gauss había deducido la fórmula que da la suma de los n primeros términos de una progresión aritmética de la que se conocen el primer y el último término:</a:t>
                </a: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𝑆</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m:t>
                              </m:r>
                              <m:r>
                                <a:rPr lang="es-ES" sz="2400" b="0" i="1" smtClean="0">
                                  <a:latin typeface="Cambria Math" panose="02040503050406030204" pitchFamily="18" charset="0"/>
                                </a:rPr>
                                <m:t>𝑎𝑛</m:t>
                              </m:r>
                            </m:e>
                          </m:d>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𝑛</m:t>
                          </m:r>
                        </m:num>
                        <m:den>
                          <m:r>
                            <a:rPr lang="es-ES" sz="2400" b="0" i="1" smtClean="0">
                              <a:latin typeface="Cambria Math" panose="02040503050406030204" pitchFamily="18" charset="0"/>
                            </a:rPr>
                            <m:t>2</m:t>
                          </m:r>
                        </m:den>
                      </m:f>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866295" y="3433830"/>
                <a:ext cx="11510263" cy="1981248"/>
              </a:xfrm>
              <a:prstGeom prst="rect">
                <a:avLst/>
              </a:prstGeom>
              <a:blipFill rotWithShape="0">
                <a:blip r:embed="rId5"/>
                <a:stretch>
                  <a:fillRect l="-794"/>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4" name="CuadroTexto 13"/>
              <p:cNvSpPr txBox="1"/>
              <p:nvPr/>
            </p:nvSpPr>
            <p:spPr>
              <a:xfrm flipH="1">
                <a:off x="773587" y="1192105"/>
                <a:ext cx="11330450" cy="1532727"/>
              </a:xfrm>
              <a:prstGeom prst="rect">
                <a:avLst/>
              </a:prstGeom>
              <a:noFill/>
            </p:spPr>
            <p:txBody>
              <a:bodyPr wrap="square" rtlCol="0">
                <a:spAutoFit/>
              </a:bodyPr>
              <a:lstStyle/>
              <a:p>
                <a:pPr>
                  <a:lnSpc>
                    <a:spcPct val="130000"/>
                  </a:lnSpc>
                </a:pPr>
                <a:r>
                  <a:rPr lang="es-ES" sz="2400" dirty="0" smtClean="0"/>
                  <a:t>Si cogemos la sucesión: 1, 2, 3,…, 98, 99, 100 y hacemos las sumas:</a:t>
                </a:r>
              </a:p>
              <a:p>
                <a:pPr>
                  <a:lnSpc>
                    <a:spcPct val="130000"/>
                  </a:lnSpc>
                </a:pPr>
                <a14:m>
                  <m:oMathPara xmlns:m="http://schemas.openxmlformats.org/officeDocument/2006/math">
                    <m:oMathParaPr>
                      <m:jc m:val="centerGroup"/>
                    </m:oMathParaPr>
                    <m:oMath xmlns:m="http://schemas.openxmlformats.org/officeDocument/2006/math">
                      <m:r>
                        <m:rPr>
                          <m:nor/>
                        </m:rPr>
                        <a:rPr lang="es-ES" sz="2400" dirty="0"/>
                        <m:t>100+1=99+2=98+3=…=101</m:t>
                      </m:r>
                    </m:oMath>
                  </m:oMathPara>
                </a14:m>
                <a:endParaRPr lang="es-ES" sz="2400" dirty="0" smtClean="0"/>
              </a:p>
              <a:p>
                <a:pPr>
                  <a:lnSpc>
                    <a:spcPct val="130000"/>
                  </a:lnSpc>
                </a:pPr>
                <a:r>
                  <a:rPr lang="es-ES" sz="2400" dirty="0" smtClean="0"/>
                  <a:t>Se obtienen 50 pares que suman 101, luego </a:t>
                </a:r>
                <a14:m>
                  <m:oMath xmlns:m="http://schemas.openxmlformats.org/officeDocument/2006/math">
                    <m:r>
                      <a:rPr lang="es-ES" sz="2400" b="0" i="0" dirty="0" smtClean="0">
                        <a:latin typeface="Cambria Math" panose="02040503050406030204" pitchFamily="18" charset="0"/>
                      </a:rPr>
                      <m:t>101</m:t>
                    </m:r>
                    <m:r>
                      <a:rPr lang="es-ES" sz="2400" b="0" i="1" dirty="0" smtClean="0">
                        <a:latin typeface="Cambria Math" panose="02040503050406030204" pitchFamily="18" charset="0"/>
                        <a:ea typeface="Cambria Math" panose="02040503050406030204" pitchFamily="18" charset="0"/>
                      </a:rPr>
                      <m:t>∙50=5050</m:t>
                    </m:r>
                  </m:oMath>
                </a14:m>
                <a:endParaRPr lang="es-ES" sz="2400" dirty="0" smtClean="0"/>
              </a:p>
            </p:txBody>
          </p:sp>
        </mc:Choice>
        <mc:Fallback>
          <p:sp>
            <p:nvSpPr>
              <p:cNvPr id="14" name="CuadroTexto 13"/>
              <p:cNvSpPr txBox="1">
                <a:spLocks noRot="1" noChangeAspect="1" noMove="1" noResize="1" noEditPoints="1" noAdjustHandles="1" noChangeArrowheads="1" noChangeShapeType="1" noTextEdit="1"/>
              </p:cNvSpPr>
              <p:nvPr/>
            </p:nvSpPr>
            <p:spPr>
              <a:xfrm flipH="1">
                <a:off x="773587" y="1192105"/>
                <a:ext cx="11330450" cy="1532727"/>
              </a:xfrm>
              <a:prstGeom prst="rect">
                <a:avLst/>
              </a:prstGeom>
              <a:blipFill rotWithShape="0">
                <a:blip r:embed="rId6"/>
                <a:stretch>
                  <a:fillRect l="-861" b="-5976"/>
                </a:stretch>
              </a:blipFill>
            </p:spPr>
            <p:txBody>
              <a:bodyPr/>
              <a:lstStyle/>
              <a:p>
                <a:r>
                  <a:rPr lang="es-ES">
                    <a:noFill/>
                  </a:rPr>
                  <a:t> </a:t>
                </a:r>
              </a:p>
            </p:txBody>
          </p:sp>
        </mc:Fallback>
      </mc:AlternateContent>
    </p:spTree>
    <p:extLst>
      <p:ext uri="{BB962C8B-B14F-4D97-AF65-F5344CB8AC3E}">
        <p14:creationId xmlns:p14="http://schemas.microsoft.com/office/powerpoint/2010/main" val="24328897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726192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Suma. Ejemplos.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14" name="CuadroTexto 13"/>
          <p:cNvSpPr txBox="1"/>
          <p:nvPr/>
        </p:nvSpPr>
        <p:spPr>
          <a:xfrm flipH="1">
            <a:off x="354645" y="925949"/>
            <a:ext cx="11837355" cy="1532727"/>
          </a:xfrm>
          <a:prstGeom prst="rect">
            <a:avLst/>
          </a:prstGeom>
          <a:noFill/>
        </p:spPr>
        <p:txBody>
          <a:bodyPr wrap="square" rtlCol="0">
            <a:spAutoFit/>
          </a:bodyPr>
          <a:lstStyle/>
          <a:p>
            <a:pPr marL="342900" indent="-342900" algn="just">
              <a:lnSpc>
                <a:spcPct val="130000"/>
              </a:lnSpc>
              <a:buClr>
                <a:srgbClr val="0070C0"/>
              </a:buClr>
              <a:buFont typeface="Wingdings" panose="05000000000000000000" pitchFamily="2" charset="2"/>
              <a:buChar char="q"/>
            </a:pPr>
            <a:r>
              <a:rPr lang="es-ES" sz="2400" dirty="0" smtClean="0"/>
              <a:t>En una progresión aritmética, cuyo primer término es 67 y cuya diferencia es -6, la suma de los n primeros términos es 408, ¿Cuántos términos forman la progresión y cual es el último? </a:t>
            </a:r>
          </a:p>
        </p:txBody>
      </p:sp>
      <p:sp>
        <p:nvSpPr>
          <p:cNvPr id="3" name="Rectángulo 2"/>
          <p:cNvSpPr/>
          <p:nvPr/>
        </p:nvSpPr>
        <p:spPr>
          <a:xfrm>
            <a:off x="651858" y="2292634"/>
            <a:ext cx="6096000" cy="533672"/>
          </a:xfrm>
          <a:prstGeom prst="rect">
            <a:avLst/>
          </a:prstGeom>
        </p:spPr>
        <p:txBody>
          <a:bodyPr>
            <a:spAutoFit/>
          </a:bodyPr>
          <a:lstStyle/>
          <a:p>
            <a:pPr>
              <a:lnSpc>
                <a:spcPct val="130000"/>
              </a:lnSpc>
              <a:buClr>
                <a:srgbClr val="0070C0"/>
              </a:buClr>
            </a:pPr>
            <a:r>
              <a:rPr lang="es-ES" sz="2400" b="1" dirty="0" smtClean="0">
                <a:solidFill>
                  <a:srgbClr val="0070C0"/>
                </a:solidFill>
              </a:rPr>
              <a:t>Solución</a:t>
            </a:r>
            <a:r>
              <a:rPr lang="es-ES" sz="2400" b="1" dirty="0">
                <a:solidFill>
                  <a:srgbClr val="0070C0"/>
                </a:solidFill>
              </a:rPr>
              <a:t>:</a:t>
            </a:r>
          </a:p>
        </p:txBody>
      </p:sp>
      <p:sp>
        <p:nvSpPr>
          <p:cNvPr id="4" name="CuadroTexto 3"/>
          <p:cNvSpPr txBox="1"/>
          <p:nvPr/>
        </p:nvSpPr>
        <p:spPr>
          <a:xfrm>
            <a:off x="651858" y="2826217"/>
            <a:ext cx="4989186" cy="461665"/>
          </a:xfrm>
          <a:prstGeom prst="rect">
            <a:avLst/>
          </a:prstGeom>
          <a:noFill/>
        </p:spPr>
        <p:txBody>
          <a:bodyPr wrap="none" rtlCol="0">
            <a:spAutoFit/>
          </a:bodyPr>
          <a:lstStyle/>
          <a:p>
            <a:r>
              <a:rPr lang="es-ES" sz="2400" dirty="0" smtClean="0"/>
              <a:t>Expresemos los datos que conocemos:</a:t>
            </a:r>
            <a:endParaRPr lang="es-ES" sz="2400" dirty="0"/>
          </a:p>
        </p:txBody>
      </p:sp>
      <mc:AlternateContent xmlns:mc="http://schemas.openxmlformats.org/markup-compatibility/2006" xmlns:a14="http://schemas.microsoft.com/office/drawing/2010/main">
        <mc:Choice Requires="a14">
          <p:sp>
            <p:nvSpPr>
              <p:cNvPr id="7" name="CuadroTexto 6"/>
              <p:cNvSpPr txBox="1"/>
              <p:nvPr/>
            </p:nvSpPr>
            <p:spPr>
              <a:xfrm>
                <a:off x="1119910" y="3287882"/>
                <a:ext cx="9834807" cy="15484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sz="2400" i="1" smtClean="0">
                              <a:latin typeface="Cambria Math" panose="02040503050406030204" pitchFamily="18" charset="0"/>
                            </a:rPr>
                          </m:ctrlPr>
                        </m:dPr>
                        <m:e>
                          <m:eqArr>
                            <m:eqArrPr>
                              <m:ctrlPr>
                                <a:rPr lang="es-ES" sz="2400" b="0" i="1" smtClean="0">
                                  <a:latin typeface="Cambria Math" panose="02040503050406030204" pitchFamily="18" charset="0"/>
                                </a:rPr>
                              </m:ctrlPr>
                            </m:eqArrPr>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𝑛</m:t>
                                  </m:r>
                                  <m:r>
                                    <a:rPr lang="es-ES" sz="2400" b="0" i="1" smtClean="0">
                                      <a:latin typeface="Cambria Math" panose="02040503050406030204" pitchFamily="18" charset="0"/>
                                    </a:rPr>
                                    <m:t>−1</m:t>
                                  </m:r>
                                </m:e>
                              </m:d>
                              <m:r>
                                <a:rPr lang="es-ES" sz="2400" b="0" i="1" smtClean="0">
                                  <a:latin typeface="Cambria Math" panose="02040503050406030204" pitchFamily="18" charset="0"/>
                                </a:rPr>
                                <m:t>𝑑</m:t>
                              </m:r>
                            </m:e>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f>
                                <m:fPr>
                                  <m:ctrlPr>
                                    <a:rPr lang="es-ES" sz="2400" i="1">
                                      <a:latin typeface="Cambria Math" panose="02040503050406030204" pitchFamily="18" charset="0"/>
                                    </a:rPr>
                                  </m:ctrlPr>
                                </m:fPr>
                                <m:num>
                                  <m:d>
                                    <m:dPr>
                                      <m:ctrlPr>
                                        <a:rPr lang="es-ES" sz="2400" i="1">
                                          <a:latin typeface="Cambria Math" panose="02040503050406030204" pitchFamily="18" charset="0"/>
                                        </a:rPr>
                                      </m:ctrlPr>
                                    </m:dPr>
                                    <m:e>
                                      <m:r>
                                        <a:rPr lang="es-ES" sz="2400" i="1">
                                          <a:latin typeface="Cambria Math" panose="02040503050406030204" pitchFamily="18" charset="0"/>
                                        </a:rPr>
                                        <m:t>𝑎</m:t>
                                      </m:r>
                                      <m:r>
                                        <a:rPr lang="es-ES" sz="2400" i="1" baseline="-25000">
                                          <a:latin typeface="Cambria Math" panose="02040503050406030204" pitchFamily="18" charset="0"/>
                                        </a:rPr>
                                        <m:t>1</m:t>
                                      </m:r>
                                      <m:r>
                                        <a:rPr lang="es-ES" sz="2400" i="1">
                                          <a:latin typeface="Cambria Math" panose="02040503050406030204" pitchFamily="18" charset="0"/>
                                        </a:rPr>
                                        <m:t>+</m:t>
                                      </m:r>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e>
                                  </m:d>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rPr>
                                    <m:t>𝑛</m:t>
                                  </m:r>
                                </m:num>
                                <m:den>
                                  <m:r>
                                    <a:rPr lang="es-ES" sz="2400" i="1">
                                      <a:latin typeface="Cambria Math" panose="02040503050406030204" pitchFamily="18" charset="0"/>
                                    </a:rPr>
                                    <m:t>2</m:t>
                                  </m:r>
                                </m:den>
                              </m:f>
                            </m:e>
                          </m:eqArr>
                        </m:e>
                      </m:d>
                      <m:r>
                        <a:rPr lang="es-ES" sz="2400" i="1" smtClean="0">
                          <a:latin typeface="Cambria Math" panose="02040503050406030204" pitchFamily="18" charset="0"/>
                          <a:ea typeface="Cambria Math" panose="02040503050406030204" pitchFamily="18" charset="0"/>
                        </a:rPr>
                        <m:t>⇔</m:t>
                      </m:r>
                      <m:d>
                        <m:dPr>
                          <m:begChr m:val=""/>
                          <m:endChr m:val="}"/>
                          <m:ctrlPr>
                            <a:rPr lang="es-ES" sz="2400" i="1" smtClean="0">
                              <a:latin typeface="Cambria Math" panose="02040503050406030204" pitchFamily="18" charset="0"/>
                              <a:ea typeface="Cambria Math" panose="02040503050406030204" pitchFamily="18" charset="0"/>
                            </a:rPr>
                          </m:ctrlPr>
                        </m:dPr>
                        <m:e>
                          <m:eqArr>
                            <m:eqArrPr>
                              <m:ctrlPr>
                                <a:rPr lang="es-ES" sz="2400" i="1" smtClean="0">
                                  <a:latin typeface="Cambria Math" panose="02040503050406030204" pitchFamily="18" charset="0"/>
                                  <a:ea typeface="Cambria Math" panose="02040503050406030204" pitchFamily="18" charset="0"/>
                                </a:rPr>
                              </m:ctrlPr>
                            </m:eqArrPr>
                            <m:e>
                              <m:sSub>
                                <m:sSubPr>
                                  <m:ctrlPr>
                                    <a:rPr lang="es-ES" sz="240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=67+(</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−1)(−6)</m:t>
                              </m:r>
                            </m:e>
                            <m:e>
                              <m:r>
                                <a:rPr lang="es-ES" sz="2400" b="0" i="1" smtClean="0">
                                  <a:latin typeface="Cambria Math" panose="02040503050406030204" pitchFamily="18" charset="0"/>
                                  <a:ea typeface="Cambria Math" panose="02040503050406030204" pitchFamily="18" charset="0"/>
                                </a:rPr>
                                <m:t>408=</m:t>
                              </m:r>
                              <m:f>
                                <m:fPr>
                                  <m:ctrlPr>
                                    <a:rPr lang="es-ES" sz="2400" b="0" i="1" smtClean="0">
                                      <a:latin typeface="Cambria Math" panose="02040503050406030204" pitchFamily="18" charset="0"/>
                                      <a:ea typeface="Cambria Math" panose="02040503050406030204" pitchFamily="18" charset="0"/>
                                    </a:rPr>
                                  </m:ctrlPr>
                                </m:fPr>
                                <m:num>
                                  <m:r>
                                    <a:rPr lang="es-ES" sz="2400" b="0" i="1" smtClean="0">
                                      <a:latin typeface="Cambria Math" panose="02040503050406030204" pitchFamily="18" charset="0"/>
                                      <a:ea typeface="Cambria Math" panose="02040503050406030204" pitchFamily="18" charset="0"/>
                                    </a:rPr>
                                    <m:t>(67+</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𝑛</m:t>
                                  </m:r>
                                </m:num>
                                <m:den>
                                  <m:r>
                                    <a:rPr lang="es-ES" sz="2400" b="0" i="1" smtClean="0">
                                      <a:latin typeface="Cambria Math" panose="02040503050406030204" pitchFamily="18" charset="0"/>
                                      <a:ea typeface="Cambria Math" panose="02040503050406030204" pitchFamily="18" charset="0"/>
                                    </a:rPr>
                                    <m:t>2</m:t>
                                  </m:r>
                                </m:den>
                              </m:f>
                            </m:e>
                          </m:eqArr>
                        </m:e>
                      </m:d>
                      <m:r>
                        <a:rPr lang="es-ES" sz="2400" i="1" smtClean="0">
                          <a:latin typeface="Cambria Math" panose="02040503050406030204" pitchFamily="18" charset="0"/>
                          <a:ea typeface="Cambria Math" panose="02040503050406030204" pitchFamily="18" charset="0"/>
                        </a:rPr>
                        <m:t>⇔</m:t>
                      </m:r>
                      <m:d>
                        <m:dPr>
                          <m:begChr m:val=""/>
                          <m:endChr m:val="}"/>
                          <m:ctrlPr>
                            <a:rPr lang="es-ES" sz="2400" i="1" smtClean="0">
                              <a:latin typeface="Cambria Math" panose="02040503050406030204" pitchFamily="18" charset="0"/>
                              <a:ea typeface="Cambria Math" panose="02040503050406030204" pitchFamily="18" charset="0"/>
                            </a:rPr>
                          </m:ctrlPr>
                        </m:dPr>
                        <m:e>
                          <m:eqArr>
                            <m:eqArrPr>
                              <m:ctrlPr>
                                <a:rPr lang="es-ES" sz="2400" b="0" i="1" smtClean="0">
                                  <a:latin typeface="Cambria Math" panose="02040503050406030204" pitchFamily="18" charset="0"/>
                                  <a:ea typeface="Cambria Math" panose="02040503050406030204" pitchFamily="18" charset="0"/>
                                </a:rPr>
                              </m:ctrlPr>
                            </m:eqArrPr>
                            <m:e>
                              <m:r>
                                <a:rPr lang="es-ES" sz="2400" b="0" i="1" smtClean="0">
                                  <a:latin typeface="Cambria Math" panose="02040503050406030204" pitchFamily="18" charset="0"/>
                                  <a:ea typeface="Cambria Math" panose="02040503050406030204" pitchFamily="18" charset="0"/>
                                </a:rPr>
                                <m:t>6</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=73</m:t>
                              </m:r>
                            </m:e>
                            <m:e>
                              <m:r>
                                <a:rPr lang="es-ES" sz="2400" b="0" i="1" smtClean="0">
                                  <a:latin typeface="Cambria Math" panose="02040503050406030204" pitchFamily="18" charset="0"/>
                                  <a:ea typeface="Cambria Math" panose="02040503050406030204" pitchFamily="18" charset="0"/>
                                </a:rPr>
                                <m:t>𝑛</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+67</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=816</m:t>
                              </m:r>
                            </m:e>
                          </m:eqArr>
                        </m:e>
                      </m:d>
                      <m:r>
                        <a:rPr lang="es-ES" sz="2400" i="1" smtClean="0">
                          <a:latin typeface="Cambria Math" panose="02040503050406030204" pitchFamily="18" charset="0"/>
                          <a:ea typeface="Cambria Math" panose="02040503050406030204" pitchFamily="18" charset="0"/>
                        </a:rPr>
                        <m:t>⇒</m:t>
                      </m:r>
                    </m:oMath>
                  </m:oMathPara>
                </a14:m>
                <a:endParaRPr lang="es-ES" sz="2400" i="1" dirty="0" smtClean="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ES" sz="2400" b="0" i="1" smtClean="0">
                          <a:latin typeface="Cambria Math" panose="02040503050406030204" pitchFamily="18" charset="0"/>
                          <a:ea typeface="Cambria Math" panose="02040503050406030204" pitchFamily="18" charset="0"/>
                        </a:rPr>
                        <m:t>      ⇒6</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𝑛</m:t>
                          </m:r>
                        </m:e>
                        <m:sup>
                          <m:r>
                            <a:rPr lang="es-ES" sz="2400" b="0" i="1" smtClean="0">
                              <a:latin typeface="Cambria Math" panose="02040503050406030204" pitchFamily="18" charset="0"/>
                              <a:ea typeface="Cambria Math" panose="02040503050406030204" pitchFamily="18" charset="0"/>
                            </a:rPr>
                            <m:t>2</m:t>
                          </m:r>
                        </m:sup>
                      </m:sSup>
                      <m:r>
                        <a:rPr lang="es-ES" sz="2400" b="0" i="1" smtClean="0">
                          <a:latin typeface="Cambria Math" panose="02040503050406030204" pitchFamily="18" charset="0"/>
                          <a:ea typeface="Cambria Math" panose="02040503050406030204" pitchFamily="18" charset="0"/>
                        </a:rPr>
                        <m:t>−140</m:t>
                      </m:r>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+816=0</m:t>
                      </m:r>
                    </m:oMath>
                  </m:oMathPara>
                </a14:m>
                <a:endParaRPr lang="es-ES"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1119910" y="3287882"/>
                <a:ext cx="9834807" cy="1548437"/>
              </a:xfrm>
              <a:prstGeom prst="rect">
                <a:avLst/>
              </a:prstGeom>
              <a:blipFill rotWithShape="0">
                <a:blip r:embed="rId5"/>
                <a:stretch>
                  <a:fillRect l="-62" b="-11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39016" y="5120640"/>
                <a:ext cx="11521440" cy="830997"/>
              </a:xfrm>
              <a:prstGeom prst="rect">
                <a:avLst/>
              </a:prstGeom>
              <a:noFill/>
            </p:spPr>
            <p:txBody>
              <a:bodyPr wrap="square" rtlCol="0">
                <a:spAutoFit/>
              </a:bodyPr>
              <a:lstStyle/>
              <a:p>
                <a:r>
                  <a:rPr lang="es-ES" sz="2400" dirty="0" smtClean="0"/>
                  <a:t>Resolviendo este ecuación de segundo grado se obtiene </a:t>
                </a:r>
                <a14:m>
                  <m:oMath xmlns:m="http://schemas.openxmlformats.org/officeDocument/2006/math">
                    <m:r>
                      <a:rPr lang="es-ES" sz="2400" b="0" i="1" smtClean="0">
                        <a:latin typeface="Cambria Math" panose="02040503050406030204" pitchFamily="18" charset="0"/>
                      </a:rPr>
                      <m:t>𝑛</m:t>
                    </m:r>
                    <m:r>
                      <a:rPr lang="es-ES" sz="2400" b="0" i="1" smtClean="0">
                        <a:latin typeface="Cambria Math" panose="02040503050406030204" pitchFamily="18" charset="0"/>
                      </a:rPr>
                      <m:t>=12</m:t>
                    </m:r>
                  </m:oMath>
                </a14:m>
                <a:r>
                  <a:rPr lang="es-ES" sz="2400" dirty="0" smtClean="0"/>
                  <a:t>  y  </a:t>
                </a:r>
                <a14:m>
                  <m:oMath xmlns:m="http://schemas.openxmlformats.org/officeDocument/2006/math">
                    <m:r>
                      <a:rPr lang="es-ES" sz="2400" b="0" i="1" smtClean="0">
                        <a:latin typeface="Cambria Math" panose="02040503050406030204" pitchFamily="18" charset="0"/>
                      </a:rPr>
                      <m:t>𝑛</m:t>
                    </m:r>
                    <m:r>
                      <a:rPr lang="es-ES" sz="2400" b="0" i="1" smtClean="0">
                        <a:latin typeface="Cambria Math" panose="02040503050406030204" pitchFamily="18" charset="0"/>
                      </a:rPr>
                      <m:t>=34/3</m:t>
                    </m:r>
                  </m:oMath>
                </a14:m>
                <a:r>
                  <a:rPr lang="es-ES" sz="2400" dirty="0" smtClean="0"/>
                  <a:t> que no tiene sentido. Luego:  </a:t>
                </a:r>
                <a14:m>
                  <m:oMath xmlns:m="http://schemas.openxmlformats.org/officeDocument/2006/math">
                    <m:r>
                      <a:rPr lang="es-ES" sz="2400" b="1" i="1" smtClean="0">
                        <a:solidFill>
                          <a:srgbClr val="ED7D31"/>
                        </a:solidFill>
                        <a:latin typeface="Cambria Math" panose="02040503050406030204" pitchFamily="18" charset="0"/>
                      </a:rPr>
                      <m:t>𝒏</m:t>
                    </m:r>
                    <m:r>
                      <a:rPr lang="es-ES" sz="2400" b="1" i="1" smtClean="0">
                        <a:solidFill>
                          <a:srgbClr val="ED7D31"/>
                        </a:solidFill>
                        <a:latin typeface="Cambria Math" panose="02040503050406030204" pitchFamily="18" charset="0"/>
                      </a:rPr>
                      <m:t>=</m:t>
                    </m:r>
                    <m:r>
                      <a:rPr lang="es-ES" sz="2400" b="1" i="1" smtClean="0">
                        <a:solidFill>
                          <a:srgbClr val="ED7D31"/>
                        </a:solidFill>
                        <a:latin typeface="Cambria Math" panose="02040503050406030204" pitchFamily="18" charset="0"/>
                      </a:rPr>
                      <m:t>𝟏𝟐</m:t>
                    </m:r>
                  </m:oMath>
                </a14:m>
                <a:r>
                  <a:rPr lang="es-ES" sz="2400" b="1" dirty="0" smtClean="0">
                    <a:solidFill>
                      <a:srgbClr val="ED7D31"/>
                    </a:solidFill>
                  </a:rPr>
                  <a:t>  </a:t>
                </a:r>
                <a:r>
                  <a:rPr lang="es-ES" sz="2400" dirty="0" smtClean="0"/>
                  <a:t>y  </a:t>
                </a:r>
                <a14:m>
                  <m:oMath xmlns:m="http://schemas.openxmlformats.org/officeDocument/2006/math">
                    <m:sSub>
                      <m:sSubPr>
                        <m:ctrlPr>
                          <a:rPr lang="es-ES" sz="2400" b="1" i="1" smtClean="0">
                            <a:solidFill>
                              <a:srgbClr val="ED7D31"/>
                            </a:solidFill>
                            <a:latin typeface="Cambria Math" panose="02040503050406030204" pitchFamily="18" charset="0"/>
                          </a:rPr>
                        </m:ctrlPr>
                      </m:sSubPr>
                      <m:e>
                        <m:r>
                          <a:rPr lang="es-ES" sz="2400" b="1" i="1" smtClean="0">
                            <a:solidFill>
                              <a:srgbClr val="ED7D31"/>
                            </a:solidFill>
                            <a:latin typeface="Cambria Math" panose="02040503050406030204" pitchFamily="18" charset="0"/>
                          </a:rPr>
                          <m:t>𝒂</m:t>
                        </m:r>
                      </m:e>
                      <m:sub>
                        <m:r>
                          <a:rPr lang="es-ES" sz="2400" b="1" i="1" smtClean="0">
                            <a:solidFill>
                              <a:srgbClr val="ED7D31"/>
                            </a:solidFill>
                            <a:latin typeface="Cambria Math" panose="02040503050406030204" pitchFamily="18" charset="0"/>
                          </a:rPr>
                          <m:t>𝒏</m:t>
                        </m:r>
                      </m:sub>
                    </m:sSub>
                    <m:r>
                      <a:rPr lang="es-ES" sz="2400" b="1" i="1" smtClean="0">
                        <a:solidFill>
                          <a:srgbClr val="ED7D31"/>
                        </a:solidFill>
                        <a:latin typeface="Cambria Math" panose="02040503050406030204" pitchFamily="18" charset="0"/>
                      </a:rPr>
                      <m:t>=</m:t>
                    </m:r>
                    <m:r>
                      <a:rPr lang="es-ES" sz="2400" b="1" i="1" smtClean="0">
                        <a:solidFill>
                          <a:srgbClr val="ED7D31"/>
                        </a:solidFill>
                        <a:latin typeface="Cambria Math" panose="02040503050406030204" pitchFamily="18" charset="0"/>
                      </a:rPr>
                      <m:t>𝟏</m:t>
                    </m:r>
                  </m:oMath>
                </a14:m>
                <a:endParaRPr lang="es-ES" sz="2400" b="1" dirty="0">
                  <a:solidFill>
                    <a:srgbClr val="ED7D31"/>
                  </a:solidFill>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539016" y="5120640"/>
                <a:ext cx="11521440" cy="830997"/>
              </a:xfrm>
              <a:prstGeom prst="rect">
                <a:avLst/>
              </a:prstGeom>
              <a:blipFill rotWithShape="0">
                <a:blip r:embed="rId6"/>
                <a:stretch>
                  <a:fillRect l="-794" t="-5882" b="-16176"/>
                </a:stretch>
              </a:blipFill>
            </p:spPr>
            <p:txBody>
              <a:bodyPr/>
              <a:lstStyle/>
              <a:p>
                <a:r>
                  <a:rPr lang="es-ES">
                    <a:noFill/>
                  </a:rPr>
                  <a:t> </a:t>
                </a:r>
              </a:p>
            </p:txBody>
          </p:sp>
        </mc:Fallback>
      </mc:AlternateContent>
    </p:spTree>
    <p:extLst>
      <p:ext uri="{BB962C8B-B14F-4D97-AF65-F5344CB8AC3E}">
        <p14:creationId xmlns:p14="http://schemas.microsoft.com/office/powerpoint/2010/main" val="26354895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54483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A</a:t>
            </a:r>
            <a:r>
              <a:rPr lang="es-ES" sz="2800" dirty="0" smtClean="0">
                <a:solidFill>
                  <a:schemeClr val="accent2"/>
                </a:solidFill>
                <a:latin typeface="AvantGarde" pitchFamily="34" charset="0"/>
              </a:rPr>
              <a:t>ritméticas. </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1176662" y="6342782"/>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0892168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59292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ángulo 2"/>
          <p:cNvSpPr/>
          <p:nvPr/>
        </p:nvSpPr>
        <p:spPr>
          <a:xfrm>
            <a:off x="651858" y="1032847"/>
            <a:ext cx="11357810" cy="1200329"/>
          </a:xfrm>
          <a:prstGeom prst="rect">
            <a:avLst/>
          </a:prstGeom>
        </p:spPr>
        <p:txBody>
          <a:bodyPr wrap="square">
            <a:spAutoFit/>
          </a:bodyPr>
          <a:lstStyle/>
          <a:p>
            <a:r>
              <a:rPr lang="es-ES" sz="2400" dirty="0"/>
              <a:t>Una </a:t>
            </a:r>
            <a:r>
              <a:rPr lang="es-ES" sz="2400" b="1" dirty="0">
                <a:solidFill>
                  <a:srgbClr val="ED7D31"/>
                </a:solidFill>
              </a:rPr>
              <a:t>progresión </a:t>
            </a:r>
            <a:r>
              <a:rPr lang="es-ES" sz="2400" b="1" dirty="0" smtClean="0">
                <a:solidFill>
                  <a:srgbClr val="ED7D31"/>
                </a:solidFill>
              </a:rPr>
              <a:t>geométrica </a:t>
            </a:r>
            <a:r>
              <a:rPr lang="es-ES" sz="2400" dirty="0" smtClean="0"/>
              <a:t>es </a:t>
            </a:r>
            <a:r>
              <a:rPr lang="es-ES" sz="2400" dirty="0"/>
              <a:t>una sucesión de números reales </a:t>
            </a:r>
            <a:r>
              <a:rPr lang="es-ES" sz="2400" dirty="0" smtClean="0"/>
              <a:t>tales que cada uno de ellos, salvo el primero, es igual al anterior multiplicado por un número constante </a:t>
            </a:r>
            <a:r>
              <a:rPr lang="es-ES" sz="2400" b="1" dirty="0" smtClean="0">
                <a:solidFill>
                  <a:srgbClr val="0070C0"/>
                </a:solidFill>
              </a:rPr>
              <a:t>r</a:t>
            </a:r>
            <a:r>
              <a:rPr lang="es-ES" sz="2400" dirty="0" smtClean="0"/>
              <a:t>, llamado </a:t>
            </a:r>
            <a:r>
              <a:rPr lang="es-ES" sz="2400" b="1" dirty="0" smtClean="0">
                <a:solidFill>
                  <a:srgbClr val="0070C0"/>
                </a:solidFill>
              </a:rPr>
              <a:t>razón </a:t>
            </a:r>
            <a:r>
              <a:rPr lang="es-ES" sz="2400" dirty="0" smtClean="0"/>
              <a:t>de </a:t>
            </a:r>
            <a:r>
              <a:rPr lang="es-ES" sz="2400" dirty="0"/>
              <a:t>la progresión.</a:t>
            </a:r>
          </a:p>
        </p:txBody>
      </p:sp>
      <p:cxnSp>
        <p:nvCxnSpPr>
          <p:cNvPr id="9" name="Conector recto 8"/>
          <p:cNvCxnSpPr/>
          <p:nvPr/>
        </p:nvCxnSpPr>
        <p:spPr>
          <a:xfrm>
            <a:off x="2103366" y="5165627"/>
            <a:ext cx="7184295" cy="74949"/>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a:off x="2467229" y="5306670"/>
            <a:ext cx="340158" cy="461665"/>
          </a:xfrm>
          <a:prstGeom prst="rect">
            <a:avLst/>
          </a:prstGeom>
          <a:noFill/>
        </p:spPr>
        <p:txBody>
          <a:bodyPr wrap="none" rtlCol="0">
            <a:spAutoFit/>
          </a:bodyPr>
          <a:lstStyle/>
          <a:p>
            <a:r>
              <a:rPr lang="es-ES" sz="2400" dirty="0" smtClean="0"/>
              <a:t>1</a:t>
            </a:r>
            <a:endParaRPr lang="es-ES" sz="2400" dirty="0"/>
          </a:p>
        </p:txBody>
      </p:sp>
      <p:cxnSp>
        <p:nvCxnSpPr>
          <p:cNvPr id="12" name="Conector recto 11"/>
          <p:cNvCxnSpPr/>
          <p:nvPr/>
        </p:nvCxnSpPr>
        <p:spPr>
          <a:xfrm>
            <a:off x="3752249" y="5059236"/>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CuadroTexto 12"/>
          <p:cNvSpPr txBox="1"/>
          <p:nvPr/>
        </p:nvSpPr>
        <p:spPr>
          <a:xfrm>
            <a:off x="3601406" y="5286077"/>
            <a:ext cx="495649" cy="461665"/>
          </a:xfrm>
          <a:prstGeom prst="rect">
            <a:avLst/>
          </a:prstGeom>
          <a:noFill/>
        </p:spPr>
        <p:txBody>
          <a:bodyPr wrap="none" rtlCol="0">
            <a:spAutoFit/>
          </a:bodyPr>
          <a:lstStyle/>
          <a:p>
            <a:r>
              <a:rPr lang="es-ES" sz="2400" dirty="0" smtClean="0"/>
              <a:t>10</a:t>
            </a:r>
            <a:endParaRPr lang="es-ES" sz="2400" dirty="0"/>
          </a:p>
        </p:txBody>
      </p:sp>
      <p:cxnSp>
        <p:nvCxnSpPr>
          <p:cNvPr id="14" name="Conector recto 13"/>
          <p:cNvCxnSpPr/>
          <p:nvPr/>
        </p:nvCxnSpPr>
        <p:spPr>
          <a:xfrm>
            <a:off x="4984282" y="5059236"/>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a:off x="6129689" y="5050836"/>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8266600" y="5082653"/>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Conector recto 16"/>
          <p:cNvCxnSpPr/>
          <p:nvPr/>
        </p:nvCxnSpPr>
        <p:spPr>
          <a:xfrm>
            <a:off x="2618072" y="4976262"/>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ectángulo 17"/>
          <p:cNvSpPr/>
          <p:nvPr/>
        </p:nvSpPr>
        <p:spPr>
          <a:xfrm>
            <a:off x="4833439" y="5364350"/>
            <a:ext cx="599844" cy="461665"/>
          </a:xfrm>
          <a:prstGeom prst="rect">
            <a:avLst/>
          </a:prstGeom>
        </p:spPr>
        <p:txBody>
          <a:bodyPr wrap="none">
            <a:spAutoFit/>
          </a:bodyPr>
          <a:lstStyle/>
          <a:p>
            <a:r>
              <a:rPr lang="es-ES" sz="2400" dirty="0" smtClean="0"/>
              <a:t>10</a:t>
            </a:r>
            <a:r>
              <a:rPr lang="es-ES" sz="2400" baseline="30000" dirty="0" smtClean="0"/>
              <a:t>2</a:t>
            </a:r>
            <a:endParaRPr lang="es-ES" sz="2400" dirty="0"/>
          </a:p>
        </p:txBody>
      </p:sp>
      <p:sp>
        <p:nvSpPr>
          <p:cNvPr id="19" name="Rectángulo 18"/>
          <p:cNvSpPr/>
          <p:nvPr/>
        </p:nvSpPr>
        <p:spPr>
          <a:xfrm>
            <a:off x="6016126" y="5364350"/>
            <a:ext cx="599844" cy="461665"/>
          </a:xfrm>
          <a:prstGeom prst="rect">
            <a:avLst/>
          </a:prstGeom>
        </p:spPr>
        <p:txBody>
          <a:bodyPr wrap="none">
            <a:spAutoFit/>
          </a:bodyPr>
          <a:lstStyle/>
          <a:p>
            <a:r>
              <a:rPr lang="es-ES" sz="2400" dirty="0" smtClean="0"/>
              <a:t>10</a:t>
            </a:r>
            <a:r>
              <a:rPr lang="es-ES" sz="2400" baseline="30000" dirty="0" smtClean="0"/>
              <a:t>3</a:t>
            </a:r>
            <a:endParaRPr lang="es-ES" sz="2400" dirty="0"/>
          </a:p>
        </p:txBody>
      </p:sp>
      <p:sp>
        <p:nvSpPr>
          <p:cNvPr id="20" name="Rectángulo 19"/>
          <p:cNvSpPr/>
          <p:nvPr/>
        </p:nvSpPr>
        <p:spPr>
          <a:xfrm>
            <a:off x="7074897" y="5400469"/>
            <a:ext cx="599844" cy="461665"/>
          </a:xfrm>
          <a:prstGeom prst="rect">
            <a:avLst/>
          </a:prstGeom>
        </p:spPr>
        <p:txBody>
          <a:bodyPr wrap="none">
            <a:spAutoFit/>
          </a:bodyPr>
          <a:lstStyle/>
          <a:p>
            <a:r>
              <a:rPr lang="es-ES" sz="2400" dirty="0" smtClean="0"/>
              <a:t>10</a:t>
            </a:r>
            <a:r>
              <a:rPr lang="es-ES" sz="2400" baseline="30000" dirty="0" smtClean="0"/>
              <a:t>4</a:t>
            </a:r>
            <a:endParaRPr lang="es-ES" sz="2400" dirty="0"/>
          </a:p>
        </p:txBody>
      </p:sp>
      <p:sp>
        <p:nvSpPr>
          <p:cNvPr id="21" name="Flecha curvada hacia abajo 20"/>
          <p:cNvSpPr/>
          <p:nvPr/>
        </p:nvSpPr>
        <p:spPr>
          <a:xfrm>
            <a:off x="2610487" y="4174598"/>
            <a:ext cx="1216152"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2" name="Flecha curvada hacia abajo 21"/>
          <p:cNvSpPr/>
          <p:nvPr/>
        </p:nvSpPr>
        <p:spPr>
          <a:xfrm>
            <a:off x="3826639" y="4203942"/>
            <a:ext cx="1216152"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3" name="Flecha curvada hacia abajo 22"/>
          <p:cNvSpPr/>
          <p:nvPr/>
        </p:nvSpPr>
        <p:spPr>
          <a:xfrm>
            <a:off x="4984282" y="4209737"/>
            <a:ext cx="1216152"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4" name="Flecha curvada hacia abajo 23"/>
          <p:cNvSpPr/>
          <p:nvPr/>
        </p:nvSpPr>
        <p:spPr>
          <a:xfrm>
            <a:off x="6177905" y="4154817"/>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5" name="Flecha curvada hacia abajo 24"/>
          <p:cNvSpPr/>
          <p:nvPr/>
        </p:nvSpPr>
        <p:spPr>
          <a:xfrm>
            <a:off x="7282752" y="4143605"/>
            <a:ext cx="1216152" cy="731520"/>
          </a:xfrm>
          <a:prstGeom prst="curvedDownArrow">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6" name="Rectángulo 25"/>
          <p:cNvSpPr/>
          <p:nvPr/>
        </p:nvSpPr>
        <p:spPr>
          <a:xfrm>
            <a:off x="2889045" y="3675318"/>
            <a:ext cx="636713" cy="461665"/>
          </a:xfrm>
          <a:prstGeom prst="rect">
            <a:avLst/>
          </a:prstGeom>
        </p:spPr>
        <p:txBody>
          <a:bodyPr wrap="none">
            <a:spAutoFit/>
          </a:bodyPr>
          <a:lstStyle/>
          <a:p>
            <a:r>
              <a:rPr lang="es-ES" sz="2400" b="1" dirty="0" smtClean="0">
                <a:solidFill>
                  <a:srgbClr val="0070C0"/>
                </a:solidFill>
              </a:rPr>
              <a:t>x10</a:t>
            </a:r>
            <a:endParaRPr lang="es-ES" sz="2400" b="1" dirty="0">
              <a:solidFill>
                <a:srgbClr val="0070C0"/>
              </a:solidFill>
            </a:endParaRPr>
          </a:p>
        </p:txBody>
      </p:sp>
      <p:sp>
        <p:nvSpPr>
          <p:cNvPr id="27" name="Rectángulo 26"/>
          <p:cNvSpPr/>
          <p:nvPr/>
        </p:nvSpPr>
        <p:spPr>
          <a:xfrm>
            <a:off x="4123907" y="3741937"/>
            <a:ext cx="636713" cy="461665"/>
          </a:xfrm>
          <a:prstGeom prst="rect">
            <a:avLst/>
          </a:prstGeom>
        </p:spPr>
        <p:txBody>
          <a:bodyPr wrap="none">
            <a:spAutoFit/>
          </a:bodyPr>
          <a:lstStyle/>
          <a:p>
            <a:r>
              <a:rPr lang="es-ES" sz="2400" b="1" dirty="0" smtClean="0">
                <a:solidFill>
                  <a:srgbClr val="0070C0"/>
                </a:solidFill>
              </a:rPr>
              <a:t>x10</a:t>
            </a:r>
            <a:endParaRPr lang="es-ES" sz="2400" b="1" dirty="0">
              <a:solidFill>
                <a:srgbClr val="0070C0"/>
              </a:solidFill>
            </a:endParaRPr>
          </a:p>
        </p:txBody>
      </p:sp>
      <p:sp>
        <p:nvSpPr>
          <p:cNvPr id="28" name="Rectángulo 27"/>
          <p:cNvSpPr/>
          <p:nvPr/>
        </p:nvSpPr>
        <p:spPr>
          <a:xfrm>
            <a:off x="5325293" y="3754534"/>
            <a:ext cx="636713" cy="461665"/>
          </a:xfrm>
          <a:prstGeom prst="rect">
            <a:avLst/>
          </a:prstGeom>
        </p:spPr>
        <p:txBody>
          <a:bodyPr wrap="none">
            <a:spAutoFit/>
          </a:bodyPr>
          <a:lstStyle/>
          <a:p>
            <a:r>
              <a:rPr lang="es-ES" sz="2400" b="1" dirty="0" smtClean="0">
                <a:solidFill>
                  <a:srgbClr val="0070C0"/>
                </a:solidFill>
              </a:rPr>
              <a:t>x10</a:t>
            </a:r>
            <a:endParaRPr lang="es-ES" sz="2400" b="1" dirty="0">
              <a:solidFill>
                <a:srgbClr val="0070C0"/>
              </a:solidFill>
            </a:endParaRPr>
          </a:p>
        </p:txBody>
      </p:sp>
      <p:sp>
        <p:nvSpPr>
          <p:cNvPr id="29" name="Rectángulo 28"/>
          <p:cNvSpPr/>
          <p:nvPr/>
        </p:nvSpPr>
        <p:spPr>
          <a:xfrm>
            <a:off x="6460407" y="3719923"/>
            <a:ext cx="636713" cy="461665"/>
          </a:xfrm>
          <a:prstGeom prst="rect">
            <a:avLst/>
          </a:prstGeom>
        </p:spPr>
        <p:txBody>
          <a:bodyPr wrap="none">
            <a:spAutoFit/>
          </a:bodyPr>
          <a:lstStyle/>
          <a:p>
            <a:r>
              <a:rPr lang="es-ES" sz="2400" b="1" dirty="0" smtClean="0">
                <a:solidFill>
                  <a:srgbClr val="0070C0"/>
                </a:solidFill>
              </a:rPr>
              <a:t>x10</a:t>
            </a:r>
            <a:endParaRPr lang="es-ES" sz="2400" b="1" dirty="0">
              <a:solidFill>
                <a:srgbClr val="0070C0"/>
              </a:solidFill>
            </a:endParaRPr>
          </a:p>
        </p:txBody>
      </p:sp>
      <p:sp>
        <p:nvSpPr>
          <p:cNvPr id="30" name="Rectángulo 29"/>
          <p:cNvSpPr/>
          <p:nvPr/>
        </p:nvSpPr>
        <p:spPr>
          <a:xfrm>
            <a:off x="7595521" y="3655676"/>
            <a:ext cx="636713" cy="461665"/>
          </a:xfrm>
          <a:prstGeom prst="rect">
            <a:avLst/>
          </a:prstGeom>
        </p:spPr>
        <p:txBody>
          <a:bodyPr wrap="none">
            <a:spAutoFit/>
          </a:bodyPr>
          <a:lstStyle/>
          <a:p>
            <a:r>
              <a:rPr lang="es-ES" sz="2400" b="1" dirty="0" smtClean="0">
                <a:solidFill>
                  <a:srgbClr val="0070C0"/>
                </a:solidFill>
              </a:rPr>
              <a:t>x10</a:t>
            </a:r>
            <a:endParaRPr lang="es-ES" sz="2400" b="1" dirty="0">
              <a:solidFill>
                <a:srgbClr val="0070C0"/>
              </a:solidFill>
            </a:endParaRPr>
          </a:p>
        </p:txBody>
      </p:sp>
      <p:cxnSp>
        <p:nvCxnSpPr>
          <p:cNvPr id="73" name="Conector recto 72"/>
          <p:cNvCxnSpPr/>
          <p:nvPr/>
        </p:nvCxnSpPr>
        <p:spPr>
          <a:xfrm>
            <a:off x="7279647" y="5062825"/>
            <a:ext cx="0" cy="21278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4" name="Rectángulo 73"/>
          <p:cNvSpPr/>
          <p:nvPr/>
        </p:nvSpPr>
        <p:spPr>
          <a:xfrm>
            <a:off x="8042249" y="5407196"/>
            <a:ext cx="599844" cy="461665"/>
          </a:xfrm>
          <a:prstGeom prst="rect">
            <a:avLst/>
          </a:prstGeom>
        </p:spPr>
        <p:txBody>
          <a:bodyPr wrap="none">
            <a:spAutoFit/>
          </a:bodyPr>
          <a:lstStyle/>
          <a:p>
            <a:r>
              <a:rPr lang="es-ES" sz="2400" dirty="0" smtClean="0"/>
              <a:t>10</a:t>
            </a:r>
            <a:r>
              <a:rPr lang="es-ES" sz="2400" baseline="30000" dirty="0" smtClean="0"/>
              <a:t>5</a:t>
            </a:r>
            <a:endParaRPr lang="es-ES" sz="2400" dirty="0"/>
          </a:p>
        </p:txBody>
      </p:sp>
      <p:sp>
        <p:nvSpPr>
          <p:cNvPr id="83" name="Flecha curvada hacia abajo 82"/>
          <p:cNvSpPr/>
          <p:nvPr/>
        </p:nvSpPr>
        <p:spPr>
          <a:xfrm>
            <a:off x="6200434" y="4164236"/>
            <a:ext cx="1216152"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84" name="Flecha curvada hacia abajo 83"/>
          <p:cNvSpPr/>
          <p:nvPr/>
        </p:nvSpPr>
        <p:spPr>
          <a:xfrm>
            <a:off x="7305281" y="4153024"/>
            <a:ext cx="1216152"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mc:AlternateContent xmlns:mc="http://schemas.openxmlformats.org/markup-compatibility/2006" xmlns:a14="http://schemas.microsoft.com/office/drawing/2010/main">
        <mc:Choice Requires="a14">
          <p:sp>
            <p:nvSpPr>
              <p:cNvPr id="4" name="CuadroTexto 3"/>
              <p:cNvSpPr txBox="1"/>
              <p:nvPr/>
            </p:nvSpPr>
            <p:spPr>
              <a:xfrm>
                <a:off x="741145" y="2473693"/>
                <a:ext cx="11268523" cy="948208"/>
              </a:xfrm>
              <a:prstGeom prst="rect">
                <a:avLst/>
              </a:prstGeom>
              <a:noFill/>
            </p:spPr>
            <p:txBody>
              <a:bodyPr wrap="square" rtlCol="0">
                <a:spAutoFit/>
              </a:bodyPr>
              <a:lstStyle/>
              <a:p>
                <a:pPr>
                  <a:lnSpc>
                    <a:spcPct val="120000"/>
                  </a:lnSpc>
                </a:pPr>
                <a:r>
                  <a:rPr lang="es-ES" sz="2400" dirty="0" smtClean="0"/>
                  <a:t>La sucesión: </a:t>
                </a:r>
                <a14:m>
                  <m:oMath xmlns:m="http://schemas.openxmlformats.org/officeDocument/2006/math">
                    <m:d>
                      <m:dPr>
                        <m:begChr m:val="{"/>
                        <m:endChr m:val="}"/>
                        <m:ctrlPr>
                          <a:rPr lang="es-ES" sz="2400" i="1" smtClean="0">
                            <a:latin typeface="Cambria Math" panose="02040503050406030204" pitchFamily="18" charset="0"/>
                          </a:rPr>
                        </m:ctrlPr>
                      </m:dPr>
                      <m:e>
                        <m:r>
                          <a:rPr lang="es-ES" sz="2400" b="0" i="1" smtClean="0">
                            <a:latin typeface="Cambria Math" panose="02040503050406030204" pitchFamily="18" charset="0"/>
                          </a:rPr>
                          <m:t>1,</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10</m:t>
                            </m:r>
                          </m:e>
                          <m:sup>
                            <m:r>
                              <a:rPr lang="es-ES" sz="2400" b="0" i="1" smtClean="0">
                                <a:latin typeface="Cambria Math" panose="02040503050406030204" pitchFamily="18" charset="0"/>
                              </a:rPr>
                              <m:t>2</m:t>
                            </m:r>
                          </m:sup>
                        </m:s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10</m:t>
                            </m:r>
                          </m:e>
                          <m:sup>
                            <m:r>
                              <a:rPr lang="es-ES" sz="2400" b="0" i="1" smtClean="0">
                                <a:latin typeface="Cambria Math" panose="02040503050406030204" pitchFamily="18" charset="0"/>
                              </a:rPr>
                              <m:t>3</m:t>
                            </m:r>
                          </m:sup>
                        </m:s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10</m:t>
                            </m:r>
                          </m:e>
                          <m:sup>
                            <m:r>
                              <a:rPr lang="es-ES" sz="2400" b="0" i="1" smtClean="0">
                                <a:latin typeface="Cambria Math" panose="02040503050406030204" pitchFamily="18" charset="0"/>
                              </a:rPr>
                              <m:t>4</m:t>
                            </m:r>
                          </m:sup>
                        </m:sSup>
                        <m:r>
                          <a:rPr lang="es-ES" sz="2400" b="0" i="1" smtClean="0">
                            <a:latin typeface="Cambria Math" panose="02040503050406030204" pitchFamily="18" charset="0"/>
                          </a:rPr>
                          <m:t>,….</m:t>
                        </m:r>
                      </m:e>
                    </m:d>
                  </m:oMath>
                </a14:m>
                <a:r>
                  <a:rPr lang="es-ES" sz="2400" dirty="0" smtClean="0"/>
                  <a:t> tienes a su términos es progresión geométrica de razón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=10</m:t>
                    </m:r>
                  </m:oMath>
                </a14:m>
                <a:r>
                  <a:rPr lang="es-ES" sz="2400" dirty="0" smtClean="0"/>
                  <a:t>:</a:t>
                </a:r>
                <a:endParaRPr lang="es-ES"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741145" y="2473693"/>
                <a:ext cx="11268523" cy="948208"/>
              </a:xfrm>
              <a:prstGeom prst="rect">
                <a:avLst/>
              </a:prstGeom>
              <a:blipFill rotWithShape="0">
                <a:blip r:embed="rId5"/>
                <a:stretch>
                  <a:fillRect l="-866" t="-645" b="-14194"/>
                </a:stretch>
              </a:blipFill>
            </p:spPr>
            <p:txBody>
              <a:bodyPr/>
              <a:lstStyle/>
              <a:p>
                <a:r>
                  <a:rPr lang="es-ES">
                    <a:noFill/>
                  </a:rPr>
                  <a:t> </a:t>
                </a:r>
              </a:p>
            </p:txBody>
          </p:sp>
        </mc:Fallback>
      </mc:AlternateContent>
    </p:spTree>
    <p:extLst>
      <p:ext uri="{BB962C8B-B14F-4D97-AF65-F5344CB8AC3E}">
        <p14:creationId xmlns:p14="http://schemas.microsoft.com/office/powerpoint/2010/main" val="31921043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592924" cy="646331"/>
          </a:xfrm>
          <a:prstGeom prst="rect">
            <a:avLst/>
          </a:prstGeom>
          <a:noFill/>
        </p:spPr>
        <p:txBody>
          <a:bodyPr wrap="none" rtlCol="0">
            <a:spAutoFit/>
          </a:bodyPr>
          <a:lstStyle/>
          <a:p>
            <a:r>
              <a:rPr lang="es-ES" sz="3600" b="1" smtClean="0">
                <a:solidFill>
                  <a:schemeClr val="accent2"/>
                </a:solidFill>
                <a:latin typeface="AvantGarde" pitchFamily="34" charset="0"/>
              </a:rPr>
              <a:t>P</a:t>
            </a:r>
            <a:r>
              <a:rPr lang="es-ES" sz="2800" smtClean="0">
                <a:solidFill>
                  <a:schemeClr val="accent2"/>
                </a:solidFill>
                <a:latin typeface="AvantGarde" pitchFamily="34" charset="0"/>
              </a:rPr>
              <a:t>rogresiones</a:t>
            </a:r>
            <a:r>
              <a:rPr lang="es-ES" sz="2800" b="1"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730024" y="1085073"/>
                <a:ext cx="10990907" cy="4049314"/>
              </a:xfrm>
              <a:prstGeom prst="rect">
                <a:avLst/>
              </a:prstGeom>
              <a:noFill/>
            </p:spPr>
            <p:txBody>
              <a:bodyPr wrap="square" rtlCol="0">
                <a:spAutoFit/>
              </a:bodyPr>
              <a:lstStyle/>
              <a:p>
                <a:pPr>
                  <a:lnSpc>
                    <a:spcPct val="130000"/>
                  </a:lnSpc>
                </a:pPr>
                <a:r>
                  <a:rPr lang="es-ES" sz="2400" b="1" dirty="0" smtClean="0">
                    <a:solidFill>
                      <a:srgbClr val="0070C0"/>
                    </a:solidFill>
                  </a:rPr>
                  <a:t>Término general:</a:t>
                </a:r>
              </a:p>
              <a:p>
                <a:pPr>
                  <a:lnSpc>
                    <a:spcPct val="130000"/>
                  </a:lnSpc>
                </a:pPr>
                <a:r>
                  <a:rPr lang="es-ES" sz="2400" dirty="0" smtClean="0"/>
                  <a:t>Nos fijamos en la progresión geométrica infinita: </a:t>
                </a:r>
                <a14:m>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rPr>
                      <m:t>, </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 …, </m:t>
                    </m:r>
                    <m:r>
                      <a:rPr lang="es-ES" sz="2400" b="0" i="1" smtClean="0">
                        <a:latin typeface="Cambria Math" panose="02040503050406030204" pitchFamily="18" charset="0"/>
                      </a:rPr>
                      <m:t>𝑎𝑛</m:t>
                    </m:r>
                    <m:r>
                      <a:rPr lang="es-ES" sz="2400" b="0" i="1" smtClean="0">
                        <a:latin typeface="Cambria Math" panose="02040503050406030204" pitchFamily="18" charset="0"/>
                      </a:rPr>
                      <m:t>, …</m:t>
                    </m:r>
                  </m:oMath>
                </a14:m>
                <a:r>
                  <a:rPr lang="es-ES" sz="2400" dirty="0" smtClean="0"/>
                  <a:t>. Según la definición, cada término es igual al anterior multiplicado por la razón de la progresión:</a:t>
                </a: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𝑟</m:t>
                      </m:r>
                    </m:oMath>
                  </m:oMathPara>
                </a14:m>
                <a:endParaRPr lang="es-ES" sz="2400" b="0" i="1" dirty="0" smtClean="0">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3</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2</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𝑟</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2</m:t>
                          </m:r>
                        </m:sup>
                      </m:sSup>
                    </m:oMath>
                  </m:oMathPara>
                </a14:m>
                <a:endParaRPr lang="es-ES" sz="2400" b="0" dirty="0" smtClean="0"/>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4</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3</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2</m:t>
                      </m:r>
                      <m:r>
                        <a:rPr lang="es-ES" sz="2400" b="0" i="1" smtClean="0">
                          <a:latin typeface="Cambria Math" panose="02040503050406030204" pitchFamily="18" charset="0"/>
                        </a:rPr>
                        <m:t>𝑑</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rPr>
                        <m:t>𝑑</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3</m:t>
                          </m:r>
                        </m:sup>
                      </m:sSup>
                    </m:oMath>
                  </m:oMathPara>
                </a14:m>
                <a:endParaRPr lang="es-ES" sz="2400" b="0" dirty="0" smtClean="0"/>
              </a:p>
              <a:p>
                <a:pPr>
                  <a:lnSpc>
                    <a:spcPct val="130000"/>
                  </a:lnSpc>
                </a:pPr>
                <a:r>
                  <a:rPr lang="es-ES" sz="2400" dirty="0" smtClean="0"/>
                  <a:t>Generalizando este proceso se obtiene el término general de la progresión geométrica:</a:t>
                </a:r>
              </a:p>
              <a:p>
                <a:pPr>
                  <a:lnSpc>
                    <a:spcPct val="13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𝑎</m:t>
                      </m:r>
                      <m:r>
                        <a:rPr lang="es-ES" sz="2400" b="0" i="1" baseline="-25000" smtClean="0">
                          <a:latin typeface="Cambria Math" panose="02040503050406030204" pitchFamily="18" charset="0"/>
                        </a:rPr>
                        <m:t>𝑛</m:t>
                      </m:r>
                      <m:r>
                        <a:rPr lang="es-ES" sz="2400" b="0" i="1" smtClean="0">
                          <a:latin typeface="Cambria Math" panose="02040503050406030204" pitchFamily="18" charset="0"/>
                        </a:rPr>
                        <m:t>=</m:t>
                      </m:r>
                      <m:r>
                        <a:rPr lang="es-ES" sz="2400" b="0" i="1" smtClean="0">
                          <a:latin typeface="Cambria Math" panose="02040503050406030204" pitchFamily="18" charset="0"/>
                        </a:rPr>
                        <m:t>𝑎</m:t>
                      </m:r>
                      <m:r>
                        <a:rPr lang="es-ES" sz="2400" b="0" i="1" baseline="-25000" smtClean="0">
                          <a:latin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𝑛</m:t>
                          </m:r>
                          <m:r>
                            <a:rPr lang="es-ES" sz="2400" b="0" i="1" smtClean="0">
                              <a:latin typeface="Cambria Math" panose="02040503050406030204" pitchFamily="18" charset="0"/>
                              <a:ea typeface="Cambria Math" panose="02040503050406030204" pitchFamily="18" charset="0"/>
                            </a:rPr>
                            <m:t>−1</m:t>
                          </m:r>
                        </m:sup>
                      </m:sSup>
                    </m:oMath>
                  </m:oMathPara>
                </a14:m>
                <a:endParaRPr lang="es-ES"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730024" y="1085073"/>
                <a:ext cx="10990907" cy="4049314"/>
              </a:xfrm>
              <a:prstGeom prst="rect">
                <a:avLst/>
              </a:prstGeom>
              <a:blipFill rotWithShape="0">
                <a:blip r:embed="rId5"/>
                <a:stretch>
                  <a:fillRect l="-887" r="-222"/>
                </a:stretch>
              </a:blipFill>
            </p:spPr>
            <p:txBody>
              <a:bodyPr/>
              <a:lstStyle/>
              <a:p>
                <a:r>
                  <a:rPr lang="es-ES">
                    <a:noFill/>
                  </a:rPr>
                  <a:t> </a:t>
                </a:r>
              </a:p>
            </p:txBody>
          </p:sp>
        </mc:Fallback>
      </mc:AlternateContent>
    </p:spTree>
    <p:extLst>
      <p:ext uri="{BB962C8B-B14F-4D97-AF65-F5344CB8AC3E}">
        <p14:creationId xmlns:p14="http://schemas.microsoft.com/office/powerpoint/2010/main" val="25188974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429965"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571140" y="885821"/>
                <a:ext cx="11382999" cy="2143472"/>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¿Cuál es la razón de la progresión geométrica </a:t>
                </a:r>
                <a14:m>
                  <m:oMath xmlns:m="http://schemas.openxmlformats.org/officeDocument/2006/math">
                    <m:r>
                      <a:rPr lang="es-ES" sz="2400" b="0" i="1" smtClean="0">
                        <a:latin typeface="Cambria Math" panose="02040503050406030204" pitchFamily="18" charset="0"/>
                      </a:rPr>
                      <m:t>3, 6, 12,…</m:t>
                    </m:r>
                  </m:oMath>
                </a14:m>
                <a:r>
                  <a:rPr lang="es-ES" sz="2400" dirty="0" smtClean="0"/>
                  <a:t>?:</a:t>
                </a:r>
              </a:p>
              <a:p>
                <a:pPr>
                  <a:lnSpc>
                    <a:spcPct val="12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La razón se obtiene dividiendo un término por el anterior: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6</m:t>
                        </m:r>
                      </m:num>
                      <m:den>
                        <m:r>
                          <a:rPr lang="es-ES" sz="2400" b="0" i="1" smtClean="0">
                            <a:latin typeface="Cambria Math" panose="02040503050406030204" pitchFamily="18" charset="0"/>
                          </a:rPr>
                          <m:t>3</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12</m:t>
                        </m:r>
                      </m:num>
                      <m:den>
                        <m:r>
                          <a:rPr lang="es-ES" sz="2400" b="0" i="1" smtClean="0">
                            <a:latin typeface="Cambria Math" panose="02040503050406030204" pitchFamily="18" charset="0"/>
                          </a:rPr>
                          <m:t>6</m:t>
                        </m:r>
                      </m:den>
                    </m:f>
                    <m:r>
                      <a:rPr lang="es-ES" sz="2400" b="0" i="1" smtClean="0">
                        <a:latin typeface="Cambria Math" panose="02040503050406030204" pitchFamily="18" charset="0"/>
                      </a:rPr>
                      <m:t>=2</m:t>
                    </m:r>
                  </m:oMath>
                </a14:m>
                <a:endParaRPr lang="es-ES" sz="2400" dirty="0" smtClean="0"/>
              </a:p>
              <a:p>
                <a:endParaRPr lang="es-ES"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571140" y="885821"/>
                <a:ext cx="11382999" cy="2143472"/>
              </a:xfrm>
              <a:prstGeom prst="rect">
                <a:avLst/>
              </a:prstGeom>
              <a:blipFill rotWithShape="0">
                <a:blip r:embed="rId5"/>
                <a:stretch>
                  <a:fillRect l="-7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40665" y="2751518"/>
                <a:ext cx="11382999" cy="2825389"/>
              </a:xfrm>
              <a:prstGeom prst="rect">
                <a:avLst/>
              </a:prstGeom>
              <a:noFill/>
            </p:spPr>
            <p:txBody>
              <a:bodyPr wrap="square" rtlCol="0">
                <a:spAutoFit/>
              </a:bodyPr>
              <a:lstStyle/>
              <a:p>
                <a:pPr marL="342900" indent="-342900">
                  <a:lnSpc>
                    <a:spcPct val="130000"/>
                  </a:lnSpc>
                  <a:buClr>
                    <a:srgbClr val="0070C0"/>
                  </a:buClr>
                  <a:buFont typeface="Wingdings" panose="05000000000000000000" pitchFamily="2" charset="2"/>
                  <a:buChar char="q"/>
                </a:pPr>
                <a:r>
                  <a:rPr lang="es-ES" sz="2400" dirty="0" smtClean="0"/>
                  <a:t>¿Cuál es el noveno término de una progresión geométrica en la que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=3</m:t>
                    </m:r>
                  </m:oMath>
                </a14:m>
                <a:r>
                  <a:rPr lang="es-ES" sz="2400" dirty="0" smtClean="0"/>
                  <a:t>  y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=2</m:t>
                    </m:r>
                  </m:oMath>
                </a14:m>
                <a:r>
                  <a:rPr lang="es-ES" sz="2400" dirty="0" smtClean="0"/>
                  <a:t>:</a:t>
                </a:r>
              </a:p>
              <a:p>
                <a:pPr>
                  <a:lnSpc>
                    <a:spcPct val="120000"/>
                  </a:lnSpc>
                  <a:buClr>
                    <a:srgbClr val="0070C0"/>
                  </a:buClr>
                </a:pPr>
                <a:r>
                  <a:rPr lang="es-ES" sz="2400" dirty="0"/>
                  <a:t> </a:t>
                </a:r>
                <a:r>
                  <a:rPr lang="es-ES" sz="2400" dirty="0" smtClean="0"/>
                  <a:t>     </a:t>
                </a:r>
                <a:r>
                  <a:rPr lang="es-ES" sz="2400" dirty="0" smtClean="0">
                    <a:solidFill>
                      <a:srgbClr val="0070C0"/>
                    </a:solidFill>
                  </a:rPr>
                  <a:t>Solución:</a:t>
                </a:r>
              </a:p>
              <a:p>
                <a:pPr>
                  <a:lnSpc>
                    <a:spcPct val="130000"/>
                  </a:lnSpc>
                  <a:buClr>
                    <a:srgbClr val="0070C0"/>
                  </a:buClr>
                </a:pPr>
                <a:r>
                  <a:rPr lang="es-ES" sz="2400" dirty="0"/>
                  <a:t> </a:t>
                </a:r>
                <a:r>
                  <a:rPr lang="es-ES" sz="2400" dirty="0" smtClean="0"/>
                  <a:t>      Podemos ir hallando la progresión término a término: </a:t>
                </a:r>
                <a14:m>
                  <m:oMath xmlns:m="http://schemas.openxmlformats.org/officeDocument/2006/math">
                    <m:d>
                      <m:dPr>
                        <m:begChr m:val="{"/>
                        <m:endChr m:val="}"/>
                        <m:ctrlPr>
                          <a:rPr lang="es-ES" sz="2400" i="1" smtClean="0">
                            <a:latin typeface="Cambria Math" panose="02040503050406030204" pitchFamily="18" charset="0"/>
                          </a:rPr>
                        </m:ctrlPr>
                      </m:dPr>
                      <m:e>
                        <m:r>
                          <a:rPr lang="es-ES" sz="2400" b="0" i="1" smtClean="0">
                            <a:latin typeface="Cambria Math" panose="02040503050406030204" pitchFamily="18" charset="0"/>
                          </a:rPr>
                          <m:t>3, 6, 12, 24, 48,….</m:t>
                        </m:r>
                      </m:e>
                    </m:d>
                  </m:oMath>
                </a14:m>
                <a:r>
                  <a:rPr lang="es-ES" sz="2400" dirty="0" smtClean="0"/>
                  <a:t> o aplicamos la expresión del término general:</a:t>
                </a:r>
              </a:p>
              <a:p>
                <a:pPr>
                  <a:lnSpc>
                    <a:spcPct val="130000"/>
                  </a:lnSpc>
                  <a:buClr>
                    <a:srgbClr val="0070C0"/>
                  </a:buClr>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9</m:t>
                          </m:r>
                        </m:sub>
                      </m:sSub>
                      <m:r>
                        <a:rPr lang="es-ES" sz="2400" b="0" i="1" smtClean="0">
                          <a:latin typeface="Cambria Math" panose="02040503050406030204" pitchFamily="18" charset="0"/>
                        </a:rPr>
                        <m:t>=3</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2</m:t>
                          </m:r>
                        </m:e>
                        <m:sup>
                          <m:r>
                            <a:rPr lang="es-ES" sz="2400" b="0" i="1" smtClean="0">
                              <a:latin typeface="Cambria Math" panose="02040503050406030204" pitchFamily="18" charset="0"/>
                              <a:ea typeface="Cambria Math" panose="02040503050406030204" pitchFamily="18" charset="0"/>
                            </a:rPr>
                            <m:t>8</m:t>
                          </m:r>
                        </m:sup>
                      </m:sSup>
                      <m:r>
                        <a:rPr lang="es-ES" sz="2400" b="0" i="1" smtClean="0">
                          <a:latin typeface="Cambria Math" panose="02040503050406030204" pitchFamily="18" charset="0"/>
                          <a:ea typeface="Cambria Math" panose="02040503050406030204" pitchFamily="18" charset="0"/>
                        </a:rPr>
                        <m:t>=3∙256=768</m:t>
                      </m:r>
                    </m:oMath>
                  </m:oMathPara>
                </a14:m>
                <a:endParaRPr lang="es-ES" sz="2400" dirty="0" smtClean="0"/>
              </a:p>
              <a:p>
                <a:endParaRPr lang="es-ES"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40665" y="2751518"/>
                <a:ext cx="11382999" cy="2825389"/>
              </a:xfrm>
              <a:prstGeom prst="rect">
                <a:avLst/>
              </a:prstGeom>
              <a:blipFill rotWithShape="0">
                <a:blip r:embed="rId6"/>
                <a:stretch>
                  <a:fillRect l="-857"/>
                </a:stretch>
              </a:blipFill>
            </p:spPr>
            <p:txBody>
              <a:bodyPr/>
              <a:lstStyle/>
              <a:p>
                <a:r>
                  <a:rPr lang="es-ES">
                    <a:noFill/>
                  </a:rPr>
                  <a:t> </a:t>
                </a:r>
              </a:p>
            </p:txBody>
          </p:sp>
        </mc:Fallback>
      </mc:AlternateContent>
    </p:spTree>
    <p:extLst>
      <p:ext uri="{BB962C8B-B14F-4D97-AF65-F5344CB8AC3E}">
        <p14:creationId xmlns:p14="http://schemas.microsoft.com/office/powerpoint/2010/main" val="16880646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429965"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571140" y="885821"/>
                <a:ext cx="11691445" cy="1384995"/>
              </a:xfrm>
              <a:prstGeom prst="rect">
                <a:avLst/>
              </a:prstGeom>
              <a:noFill/>
            </p:spPr>
            <p:txBody>
              <a:bodyPr wrap="square" rtlCol="0">
                <a:spAutoFit/>
              </a:bodyPr>
              <a:lstStyle/>
              <a:p>
                <a:pPr marL="342900" indent="-342900">
                  <a:lnSpc>
                    <a:spcPct val="110000"/>
                  </a:lnSpc>
                  <a:buClr>
                    <a:srgbClr val="0070C0"/>
                  </a:buClr>
                  <a:buFont typeface="Wingdings" panose="05000000000000000000" pitchFamily="2" charset="2"/>
                  <a:buChar char="q"/>
                </a:pPr>
                <a:r>
                  <a:rPr lang="es-ES" sz="2400" dirty="0" smtClean="0"/>
                  <a:t>Intercale entre los números </a:t>
                </a:r>
                <a14:m>
                  <m:oMath xmlns:m="http://schemas.openxmlformats.org/officeDocument/2006/math">
                    <m:r>
                      <a:rPr lang="es-ES" sz="2400" b="0" i="1" smtClean="0">
                        <a:latin typeface="Cambria Math" panose="02040503050406030204" pitchFamily="18" charset="0"/>
                      </a:rPr>
                      <m:t>3 </m:t>
                    </m:r>
                  </m:oMath>
                </a14:m>
                <a:r>
                  <a:rPr lang="es-ES" sz="2400" b="0" dirty="0" smtClean="0"/>
                  <a:t>y </a:t>
                </a:r>
                <a14:m>
                  <m:oMath xmlns:m="http://schemas.openxmlformats.org/officeDocument/2006/math">
                    <m:r>
                      <a:rPr lang="es-ES" sz="2400" b="0" i="1" smtClean="0">
                        <a:latin typeface="Cambria Math" panose="02040503050406030204" pitchFamily="18" charset="0"/>
                      </a:rPr>
                      <m:t>96</m:t>
                    </m:r>
                  </m:oMath>
                </a14:m>
                <a:r>
                  <a:rPr lang="es-ES" sz="2400" b="0" dirty="0" smtClean="0"/>
                  <a:t> cuatro números de tal forma que estén en progresión geométrica</a:t>
                </a:r>
              </a:p>
              <a:p>
                <a:pPr>
                  <a:lnSpc>
                    <a:spcPct val="130000"/>
                  </a:lnSpc>
                  <a:buClr>
                    <a:srgbClr val="0070C0"/>
                  </a:buClr>
                </a:pPr>
                <a:r>
                  <a:rPr lang="es-ES" sz="2400" dirty="0" smtClean="0"/>
                  <a:t>      </a:t>
                </a:r>
                <a:r>
                  <a:rPr lang="es-ES" sz="2400" dirty="0" smtClean="0">
                    <a:solidFill>
                      <a:srgbClr val="0070C0"/>
                    </a:solidFill>
                  </a:rPr>
                  <a:t>Solución:</a:t>
                </a:r>
              </a:p>
            </p:txBody>
          </p:sp>
        </mc:Choice>
        <mc:Fallback xmlns="">
          <p:sp>
            <p:nvSpPr>
              <p:cNvPr id="7" name="CuadroTexto 6"/>
              <p:cNvSpPr txBox="1">
                <a:spLocks noRot="1" noChangeAspect="1" noMove="1" noResize="1" noEditPoints="1" noAdjustHandles="1" noChangeArrowheads="1" noChangeShapeType="1" noTextEdit="1"/>
              </p:cNvSpPr>
              <p:nvPr/>
            </p:nvSpPr>
            <p:spPr>
              <a:xfrm>
                <a:off x="571140" y="885821"/>
                <a:ext cx="11691445" cy="1384995"/>
              </a:xfrm>
              <a:prstGeom prst="rect">
                <a:avLst/>
              </a:prstGeom>
              <a:blipFill rotWithShape="0">
                <a:blip r:embed="rId5"/>
                <a:stretch>
                  <a:fillRect l="-730" t="-2193" b="-614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p:cNvSpPr txBox="1"/>
              <p:nvPr/>
            </p:nvSpPr>
            <p:spPr>
              <a:xfrm>
                <a:off x="818147" y="2338942"/>
                <a:ext cx="11232682" cy="830997"/>
              </a:xfrm>
              <a:prstGeom prst="rect">
                <a:avLst/>
              </a:prstGeom>
              <a:noFill/>
            </p:spPr>
            <p:txBody>
              <a:bodyPr wrap="square" rtlCol="0">
                <a:spAutoFit/>
              </a:bodyPr>
              <a:lstStyle/>
              <a:p>
                <a:pPr algn="just"/>
                <a:r>
                  <a:rPr lang="es-ES" sz="2400" dirty="0" smtClean="0"/>
                  <a:t>Debemos tener: </a:t>
                </a:r>
                <a14:m>
                  <m:oMath xmlns:m="http://schemas.openxmlformats.org/officeDocument/2006/math">
                    <m:r>
                      <a:rPr lang="es-ES" sz="2400" b="0" i="1" smtClean="0">
                        <a:latin typeface="Cambria Math" panose="02040503050406030204" pitchFamily="18" charset="0"/>
                      </a:rPr>
                      <m:t>3, </m:t>
                    </m:r>
                    <m:r>
                      <a:rPr lang="es-ES" sz="2400" b="0" i="1" smtClean="0">
                        <a:latin typeface="Cambria Math" panose="02040503050406030204" pitchFamily="18" charset="0"/>
                      </a:rPr>
                      <m:t>𝑎</m:t>
                    </m:r>
                    <m:r>
                      <a:rPr lang="es-ES" sz="2400" b="0" i="1" smtClean="0">
                        <a:latin typeface="Cambria Math" panose="02040503050406030204" pitchFamily="18" charset="0"/>
                      </a:rPr>
                      <m:t>, </m:t>
                    </m:r>
                    <m:r>
                      <a:rPr lang="es-ES" sz="2400" b="0" i="1" smtClean="0">
                        <a:latin typeface="Cambria Math" panose="02040503050406030204" pitchFamily="18" charset="0"/>
                      </a:rPr>
                      <m:t>𝑏</m:t>
                    </m:r>
                    <m:r>
                      <a:rPr lang="es-ES" sz="2400" b="0" i="1" smtClean="0">
                        <a:latin typeface="Cambria Math" panose="02040503050406030204" pitchFamily="18" charset="0"/>
                      </a:rPr>
                      <m:t>, </m:t>
                    </m:r>
                    <m:r>
                      <a:rPr lang="es-ES" sz="2400" b="0" i="1" smtClean="0">
                        <a:latin typeface="Cambria Math" panose="02040503050406030204" pitchFamily="18" charset="0"/>
                      </a:rPr>
                      <m:t>𝑐</m:t>
                    </m:r>
                    <m:r>
                      <a:rPr lang="es-ES" sz="2400" b="0" i="1" smtClean="0">
                        <a:latin typeface="Cambria Math" panose="02040503050406030204" pitchFamily="18" charset="0"/>
                      </a:rPr>
                      <m:t>, </m:t>
                    </m:r>
                    <m:r>
                      <a:rPr lang="es-ES" sz="2400" b="0" i="1" smtClean="0">
                        <a:latin typeface="Cambria Math" panose="02040503050406030204" pitchFamily="18" charset="0"/>
                      </a:rPr>
                      <m:t>𝑑</m:t>
                    </m:r>
                    <m:r>
                      <a:rPr lang="es-ES" sz="2400" b="0" i="1" smtClean="0">
                        <a:latin typeface="Cambria Math" panose="02040503050406030204" pitchFamily="18" charset="0"/>
                      </a:rPr>
                      <m:t>, 96</m:t>
                    </m:r>
                  </m:oMath>
                </a14:m>
                <a:r>
                  <a:rPr lang="es-ES" sz="2400" dirty="0" smtClean="0"/>
                  <a:t>, donde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=3, </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6</m:t>
                        </m:r>
                      </m:sub>
                    </m:sSub>
                    <m:r>
                      <a:rPr lang="es-ES" sz="2400" b="0" i="1" smtClean="0">
                        <a:latin typeface="Cambria Math" panose="02040503050406030204" pitchFamily="18" charset="0"/>
                      </a:rPr>
                      <m:t>=96, </m:t>
                    </m:r>
                    <m:r>
                      <a:rPr lang="es-ES" sz="2400" b="0" i="1" smtClean="0">
                        <a:latin typeface="Cambria Math" panose="02040503050406030204" pitchFamily="18" charset="0"/>
                      </a:rPr>
                      <m:t>𝑛</m:t>
                    </m:r>
                    <m:r>
                      <a:rPr lang="es-ES" sz="2400" b="0" i="1" smtClean="0">
                        <a:latin typeface="Cambria Math" panose="02040503050406030204" pitchFamily="18" charset="0"/>
                      </a:rPr>
                      <m:t>=6</m:t>
                    </m:r>
                  </m:oMath>
                </a14:m>
                <a:r>
                  <a:rPr lang="es-ES" sz="2400" dirty="0" smtClean="0"/>
                  <a:t>. Aplicando el término general de una progresión geométrica, se tiene que:</a:t>
                </a:r>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818147" y="2338942"/>
                <a:ext cx="11232682" cy="830997"/>
              </a:xfrm>
              <a:prstGeom prst="rect">
                <a:avLst/>
              </a:prstGeom>
              <a:blipFill rotWithShape="0">
                <a:blip r:embed="rId6"/>
                <a:stretch>
                  <a:fillRect l="-814" t="-5882" r="-868" b="-1617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3729788" y="3238065"/>
                <a:ext cx="1617109" cy="1638910"/>
              </a:xfrm>
              <a:prstGeom prst="rect">
                <a:avLst/>
              </a:prstGeom>
              <a:noFill/>
            </p:spPr>
            <p:txBody>
              <a:bodyPr wrap="none" lIns="0" tIns="0" rIns="0" bIns="0" rtlCol="0">
                <a:spAutoFit/>
              </a:bodyPr>
              <a:lstStyle/>
              <a:p>
                <a:pPr algn="ctr">
                  <a:lnSpc>
                    <a:spcPct val="110000"/>
                  </a:lnSpc>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6</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5</m:t>
                          </m:r>
                        </m:sup>
                      </m:sSup>
                    </m:oMath>
                  </m:oMathPara>
                </a14:m>
                <a:endParaRPr lang="es-ES" sz="2400" b="0" dirty="0" smtClean="0">
                  <a:ea typeface="Cambria Math" panose="02040503050406030204" pitchFamily="18" charset="0"/>
                </a:endParaRPr>
              </a:p>
              <a:p>
                <a:pPr algn="ctr">
                  <a:lnSpc>
                    <a:spcPct val="11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96=3</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5</m:t>
                          </m:r>
                        </m:sup>
                      </m:sSup>
                    </m:oMath>
                  </m:oMathPara>
                </a14:m>
                <a:endParaRPr lang="es-ES" sz="2400" b="0" dirty="0" smtClean="0">
                  <a:ea typeface="Cambria Math" panose="02040503050406030204" pitchFamily="18" charset="0"/>
                </a:endParaRPr>
              </a:p>
              <a:p>
                <a:pPr algn="ctr">
                  <a:lnSpc>
                    <a:spcPct val="11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32=</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𝑟</m:t>
                          </m:r>
                        </m:e>
                        <m:sup>
                          <m:r>
                            <a:rPr lang="es-ES" sz="2400" b="0" i="1" smtClean="0">
                              <a:latin typeface="Cambria Math" panose="02040503050406030204" pitchFamily="18" charset="0"/>
                            </a:rPr>
                            <m:t>5</m:t>
                          </m:r>
                        </m:sup>
                      </m:sSup>
                    </m:oMath>
                  </m:oMathPara>
                </a14:m>
                <a:endParaRPr lang="es-ES" sz="2400" b="0" dirty="0" smtClean="0"/>
              </a:p>
              <a:p>
                <a:pPr algn="ctr">
                  <a:lnSpc>
                    <a:spcPct val="110000"/>
                  </a:lnSpc>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=2</m:t>
                      </m:r>
                    </m:oMath>
                  </m:oMathPara>
                </a14:m>
                <a:endParaRPr lang="es-ES"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3729788" y="3238065"/>
                <a:ext cx="1617109" cy="1638910"/>
              </a:xfrm>
              <a:prstGeom prst="rect">
                <a:avLst/>
              </a:prstGeom>
              <a:blipFill rotWithShape="0">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826172" y="5022801"/>
                <a:ext cx="11232682" cy="461665"/>
              </a:xfrm>
              <a:prstGeom prst="rect">
                <a:avLst/>
              </a:prstGeom>
              <a:noFill/>
            </p:spPr>
            <p:txBody>
              <a:bodyPr wrap="square" rtlCol="0">
                <a:spAutoFit/>
              </a:bodyPr>
              <a:lstStyle/>
              <a:p>
                <a:pPr algn="just"/>
                <a:r>
                  <a:rPr lang="es-ES" sz="2400" dirty="0" smtClean="0"/>
                  <a:t>Por tanto, la progresión geométrica es: </a:t>
                </a:r>
                <a14:m>
                  <m:oMath xmlns:m="http://schemas.openxmlformats.org/officeDocument/2006/math">
                    <m:r>
                      <a:rPr lang="es-ES" sz="2400" b="0" i="1" smtClean="0">
                        <a:latin typeface="Cambria Math" panose="02040503050406030204" pitchFamily="18" charset="0"/>
                      </a:rPr>
                      <m:t>3, 6, 12, 24, 48, 96</m:t>
                    </m:r>
                  </m:oMath>
                </a14:m>
                <a:r>
                  <a:rPr lang="es-ES" sz="2400" dirty="0" smtClean="0"/>
                  <a:t>, </a:t>
                </a:r>
                <a:endParaRPr lang="es-ES" sz="24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826172" y="5022801"/>
                <a:ext cx="11232682" cy="461665"/>
              </a:xfrm>
              <a:prstGeom prst="rect">
                <a:avLst/>
              </a:prstGeom>
              <a:blipFill rotWithShape="0">
                <a:blip r:embed="rId8"/>
                <a:stretch>
                  <a:fillRect l="-869" t="-10526" b="-28947"/>
                </a:stretch>
              </a:blipFill>
            </p:spPr>
            <p:txBody>
              <a:bodyPr/>
              <a:lstStyle/>
              <a:p>
                <a:r>
                  <a:rPr lang="es-ES">
                    <a:noFill/>
                  </a:rPr>
                  <a:t> </a:t>
                </a:r>
              </a:p>
            </p:txBody>
          </p:sp>
        </mc:Fallback>
      </mc:AlternateContent>
    </p:spTree>
    <p:extLst>
      <p:ext uri="{BB962C8B-B14F-4D97-AF65-F5344CB8AC3E}">
        <p14:creationId xmlns:p14="http://schemas.microsoft.com/office/powerpoint/2010/main" val="13728238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186237" y="198267"/>
            <a:ext cx="5731056"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Suma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2" name="CuadroTexto 1"/>
              <p:cNvSpPr txBox="1"/>
              <p:nvPr/>
            </p:nvSpPr>
            <p:spPr>
              <a:xfrm>
                <a:off x="276468" y="1032847"/>
                <a:ext cx="11915532" cy="830997"/>
              </a:xfrm>
              <a:prstGeom prst="rect">
                <a:avLst/>
              </a:prstGeom>
              <a:noFill/>
            </p:spPr>
            <p:txBody>
              <a:bodyPr wrap="square" rtlCol="0">
                <a:spAutoFit/>
              </a:bodyPr>
              <a:lstStyle/>
              <a:p>
                <a:r>
                  <a:rPr lang="es-ES" sz="2400" dirty="0" smtClean="0"/>
                  <a:t>Vamos a calcular la suma de los términos de una progresión geométrica limitada: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 </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2</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oMath>
                </a14:m>
                <a:r>
                  <a:rPr lang="es-ES" sz="2400" dirty="0" smtClean="0"/>
                  <a:t>, para ello escribimos la suma de los </a:t>
                </a:r>
                <a14:m>
                  <m:oMath xmlns:m="http://schemas.openxmlformats.org/officeDocument/2006/math">
                    <m:r>
                      <a:rPr lang="es-ES" sz="2400" b="0" i="1" smtClean="0">
                        <a:latin typeface="Cambria Math" panose="02040503050406030204" pitchFamily="18" charset="0"/>
                      </a:rPr>
                      <m:t>𝑛</m:t>
                    </m:r>
                  </m:oMath>
                </a14:m>
                <a:r>
                  <a:rPr lang="es-ES" sz="2400" dirty="0" smtClean="0"/>
                  <a:t> término,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oMath>
                </a14:m>
                <a:r>
                  <a:rPr lang="es-ES" sz="2400" dirty="0" smtClean="0"/>
                  <a:t>, y después multiplicamos por la razón:</a:t>
                </a:r>
                <a:endParaRPr lang="es-ES" sz="24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276468" y="1032847"/>
                <a:ext cx="11915532" cy="830997"/>
              </a:xfrm>
              <a:prstGeom prst="rect">
                <a:avLst/>
              </a:prstGeom>
              <a:blipFill rotWithShape="0">
                <a:blip r:embed="rId5"/>
                <a:stretch>
                  <a:fillRect l="-767" t="-5839" r="-1023" b="-1532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p:cNvSpPr txBox="1"/>
              <p:nvPr/>
            </p:nvSpPr>
            <p:spPr>
              <a:xfrm>
                <a:off x="3048804" y="1865756"/>
                <a:ext cx="5954066" cy="812530"/>
              </a:xfrm>
              <a:prstGeom prst="rect">
                <a:avLst/>
              </a:prstGeom>
              <a:noFill/>
            </p:spPr>
            <p:txBody>
              <a:bodyPr wrap="none" lIns="0" tIns="0" rIns="0" bIns="0" rtlCol="0">
                <a:spAutoFit/>
              </a:bodyPr>
              <a:lstStyle/>
              <a:p>
                <a:pPr>
                  <a:lnSpc>
                    <a:spcPct val="110000"/>
                  </a:lnSpc>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2</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r>
                            <a:rPr lang="es-ES" sz="2400" b="0" i="1" smtClean="0">
                              <a:latin typeface="Cambria Math" panose="02040503050406030204" pitchFamily="18" charset="0"/>
                            </a:rPr>
                            <m:t>−1</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oMath>
                  </m:oMathPara>
                </a14:m>
                <a:endParaRPr lang="es-ES" sz="2400" b="0" dirty="0" smtClean="0"/>
              </a:p>
              <a:p>
                <a:pPr>
                  <a:lnSpc>
                    <a:spcPct val="110000"/>
                  </a:lnSpc>
                </a:pPr>
                <a14:m>
                  <m:oMathPara xmlns:m="http://schemas.openxmlformats.org/officeDocument/2006/math">
                    <m:oMathParaPr>
                      <m:jc m:val="centerGroup"/>
                    </m:oMathParaPr>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𝑆</m:t>
                          </m:r>
                        </m:e>
                        <m:sub>
                          <m:r>
                            <a:rPr lang="es-ES" sz="2400" i="1">
                              <a:latin typeface="Cambria Math" panose="02040503050406030204" pitchFamily="18" charset="0"/>
                            </a:rPr>
                            <m:t>𝑛</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1</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2</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𝑛</m:t>
                          </m:r>
                          <m:r>
                            <a:rPr lang="es-ES" sz="2400" i="1">
                              <a:latin typeface="Cambria Math" panose="02040503050406030204" pitchFamily="18" charset="0"/>
                            </a:rPr>
                            <m:t>−1</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𝑛</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oMath>
                  </m:oMathPara>
                </a14:m>
                <a:endParaRPr lang="es-ES"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3048804" y="1865756"/>
                <a:ext cx="5954066" cy="812530"/>
              </a:xfrm>
              <a:prstGeom prst="rect">
                <a:avLst/>
              </a:prstGeom>
              <a:blipFill rotWithShape="0">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flipH="1">
                <a:off x="183806" y="2721579"/>
                <a:ext cx="11525047" cy="830997"/>
              </a:xfrm>
              <a:prstGeom prst="rect">
                <a:avLst/>
              </a:prstGeom>
              <a:noFill/>
            </p:spPr>
            <p:txBody>
              <a:bodyPr wrap="square" rtlCol="0">
                <a:spAutoFit/>
              </a:bodyPr>
              <a:lstStyle/>
              <a:p>
                <a:r>
                  <a:rPr lang="es-ES" sz="2400" dirty="0" smtClean="0"/>
                  <a:t>Ahora restamos estas dos expresiones, teniendo en cuenta que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2</m:t>
                        </m:r>
                      </m:sub>
                    </m:sSub>
                    <m:r>
                      <a:rPr lang="es-ES" sz="2400" b="0" i="1" smtClean="0">
                        <a:latin typeface="Cambria Math" panose="02040503050406030204" pitchFamily="18" charset="0"/>
                        <a:ea typeface="Cambria Math" panose="02040503050406030204" pitchFamily="18" charset="0"/>
                      </a:rPr>
                      <m:t>, </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2</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3</m:t>
                        </m:r>
                      </m:sub>
                    </m:sSub>
                    <m:r>
                      <a:rPr lang="es-ES" sz="2400" b="0" i="1" smtClean="0">
                        <a:latin typeface="Cambria Math" panose="02040503050406030204" pitchFamily="18" charset="0"/>
                        <a:ea typeface="Cambria Math" panose="02040503050406030204" pitchFamily="18" charset="0"/>
                      </a:rPr>
                      <m:t>,</m:t>
                    </m:r>
                  </m:oMath>
                </a14:m>
                <a:r>
                  <a:rPr lang="es-ES" sz="2400" dirty="0" smtClean="0"/>
                  <a:t> etc.:</a:t>
                </a:r>
                <a:endParaRPr lang="es-ES"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flipH="1">
                <a:off x="183806" y="2721579"/>
                <a:ext cx="11525047" cy="830997"/>
              </a:xfrm>
              <a:prstGeom prst="rect">
                <a:avLst/>
              </a:prstGeom>
              <a:blipFill rotWithShape="0">
                <a:blip r:embed="rId7"/>
                <a:stretch>
                  <a:fillRect l="-793" t="-5839" b="-1532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3874167" y="3315459"/>
                <a:ext cx="3303340"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𝑆</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1</m:t>
                          </m:r>
                        </m:sub>
                      </m:sSub>
                    </m:oMath>
                  </m:oMathPara>
                </a14:m>
                <a:endParaRPr lang="es-ES" sz="2400"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𝑟</m:t>
                          </m:r>
                          <m:r>
                            <a:rPr lang="es-ES" sz="2400" b="0" i="1" smtClean="0">
                              <a:latin typeface="Cambria Math" panose="02040503050406030204" pitchFamily="18" charset="0"/>
                            </a:rPr>
                            <m:t>−1</m:t>
                          </m:r>
                        </m:e>
                      </m:d>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1</m:t>
                          </m:r>
                        </m:sub>
                      </m:sSub>
                    </m:oMath>
                  </m:oMathPara>
                </a14:m>
                <a:endParaRPr lang="es-ES"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3874167" y="3315459"/>
                <a:ext cx="3303340" cy="738664"/>
              </a:xfrm>
              <a:prstGeom prst="rect">
                <a:avLst/>
              </a:prstGeom>
              <a:blipFill rotWithShape="0">
                <a:blip r:embed="rId8"/>
                <a:stretch>
                  <a:fillRect l="-555" b="-6612"/>
                </a:stretch>
              </a:blipFill>
            </p:spPr>
            <p:txBody>
              <a:bodyPr/>
              <a:lstStyle/>
              <a:p>
                <a:r>
                  <a:rPr lang="es-ES">
                    <a:noFill/>
                  </a:rPr>
                  <a:t> </a:t>
                </a:r>
              </a:p>
            </p:txBody>
          </p:sp>
        </mc:Fallback>
      </mc:AlternateContent>
      <p:sp>
        <p:nvSpPr>
          <p:cNvPr id="11" name="CuadroTexto 10"/>
          <p:cNvSpPr txBox="1"/>
          <p:nvPr/>
        </p:nvSpPr>
        <p:spPr>
          <a:xfrm>
            <a:off x="379964" y="4011344"/>
            <a:ext cx="1479892" cy="461665"/>
          </a:xfrm>
          <a:prstGeom prst="rect">
            <a:avLst/>
          </a:prstGeom>
          <a:noFill/>
        </p:spPr>
        <p:txBody>
          <a:bodyPr wrap="none" rtlCol="0">
            <a:spAutoFit/>
          </a:bodyPr>
          <a:lstStyle/>
          <a:p>
            <a:r>
              <a:rPr lang="es-ES" sz="2400" dirty="0" smtClean="0"/>
              <a:t>De donde:</a:t>
            </a:r>
            <a:endParaRPr lang="es-ES" sz="2400" dirty="0"/>
          </a:p>
        </p:txBody>
      </p:sp>
      <mc:AlternateContent xmlns:mc="http://schemas.openxmlformats.org/markup-compatibility/2006" xmlns:a14="http://schemas.microsoft.com/office/drawing/2010/main">
        <mc:Choice Requires="a14">
          <p:sp>
            <p:nvSpPr>
              <p:cNvPr id="12" name="CuadroTexto 11"/>
              <p:cNvSpPr txBox="1"/>
              <p:nvPr/>
            </p:nvSpPr>
            <p:spPr>
              <a:xfrm>
                <a:off x="4265855" y="4473009"/>
                <a:ext cx="2248693" cy="630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1</m:t>
                              </m:r>
                            </m:sub>
                          </m:sSub>
                        </m:num>
                        <m:den>
                          <m:r>
                            <a:rPr lang="es-ES" sz="2400" b="0" i="1" smtClean="0">
                              <a:latin typeface="Cambria Math" panose="02040503050406030204" pitchFamily="18" charset="0"/>
                            </a:rPr>
                            <m:t>𝑟</m:t>
                          </m:r>
                          <m:r>
                            <a:rPr lang="es-ES" sz="2400" b="0" i="1" smtClean="0">
                              <a:latin typeface="Cambria Math" panose="02040503050406030204" pitchFamily="18" charset="0"/>
                            </a:rPr>
                            <m:t>−1</m:t>
                          </m:r>
                        </m:den>
                      </m:f>
                    </m:oMath>
                  </m:oMathPara>
                </a14:m>
                <a:endParaRPr lang="es-ES" sz="24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4265855" y="4473009"/>
                <a:ext cx="2248693" cy="630109"/>
              </a:xfrm>
              <a:prstGeom prst="rect">
                <a:avLst/>
              </a:prstGeom>
              <a:blipFill rotWithShape="0">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235560" y="5188018"/>
                <a:ext cx="7632410" cy="461665"/>
              </a:xfrm>
              <a:prstGeom prst="rect">
                <a:avLst/>
              </a:prstGeom>
              <a:noFill/>
            </p:spPr>
            <p:txBody>
              <a:bodyPr wrap="none" rtlCol="0">
                <a:spAutoFit/>
              </a:bodyPr>
              <a:lstStyle/>
              <a:p>
                <a:r>
                  <a:rPr lang="es-ES" sz="2400" dirty="0" smtClean="0"/>
                  <a:t>Teniendo en cuenta que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oMath>
                </a14:m>
                <a:r>
                  <a:rPr lang="es-ES" sz="2400" dirty="0" smtClean="0"/>
                  <a:t>, se obtiene finalmente:</a:t>
                </a:r>
                <a:endParaRPr lang="es-ES" sz="24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235560" y="5188018"/>
                <a:ext cx="7632410" cy="461665"/>
              </a:xfrm>
              <a:prstGeom prst="rect">
                <a:avLst/>
              </a:prstGeom>
              <a:blipFill rotWithShape="0">
                <a:blip r:embed="rId10"/>
                <a:stretch>
                  <a:fillRect l="-1278" t="-10526" r="-80" b="-2894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4302755" y="5780448"/>
                <a:ext cx="2204386" cy="7086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𝑟</m:t>
                              </m:r>
                            </m:e>
                            <m:sup>
                              <m:r>
                                <a:rPr lang="es-ES" sz="2400" b="0" i="1" smtClean="0">
                                  <a:latin typeface="Cambria Math" panose="02040503050406030204" pitchFamily="18" charset="0"/>
                                </a:rPr>
                                <m:t>𝑛</m:t>
                              </m:r>
                            </m:sup>
                          </m:sSup>
                          <m:r>
                            <a:rPr lang="es-ES" sz="2400" b="0" i="1" smtClean="0">
                              <a:latin typeface="Cambria Math" panose="02040503050406030204" pitchFamily="18" charset="0"/>
                              <a:ea typeface="Cambria Math" panose="02040503050406030204" pitchFamily="18" charset="0"/>
                            </a:rPr>
                            <m:t>−1)</m:t>
                          </m:r>
                        </m:num>
                        <m:den>
                          <m:r>
                            <a:rPr lang="es-ES" sz="2400" b="0" i="1" smtClean="0">
                              <a:latin typeface="Cambria Math" panose="02040503050406030204" pitchFamily="18" charset="0"/>
                            </a:rPr>
                            <m:t>𝑟</m:t>
                          </m:r>
                          <m:r>
                            <a:rPr lang="es-ES" sz="2400" b="0" i="1" smtClean="0">
                              <a:latin typeface="Cambria Math" panose="02040503050406030204" pitchFamily="18" charset="0"/>
                            </a:rPr>
                            <m:t>−1</m:t>
                          </m:r>
                        </m:den>
                      </m:f>
                    </m:oMath>
                  </m:oMathPara>
                </a14:m>
                <a:endParaRPr lang="es-ES" sz="24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4302755" y="5780448"/>
                <a:ext cx="2204386" cy="708656"/>
              </a:xfrm>
              <a:prstGeom prst="rect">
                <a:avLst/>
              </a:prstGeom>
              <a:blipFill rotWithShape="0">
                <a:blip r:embed="rId11"/>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3531855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186237" y="198267"/>
            <a:ext cx="5731056"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Suma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2" name="CuadroTexto 1"/>
              <p:cNvSpPr txBox="1"/>
              <p:nvPr/>
            </p:nvSpPr>
            <p:spPr>
              <a:xfrm>
                <a:off x="276468" y="1032847"/>
                <a:ext cx="11915532" cy="2471959"/>
              </a:xfrm>
              <a:prstGeom prst="rect">
                <a:avLst/>
              </a:prstGeom>
              <a:noFill/>
            </p:spPr>
            <p:txBody>
              <a:bodyPr wrap="square" rtlCol="0">
                <a:spAutoFit/>
              </a:bodyPr>
              <a:lstStyle/>
              <a:p>
                <a:pPr algn="just">
                  <a:lnSpc>
                    <a:spcPct val="110000"/>
                  </a:lnSpc>
                </a:pPr>
                <a:r>
                  <a:rPr lang="es-ES" sz="2400" dirty="0" smtClean="0"/>
                  <a:t>Las progresiones geométricas no tienen por qué ser siempre crecientes, si la razón es menor que la unidad se dice que estamos ante una </a:t>
                </a:r>
                <a:r>
                  <a:rPr lang="es-ES" sz="2400" dirty="0" smtClean="0">
                    <a:solidFill>
                      <a:srgbClr val="0070C0"/>
                    </a:solidFill>
                  </a:rPr>
                  <a:t>progresión geométrica decreciente</a:t>
                </a:r>
                <a:r>
                  <a:rPr lang="es-ES" sz="2400" dirty="0" smtClean="0"/>
                  <a:t>.</a:t>
                </a:r>
              </a:p>
              <a:p>
                <a:pPr algn="just">
                  <a:lnSpc>
                    <a:spcPct val="110000"/>
                  </a:lnSpc>
                </a:pPr>
                <a:r>
                  <a:rPr lang="es-ES" sz="2400" dirty="0" smtClean="0"/>
                  <a:t>Por ejemplo, la progresión cuyo término general es: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=3</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10</m:t>
                        </m:r>
                      </m:e>
                      <m:sup>
                        <m:r>
                          <a:rPr lang="es-ES" sz="2400" b="0" i="1" smtClean="0">
                            <a:latin typeface="Cambria Math" panose="02040503050406030204" pitchFamily="18" charset="0"/>
                            <a:ea typeface="Cambria Math" panose="02040503050406030204" pitchFamily="18" charset="0"/>
                          </a:rPr>
                          <m:t>1−</m:t>
                        </m:r>
                        <m:r>
                          <a:rPr lang="es-ES" sz="2400" b="0" i="1" smtClean="0">
                            <a:latin typeface="Cambria Math" panose="02040503050406030204" pitchFamily="18" charset="0"/>
                            <a:ea typeface="Cambria Math" panose="02040503050406030204" pitchFamily="18" charset="0"/>
                          </a:rPr>
                          <m:t>𝑛</m:t>
                        </m:r>
                      </m:sup>
                    </m:sSup>
                  </m:oMath>
                </a14:m>
                <a:r>
                  <a:rPr lang="es-ES" sz="2400" dirty="0" smtClean="0"/>
                  <a:t>, es decir :</a:t>
                </a:r>
              </a:p>
              <a:p>
                <a:pPr algn="just">
                  <a:lnSpc>
                    <a:spcPct val="110000"/>
                  </a:lnSpc>
                </a:pPr>
                <a14:m>
                  <m:oMathPara xmlns:m="http://schemas.openxmlformats.org/officeDocument/2006/math">
                    <m:oMathParaPr>
                      <m:jc m:val="centerGroup"/>
                    </m:oMathParaPr>
                    <m:oMath xmlns:m="http://schemas.openxmlformats.org/officeDocument/2006/math">
                      <m:d>
                        <m:dPr>
                          <m:begChr m:val="{"/>
                          <m:endChr m:val="}"/>
                          <m:ctrlPr>
                            <a:rPr lang="es-ES" sz="2400" i="1" smtClean="0">
                              <a:latin typeface="Cambria Math" panose="02040503050406030204" pitchFamily="18" charset="0"/>
                            </a:rPr>
                          </m:ctrlPr>
                        </m:dPr>
                        <m:e>
                          <m:r>
                            <a:rPr lang="es-ES" sz="2400" b="0" i="1" smtClean="0">
                              <a:latin typeface="Cambria Math" panose="02040503050406030204" pitchFamily="18" charset="0"/>
                            </a:rPr>
                            <m:t>3,</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3</m:t>
                              </m:r>
                            </m:num>
                            <m:den>
                              <m:r>
                                <a:rPr lang="es-ES" sz="2400" b="0" i="1" smtClean="0">
                                  <a:latin typeface="Cambria Math" panose="02040503050406030204" pitchFamily="18" charset="0"/>
                                </a:rPr>
                                <m:t>10</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3</m:t>
                              </m:r>
                            </m:num>
                            <m:den>
                              <m:r>
                                <a:rPr lang="es-ES" sz="2400" b="0" i="1" smtClean="0">
                                  <a:latin typeface="Cambria Math" panose="02040503050406030204" pitchFamily="18" charset="0"/>
                                </a:rPr>
                                <m:t>100</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3</m:t>
                              </m:r>
                            </m:num>
                            <m:den>
                              <m:r>
                                <a:rPr lang="es-ES" sz="2400" b="0" i="1" smtClean="0">
                                  <a:latin typeface="Cambria Math" panose="02040503050406030204" pitchFamily="18" charset="0"/>
                                </a:rPr>
                                <m:t>1000</m:t>
                              </m:r>
                            </m:den>
                          </m:f>
                          <m:r>
                            <a:rPr lang="es-ES" sz="2400" b="0" i="1" smtClean="0">
                              <a:latin typeface="Cambria Math" panose="02040503050406030204" pitchFamily="18" charset="0"/>
                            </a:rPr>
                            <m:t>,…</m:t>
                          </m:r>
                        </m:e>
                      </m:d>
                    </m:oMath>
                  </m:oMathPara>
                </a14:m>
                <a:endParaRPr lang="es-ES" sz="2400" dirty="0" smtClean="0"/>
              </a:p>
              <a:p>
                <a:pPr algn="just">
                  <a:lnSpc>
                    <a:spcPct val="110000"/>
                  </a:lnSpc>
                </a:pPr>
                <a:r>
                  <a:rPr lang="es-ES" sz="2400" dirty="0" smtClean="0"/>
                  <a:t>Es una progresión geométrica decreciente, sus términos se hacen cada vez más pequeños.</a:t>
                </a:r>
                <a:endParaRPr lang="es-ES" sz="24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276468" y="1032847"/>
                <a:ext cx="11915532" cy="2471959"/>
              </a:xfrm>
              <a:prstGeom prst="rect">
                <a:avLst/>
              </a:prstGeom>
              <a:blipFill rotWithShape="0">
                <a:blip r:embed="rId5"/>
                <a:stretch>
                  <a:fillRect l="-767" t="-1232" r="-767" b="-443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175243" y="3806623"/>
                <a:ext cx="12121387" cy="904863"/>
              </a:xfrm>
              <a:prstGeom prst="rect">
                <a:avLst/>
              </a:prstGeom>
              <a:noFill/>
            </p:spPr>
            <p:txBody>
              <a:bodyPr wrap="square" rtlCol="0">
                <a:spAutoFit/>
              </a:bodyPr>
              <a:lstStyle/>
              <a:p>
                <a:pPr>
                  <a:lnSpc>
                    <a:spcPct val="110000"/>
                  </a:lnSpc>
                </a:pPr>
                <a:r>
                  <a:rPr lang="es-ES" sz="2400" dirty="0" smtClean="0"/>
                  <a:t>Para obtener la fórmula de la suma de las progresiones geométricas decrecientes, multiplicamos por </a:t>
                </a:r>
                <a14:m>
                  <m:oMath xmlns:m="http://schemas.openxmlformats.org/officeDocument/2006/math">
                    <m:r>
                      <a:rPr lang="es-ES" sz="2400" b="0" i="1" smtClean="0">
                        <a:latin typeface="Cambria Math" panose="02040503050406030204" pitchFamily="18" charset="0"/>
                      </a:rPr>
                      <m:t>−1</m:t>
                    </m:r>
                  </m:oMath>
                </a14:m>
                <a:r>
                  <a:rPr lang="es-ES" sz="2400" dirty="0" smtClean="0"/>
                  <a:t> el numerador y el denominador de la expresión que hemos obtenido de la suma :</a:t>
                </a:r>
                <a:endParaRPr lang="es-ES"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175243" y="3806623"/>
                <a:ext cx="12121387" cy="904863"/>
              </a:xfrm>
              <a:prstGeom prst="rect">
                <a:avLst/>
              </a:prstGeom>
              <a:blipFill rotWithShape="0">
                <a:blip r:embed="rId6"/>
                <a:stretch>
                  <a:fillRect l="-805" t="-3356" r="-956" b="-120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1924328" y="4920810"/>
                <a:ext cx="8343385" cy="70865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𝑟</m:t>
                              </m:r>
                            </m:e>
                            <m:sup>
                              <m:r>
                                <a:rPr lang="es-ES" sz="2400" b="0" i="1" smtClean="0">
                                  <a:latin typeface="Cambria Math" panose="02040503050406030204" pitchFamily="18" charset="0"/>
                                </a:rPr>
                                <m:t>𝑛</m:t>
                              </m:r>
                            </m:sup>
                          </m:sSup>
                          <m:r>
                            <a:rPr lang="es-ES" sz="2400" b="0" i="1" smtClean="0">
                              <a:latin typeface="Cambria Math" panose="02040503050406030204" pitchFamily="18" charset="0"/>
                              <a:ea typeface="Cambria Math" panose="02040503050406030204" pitchFamily="18" charset="0"/>
                            </a:rPr>
                            <m:t>−1)</m:t>
                          </m:r>
                        </m:num>
                        <m:den>
                          <m:r>
                            <a:rPr lang="es-ES" sz="2400" b="0" i="1" smtClean="0">
                              <a:latin typeface="Cambria Math" panose="02040503050406030204" pitchFamily="18" charset="0"/>
                            </a:rPr>
                            <m:t>𝑟</m:t>
                          </m:r>
                          <m:r>
                            <a:rPr lang="es-ES" sz="2400" b="0" i="1" smtClean="0">
                              <a:latin typeface="Cambria Math" panose="02040503050406030204" pitchFamily="18" charset="0"/>
                            </a:rPr>
                            <m:t>−1</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𝑛</m:t>
                              </m:r>
                            </m:sup>
                          </m:sSup>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𝑎</m:t>
                              </m:r>
                            </m:e>
                            <m:sub>
                              <m:r>
                                <a:rPr lang="es-ES" sz="2400" b="0" i="1" smtClean="0">
                                  <a:latin typeface="Cambria Math" panose="02040503050406030204" pitchFamily="18" charset="0"/>
                                  <a:ea typeface="Cambria Math" panose="02040503050406030204" pitchFamily="18" charset="0"/>
                                </a:rPr>
                                <m:t>1</m:t>
                              </m:r>
                            </m:sub>
                          </m:sSub>
                        </m:num>
                        <m:den>
                          <m:r>
                            <a:rPr lang="es-ES" sz="2400" b="0" i="1" smtClean="0">
                              <a:latin typeface="Cambria Math" panose="02040503050406030204" pitchFamily="18" charset="0"/>
                            </a:rPr>
                            <m:t>𝑟</m:t>
                          </m:r>
                          <m:r>
                            <a:rPr lang="es-ES" sz="2400" b="0" i="1" smtClean="0">
                              <a:latin typeface="Cambria Math" panose="02040503050406030204" pitchFamily="18" charset="0"/>
                            </a:rPr>
                            <m:t>−1</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𝑛</m:t>
                              </m:r>
                            </m:sup>
                          </m:sSup>
                        </m:num>
                        <m:den>
                          <m:r>
                            <a:rPr lang="es-ES" sz="2400" b="0" i="1" smtClean="0">
                              <a:latin typeface="Cambria Math" panose="02040503050406030204" pitchFamily="18" charset="0"/>
                            </a:rPr>
                            <m:t>1−</m:t>
                          </m:r>
                          <m:r>
                            <a:rPr lang="es-ES" sz="2400" b="0" i="1" smtClean="0">
                              <a:latin typeface="Cambria Math" panose="02040503050406030204" pitchFamily="18" charset="0"/>
                            </a:rPr>
                            <m:t>𝑟</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num>
                        <m:den>
                          <m:r>
                            <a:rPr lang="es-ES" sz="2400" b="0" i="1" smtClean="0">
                              <a:latin typeface="Cambria Math" panose="02040503050406030204" pitchFamily="18" charset="0"/>
                            </a:rPr>
                            <m:t>1−</m:t>
                          </m:r>
                          <m:r>
                            <a:rPr lang="es-ES" sz="2400" b="0" i="1" smtClean="0">
                              <a:latin typeface="Cambria Math" panose="02040503050406030204" pitchFamily="18" charset="0"/>
                            </a:rPr>
                            <m:t>𝑟</m:t>
                          </m:r>
                        </m:den>
                      </m:f>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𝑛</m:t>
                              </m:r>
                            </m:sup>
                          </m:sSup>
                        </m:num>
                        <m:den>
                          <m:r>
                            <a:rPr lang="es-ES" sz="2400" b="0" i="1" smtClean="0">
                              <a:latin typeface="Cambria Math" panose="02040503050406030204" pitchFamily="18" charset="0"/>
                            </a:rPr>
                            <m:t>1−</m:t>
                          </m:r>
                          <m:r>
                            <a:rPr lang="es-ES" sz="2400" b="0" i="1" smtClean="0">
                              <a:latin typeface="Cambria Math" panose="02040503050406030204" pitchFamily="18" charset="0"/>
                            </a:rPr>
                            <m:t>𝑟</m:t>
                          </m:r>
                        </m:den>
                      </m:f>
                    </m:oMath>
                  </m:oMathPara>
                </a14:m>
                <a:endParaRPr lang="es-ES" sz="24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1924328" y="4920810"/>
                <a:ext cx="8343385" cy="708656"/>
              </a:xfrm>
              <a:prstGeom prst="rect">
                <a:avLst/>
              </a:prstGeom>
              <a:blipFill rotWithShape="0">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31296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186237" y="198267"/>
            <a:ext cx="5731056"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Suma</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2" name="CuadroTexto 1"/>
              <p:cNvSpPr txBox="1"/>
              <p:nvPr/>
            </p:nvSpPr>
            <p:spPr>
              <a:xfrm>
                <a:off x="276468" y="1032847"/>
                <a:ext cx="11915532" cy="830997"/>
              </a:xfrm>
              <a:prstGeom prst="rect">
                <a:avLst/>
              </a:prstGeom>
              <a:noFill/>
            </p:spPr>
            <p:txBody>
              <a:bodyPr wrap="square" rtlCol="0">
                <a:spAutoFit/>
              </a:bodyPr>
              <a:lstStyle/>
              <a:p>
                <a:r>
                  <a:rPr lang="es-ES" sz="2400" dirty="0" smtClean="0"/>
                  <a:t>Si la razón, </a:t>
                </a:r>
                <a14:m>
                  <m:oMath xmlns:m="http://schemas.openxmlformats.org/officeDocument/2006/math">
                    <m:r>
                      <a:rPr lang="es-ES" sz="2400" b="0" i="1" smtClean="0">
                        <a:latin typeface="Cambria Math" panose="02040503050406030204" pitchFamily="18" charset="0"/>
                      </a:rPr>
                      <m:t>𝑟</m:t>
                    </m:r>
                  </m:oMath>
                </a14:m>
                <a:r>
                  <a:rPr lang="es-ES" sz="2400" dirty="0" smtClean="0"/>
                  <a:t>, es positivo y menor que la unidad, por ejemplo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=1/1000</m:t>
                    </m:r>
                  </m:oMath>
                </a14:m>
                <a:r>
                  <a:rPr lang="es-ES" sz="2400" dirty="0" smtClean="0"/>
                  <a:t>, ¿qué ocurre si el tamaño de la progresión, </a:t>
                </a:r>
                <a14:m>
                  <m:oMath xmlns:m="http://schemas.openxmlformats.org/officeDocument/2006/math">
                    <m:r>
                      <a:rPr lang="es-ES" sz="2400" b="0" i="1" smtClean="0">
                        <a:latin typeface="Cambria Math" panose="02040503050406030204" pitchFamily="18" charset="0"/>
                      </a:rPr>
                      <m:t>𝑛</m:t>
                    </m:r>
                  </m:oMath>
                </a14:m>
                <a:r>
                  <a:rPr lang="es-ES" sz="2400" dirty="0" smtClean="0"/>
                  <a:t>, crece?</a:t>
                </a:r>
                <a:endParaRPr lang="es-ES" sz="24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276468" y="1032847"/>
                <a:ext cx="11915532" cy="830997"/>
              </a:xfrm>
              <a:prstGeom prst="rect">
                <a:avLst/>
              </a:prstGeom>
              <a:blipFill rotWithShape="0">
                <a:blip r:embed="rId5"/>
                <a:stretch>
                  <a:fillRect l="-767" t="-5839" b="-1532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flipH="1">
                <a:off x="183806" y="2093776"/>
                <a:ext cx="11525047" cy="1200329"/>
              </a:xfrm>
              <a:prstGeom prst="rect">
                <a:avLst/>
              </a:prstGeom>
              <a:noFill/>
            </p:spPr>
            <p:txBody>
              <a:bodyPr wrap="square" rtlCol="0">
                <a:spAutoFit/>
              </a:bodyPr>
              <a:lstStyle/>
              <a:p>
                <a:r>
                  <a:rPr lang="es-ES" sz="2400" dirty="0" smtClean="0"/>
                  <a:t>La primera fracción de la expresión anterior permanece constante ya que no depende de </a:t>
                </a:r>
                <a14:m>
                  <m:oMath xmlns:m="http://schemas.openxmlformats.org/officeDocument/2006/math">
                    <m:r>
                      <a:rPr lang="es-ES" sz="2400" b="0" i="1" smtClean="0">
                        <a:latin typeface="Cambria Math" panose="02040503050406030204" pitchFamily="18" charset="0"/>
                      </a:rPr>
                      <m:t>𝑛</m:t>
                    </m:r>
                  </m:oMath>
                </a14:m>
                <a:r>
                  <a:rPr lang="es-ES" sz="2400" dirty="0" smtClean="0"/>
                  <a:t>, pero </a:t>
                </a:r>
                <a14:m>
                  <m:oMath xmlns:m="http://schemas.openxmlformats.org/officeDocument/2006/math">
                    <m:sSup>
                      <m:sSupPr>
                        <m:ctrlPr>
                          <a:rPr lang="es-ES" sz="2400" i="1" smtClean="0">
                            <a:latin typeface="Cambria Math" panose="02040503050406030204" pitchFamily="18" charset="0"/>
                          </a:rPr>
                        </m:ctrlPr>
                      </m:sSupPr>
                      <m:e>
                        <m:r>
                          <a:rPr lang="es-ES" sz="2400" b="0" i="1" smtClean="0">
                            <a:latin typeface="Cambria Math" panose="02040503050406030204" pitchFamily="18" charset="0"/>
                          </a:rPr>
                          <m:t>𝑟</m:t>
                        </m:r>
                      </m:e>
                      <m:sup>
                        <m:r>
                          <a:rPr lang="es-ES" sz="2400" b="0" i="1" smtClean="0">
                            <a:latin typeface="Cambria Math" panose="02040503050406030204" pitchFamily="18" charset="0"/>
                          </a:rPr>
                          <m:t>𝑛</m:t>
                        </m:r>
                      </m:sup>
                    </m:sSup>
                  </m:oMath>
                </a14:m>
                <a:r>
                  <a:rPr lang="es-ES" sz="2400" dirty="0" smtClean="0"/>
                  <a:t> se hace cada vez más pequeño. Por esta razón, para hallar la suma de los infinitos términos de una progresión geométrica decreciente se utiliza la expresión:</a:t>
                </a:r>
                <a:endParaRPr lang="es-ES"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flipH="1">
                <a:off x="183806" y="2093776"/>
                <a:ext cx="11525047" cy="1200329"/>
              </a:xfrm>
              <a:prstGeom prst="rect">
                <a:avLst/>
              </a:prstGeom>
              <a:blipFill rotWithShape="0">
                <a:blip r:embed="rId6"/>
                <a:stretch>
                  <a:fillRect l="-793" t="-4061" r="-952" b="-1066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4302755" y="3514908"/>
                <a:ext cx="1470146" cy="630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𝑛</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num>
                        <m:den>
                          <m:r>
                            <a:rPr lang="es-ES" sz="2400" b="0" i="1" smtClean="0">
                              <a:latin typeface="Cambria Math" panose="02040503050406030204" pitchFamily="18" charset="0"/>
                            </a:rPr>
                            <m:t>1−</m:t>
                          </m:r>
                          <m:r>
                            <a:rPr lang="es-ES" sz="2400" b="0" i="1" smtClean="0">
                              <a:latin typeface="Cambria Math" panose="02040503050406030204" pitchFamily="18" charset="0"/>
                            </a:rPr>
                            <m:t>𝑟</m:t>
                          </m:r>
                        </m:den>
                      </m:f>
                    </m:oMath>
                  </m:oMathPara>
                </a14:m>
                <a:endParaRPr lang="es-ES" sz="24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4302755" y="3514908"/>
                <a:ext cx="1470146" cy="630109"/>
              </a:xfrm>
              <a:prstGeom prst="rect">
                <a:avLst/>
              </a:prstGeom>
              <a:blipFill rotWithShape="0">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7461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429965"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571140" y="885821"/>
                <a:ext cx="11382999" cy="884538"/>
              </a:xfrm>
              <a:prstGeom prst="rect">
                <a:avLst/>
              </a:prstGeom>
              <a:noFill/>
            </p:spPr>
            <p:txBody>
              <a:bodyPr wrap="square" rtlCol="0">
                <a:spAutoFit/>
              </a:bodyPr>
              <a:lstStyle/>
              <a:p>
                <a:pPr marL="342900" indent="-342900">
                  <a:lnSpc>
                    <a:spcPct val="110000"/>
                  </a:lnSpc>
                  <a:buClr>
                    <a:srgbClr val="0070C0"/>
                  </a:buClr>
                  <a:buFont typeface="Wingdings" panose="05000000000000000000" pitchFamily="2" charset="2"/>
                  <a:buChar char="q"/>
                </a:pPr>
                <a:r>
                  <a:rPr lang="es-ES" sz="2400" dirty="0" smtClean="0"/>
                  <a:t>El primer término de una progresión geométrica es </a:t>
                </a:r>
                <a14:m>
                  <m:oMath xmlns:m="http://schemas.openxmlformats.org/officeDocument/2006/math">
                    <m:r>
                      <a:rPr lang="es-ES" sz="2400" b="0" i="1" smtClean="0">
                        <a:latin typeface="Cambria Math" panose="02040503050406030204" pitchFamily="18" charset="0"/>
                      </a:rPr>
                      <m:t>3</m:t>
                    </m:r>
                  </m:oMath>
                </a14:m>
                <a:r>
                  <a:rPr lang="es-ES" sz="2400" dirty="0" smtClean="0"/>
                  <a:t>, y el octavo es </a:t>
                </a:r>
                <a14:m>
                  <m:oMath xmlns:m="http://schemas.openxmlformats.org/officeDocument/2006/math">
                    <m:r>
                      <a:rPr lang="es-ES" sz="2400" b="0" i="1" smtClean="0">
                        <a:latin typeface="Cambria Math" panose="02040503050406030204" pitchFamily="18" charset="0"/>
                      </a:rPr>
                      <m:t>384</m:t>
                    </m:r>
                  </m:oMath>
                </a14:m>
                <a:r>
                  <a:rPr lang="es-ES" sz="2400" dirty="0" smtClean="0"/>
                  <a:t>. Hallar la razón y la suma de los 8 primeros términos:</a:t>
                </a:r>
              </a:p>
            </p:txBody>
          </p:sp>
        </mc:Choice>
        <mc:Fallback xmlns="">
          <p:sp>
            <p:nvSpPr>
              <p:cNvPr id="7" name="CuadroTexto 6"/>
              <p:cNvSpPr txBox="1">
                <a:spLocks noRot="1" noChangeAspect="1" noMove="1" noResize="1" noEditPoints="1" noAdjustHandles="1" noChangeArrowheads="1" noChangeShapeType="1" noTextEdit="1"/>
              </p:cNvSpPr>
              <p:nvPr/>
            </p:nvSpPr>
            <p:spPr>
              <a:xfrm>
                <a:off x="571140" y="885821"/>
                <a:ext cx="11382999" cy="884538"/>
              </a:xfrm>
              <a:prstGeom prst="rect">
                <a:avLst/>
              </a:prstGeom>
              <a:blipFill rotWithShape="0">
                <a:blip r:embed="rId5"/>
                <a:stretch>
                  <a:fillRect l="-750" t="-3448" r="-1125" b="-1517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73412" y="1993573"/>
                <a:ext cx="11382999" cy="3558090"/>
              </a:xfrm>
              <a:prstGeom prst="rect">
                <a:avLst/>
              </a:prstGeom>
              <a:noFill/>
            </p:spPr>
            <p:txBody>
              <a:bodyPr wrap="square" rtlCol="0">
                <a:spAutoFit/>
              </a:bodyPr>
              <a:lstStyle/>
              <a:p>
                <a:pPr>
                  <a:lnSpc>
                    <a:spcPct val="110000"/>
                  </a:lnSpc>
                  <a:buClr>
                    <a:srgbClr val="0070C0"/>
                  </a:buClr>
                </a:pPr>
                <a:r>
                  <a:rPr lang="es-ES" sz="2400" dirty="0" smtClean="0">
                    <a:solidFill>
                      <a:srgbClr val="0070C0"/>
                    </a:solidFill>
                  </a:rPr>
                  <a:t>Solución:</a:t>
                </a:r>
              </a:p>
              <a:p>
                <a:pPr>
                  <a:lnSpc>
                    <a:spcPct val="130000"/>
                  </a:lnSpc>
                  <a:buClr>
                    <a:srgbClr val="0070C0"/>
                  </a:buClr>
                </a:pPr>
                <a:r>
                  <a:rPr lang="es-ES" sz="2400" dirty="0"/>
                  <a:t> </a:t>
                </a:r>
                <a:r>
                  <a:rPr lang="es-ES" sz="2400" dirty="0" smtClean="0"/>
                  <a:t>   La información que tenemos es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=3, </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8</m:t>
                        </m:r>
                      </m:sub>
                    </m:sSub>
                    <m:r>
                      <a:rPr lang="es-ES" sz="2400" b="0" i="1" smtClean="0">
                        <a:latin typeface="Cambria Math" panose="02040503050406030204" pitchFamily="18" charset="0"/>
                      </a:rPr>
                      <m:t>=384</m:t>
                    </m:r>
                  </m:oMath>
                </a14:m>
                <a:r>
                  <a:rPr lang="es-ES" sz="2400" dirty="0" smtClean="0"/>
                  <a:t> y sabemos que</a:t>
                </a:r>
                <a14:m>
                  <m:oMath xmlns:m="http://schemas.openxmlformats.org/officeDocument/2006/math">
                    <m:r>
                      <a:rPr lang="es-ES" sz="2400" b="0" i="0" smtClean="0">
                        <a:latin typeface="Cambria Math" panose="02040503050406030204" pitchFamily="18" charset="0"/>
                      </a:rPr>
                      <m:t> </m:t>
                    </m:r>
                    <m:r>
                      <a:rPr lang="es-ES" sz="2400" i="1">
                        <a:latin typeface="Cambria Math" panose="02040503050406030204" pitchFamily="18" charset="0"/>
                      </a:rPr>
                      <m:t>𝑎</m:t>
                    </m:r>
                    <m:r>
                      <a:rPr lang="es-ES" sz="2400" i="1" baseline="-25000">
                        <a:latin typeface="Cambria Math" panose="02040503050406030204" pitchFamily="18" charset="0"/>
                      </a:rPr>
                      <m:t>𝑛</m:t>
                    </m:r>
                    <m:r>
                      <a:rPr lang="es-ES" sz="2400" i="1">
                        <a:latin typeface="Cambria Math" panose="02040503050406030204" pitchFamily="18" charset="0"/>
                      </a:rPr>
                      <m:t>=</m:t>
                    </m:r>
                    <m:r>
                      <a:rPr lang="es-ES" sz="2400" i="1">
                        <a:latin typeface="Cambria Math" panose="02040503050406030204" pitchFamily="18" charset="0"/>
                      </a:rPr>
                      <m:t>𝑎</m:t>
                    </m:r>
                    <m:r>
                      <a:rPr lang="es-ES" sz="2400" i="1" baseline="-25000">
                        <a:latin typeface="Cambria Math" panose="02040503050406030204" pitchFamily="18" charset="0"/>
                      </a:rPr>
                      <m:t>1</m:t>
                    </m:r>
                    <m:r>
                      <a:rPr lang="es-ES" sz="2400" i="1">
                        <a:latin typeface="Cambria Math" panose="02040503050406030204" pitchFamily="18" charset="0"/>
                        <a:ea typeface="Cambria Math" panose="02040503050406030204" pitchFamily="18" charset="0"/>
                      </a:rPr>
                      <m:t>∙</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𝑟</m:t>
                        </m:r>
                      </m:e>
                      <m:sup>
                        <m:r>
                          <a:rPr lang="es-ES" sz="2400" i="1">
                            <a:latin typeface="Cambria Math" panose="02040503050406030204" pitchFamily="18" charset="0"/>
                            <a:ea typeface="Cambria Math" panose="02040503050406030204" pitchFamily="18" charset="0"/>
                          </a:rPr>
                          <m:t>𝑛</m:t>
                        </m:r>
                        <m:r>
                          <a:rPr lang="es-ES" sz="2400" i="1">
                            <a:latin typeface="Cambria Math" panose="02040503050406030204" pitchFamily="18" charset="0"/>
                            <a:ea typeface="Cambria Math" panose="02040503050406030204" pitchFamily="18" charset="0"/>
                          </a:rPr>
                          <m:t>−1</m:t>
                        </m:r>
                      </m:sup>
                    </m:sSup>
                  </m:oMath>
                </a14:m>
                <a:r>
                  <a:rPr lang="es-ES" sz="2400" dirty="0" smtClean="0"/>
                  <a:t>, y la expresión que nos da la suma es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𝑆</m:t>
                        </m:r>
                      </m:e>
                      <m:sub>
                        <m:r>
                          <a:rPr lang="es-ES" sz="2400" i="1">
                            <a:latin typeface="Cambria Math" panose="02040503050406030204" pitchFamily="18" charset="0"/>
                          </a:rPr>
                          <m:t>𝑛</m:t>
                        </m:r>
                      </m:sub>
                    </m:sSub>
                    <m:r>
                      <a:rPr lang="es-ES" sz="2400" i="1">
                        <a:latin typeface="Cambria Math" panose="02040503050406030204" pitchFamily="18" charset="0"/>
                      </a:rPr>
                      <m:t>=</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1</m:t>
                            </m:r>
                          </m:sub>
                        </m:sSub>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𝑟</m:t>
                            </m:r>
                          </m:e>
                          <m:sup>
                            <m:r>
                              <a:rPr lang="es-ES" sz="2400" i="1">
                                <a:latin typeface="Cambria Math" panose="02040503050406030204" pitchFamily="18" charset="0"/>
                              </a:rPr>
                              <m:t>𝑛</m:t>
                            </m:r>
                          </m:sup>
                        </m:sSup>
                        <m:r>
                          <a:rPr lang="es-ES" sz="2400" i="1">
                            <a:latin typeface="Cambria Math" panose="02040503050406030204" pitchFamily="18" charset="0"/>
                            <a:ea typeface="Cambria Math" panose="02040503050406030204" pitchFamily="18" charset="0"/>
                          </a:rPr>
                          <m:t>−1)</m:t>
                        </m:r>
                      </m:num>
                      <m:den>
                        <m:r>
                          <a:rPr lang="es-ES" sz="2400" i="1">
                            <a:latin typeface="Cambria Math" panose="02040503050406030204" pitchFamily="18" charset="0"/>
                          </a:rPr>
                          <m:t>𝑟</m:t>
                        </m:r>
                        <m:r>
                          <a:rPr lang="es-ES" sz="2400" i="1">
                            <a:latin typeface="Cambria Math" panose="02040503050406030204" pitchFamily="18" charset="0"/>
                          </a:rPr>
                          <m:t>−1</m:t>
                        </m:r>
                      </m:den>
                    </m:f>
                  </m:oMath>
                </a14:m>
                <a:r>
                  <a:rPr lang="es-ES" sz="2400" dirty="0" smtClean="0"/>
                  <a:t>. Así:  </a:t>
                </a:r>
              </a:p>
              <a:p>
                <a:pPr>
                  <a:lnSpc>
                    <a:spcPct val="130000"/>
                  </a:lnSpc>
                  <a:buClr>
                    <a:srgbClr val="0070C0"/>
                  </a:buClr>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384=3</m:t>
                      </m:r>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8−1</m:t>
                          </m:r>
                        </m:sup>
                      </m:sSup>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𝑟</m:t>
                          </m:r>
                        </m:e>
                        <m:sup>
                          <m:r>
                            <a:rPr lang="es-ES" sz="2400" b="0" i="1" smtClean="0">
                              <a:latin typeface="Cambria Math" panose="02040503050406030204" pitchFamily="18" charset="0"/>
                              <a:ea typeface="Cambria Math" panose="02040503050406030204" pitchFamily="18" charset="0"/>
                            </a:rPr>
                            <m:t>7</m:t>
                          </m:r>
                        </m:sup>
                      </m:sSup>
                      <m:r>
                        <a:rPr lang="es-ES" sz="2400" b="0" i="1" smtClean="0">
                          <a:latin typeface="Cambria Math" panose="02040503050406030204" pitchFamily="18" charset="0"/>
                          <a:ea typeface="Cambria Math" panose="02040503050406030204" pitchFamily="18" charset="0"/>
                        </a:rPr>
                        <m:t>=128=</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2</m:t>
                          </m:r>
                        </m:e>
                        <m:sup>
                          <m:r>
                            <a:rPr lang="es-ES" sz="2400" b="0" i="1" smtClean="0">
                              <a:latin typeface="Cambria Math" panose="02040503050406030204" pitchFamily="18" charset="0"/>
                              <a:ea typeface="Cambria Math" panose="02040503050406030204" pitchFamily="18" charset="0"/>
                            </a:rPr>
                            <m:t>7</m:t>
                          </m:r>
                        </m:sup>
                      </m:sSup>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𝑟</m:t>
                      </m:r>
                      <m:r>
                        <a:rPr lang="es-ES" sz="2400" b="0" i="1" smtClean="0">
                          <a:latin typeface="Cambria Math" panose="02040503050406030204" pitchFamily="18" charset="0"/>
                          <a:ea typeface="Cambria Math" panose="02040503050406030204" pitchFamily="18" charset="0"/>
                        </a:rPr>
                        <m:t>=2</m:t>
                      </m:r>
                    </m:oMath>
                  </m:oMathPara>
                </a14:m>
                <a:endParaRPr lang="es-ES" sz="2400" dirty="0" smtClean="0"/>
              </a:p>
              <a:p>
                <a:pPr>
                  <a:lnSpc>
                    <a:spcPct val="130000"/>
                  </a:lnSpc>
                  <a:buClr>
                    <a:srgbClr val="0070C0"/>
                  </a:buClr>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8</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3</m:t>
                          </m:r>
                          <m:d>
                            <m:dPr>
                              <m:ctrlPr>
                                <a:rPr lang="es-ES" sz="2400" b="0" i="1" smtClean="0">
                                  <a:latin typeface="Cambria Math" panose="02040503050406030204" pitchFamily="18" charset="0"/>
                                </a:rPr>
                              </m:ctrlPr>
                            </m:dPr>
                            <m:e>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2</m:t>
                                  </m:r>
                                </m:e>
                                <m:sup>
                                  <m:r>
                                    <a:rPr lang="es-ES" sz="2400" b="0" i="1" smtClean="0">
                                      <a:latin typeface="Cambria Math" panose="02040503050406030204" pitchFamily="18" charset="0"/>
                                    </a:rPr>
                                    <m:t>8</m:t>
                                  </m:r>
                                </m:sup>
                              </m:sSup>
                              <m:r>
                                <a:rPr lang="es-ES" sz="2400" b="0" i="1" smtClean="0">
                                  <a:latin typeface="Cambria Math" panose="02040503050406030204" pitchFamily="18" charset="0"/>
                                </a:rPr>
                                <m:t>−1</m:t>
                              </m:r>
                            </m:e>
                          </m:d>
                        </m:num>
                        <m:den>
                          <m:r>
                            <a:rPr lang="es-ES" sz="2400" b="0" i="1" smtClean="0">
                              <a:latin typeface="Cambria Math" panose="02040503050406030204" pitchFamily="18" charset="0"/>
                            </a:rPr>
                            <m:t>2−1</m:t>
                          </m:r>
                        </m:den>
                      </m:f>
                      <m:r>
                        <a:rPr lang="es-ES" sz="2400" b="0" i="1" smtClean="0">
                          <a:latin typeface="Cambria Math" panose="02040503050406030204" pitchFamily="18" charset="0"/>
                        </a:rPr>
                        <m:t>=765</m:t>
                      </m:r>
                    </m:oMath>
                  </m:oMathPara>
                </a14:m>
                <a:endParaRPr lang="es-ES" sz="2400" dirty="0" smtClean="0"/>
              </a:p>
              <a:p>
                <a:endParaRPr lang="es-ES"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73412" y="1993573"/>
                <a:ext cx="11382999" cy="3558090"/>
              </a:xfrm>
              <a:prstGeom prst="rect">
                <a:avLst/>
              </a:prstGeom>
              <a:blipFill rotWithShape="0">
                <a:blip r:embed="rId6"/>
                <a:stretch>
                  <a:fillRect l="-803" t="-856"/>
                </a:stretch>
              </a:blipFill>
            </p:spPr>
            <p:txBody>
              <a:bodyPr/>
              <a:lstStyle/>
              <a:p>
                <a:r>
                  <a:rPr lang="es-ES">
                    <a:noFill/>
                  </a:rPr>
                  <a:t> </a:t>
                </a:r>
              </a:p>
            </p:txBody>
          </p:sp>
        </mc:Fallback>
      </mc:AlternateContent>
    </p:spTree>
    <p:extLst>
      <p:ext uri="{BB962C8B-B14F-4D97-AF65-F5344CB8AC3E}">
        <p14:creationId xmlns:p14="http://schemas.microsoft.com/office/powerpoint/2010/main" val="33200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6429965"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 Ejercicios.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a14="http://schemas.microsoft.com/office/drawing/2010/main">
        <mc:Choice Requires="a14">
          <p:sp>
            <p:nvSpPr>
              <p:cNvPr id="7" name="CuadroTexto 6"/>
              <p:cNvSpPr txBox="1"/>
              <p:nvPr/>
            </p:nvSpPr>
            <p:spPr>
              <a:xfrm>
                <a:off x="571140" y="885821"/>
                <a:ext cx="11766436" cy="1311128"/>
              </a:xfrm>
              <a:prstGeom prst="rect">
                <a:avLst/>
              </a:prstGeom>
              <a:noFill/>
            </p:spPr>
            <p:txBody>
              <a:bodyPr wrap="square" rtlCol="0">
                <a:spAutoFit/>
              </a:bodyPr>
              <a:lstStyle/>
              <a:p>
                <a:pPr marL="342900" indent="-342900">
                  <a:lnSpc>
                    <a:spcPct val="110000"/>
                  </a:lnSpc>
                  <a:buClr>
                    <a:srgbClr val="0070C0"/>
                  </a:buClr>
                  <a:buFont typeface="Wingdings" panose="05000000000000000000" pitchFamily="2" charset="2"/>
                  <a:buChar char="q"/>
                </a:pPr>
                <a:r>
                  <a:rPr lang="es-ES" sz="2400" dirty="0" smtClean="0"/>
                  <a:t>Pedro ha ido de compras a una librería y ha obtenido 20 libros. Por el primero ha pagado </a:t>
                </a:r>
                <a14:m>
                  <m:oMath xmlns:m="http://schemas.openxmlformats.org/officeDocument/2006/math">
                    <m:r>
                      <a:rPr lang="es-ES" sz="2400" b="0" i="1" smtClean="0">
                        <a:latin typeface="Cambria Math" panose="02040503050406030204" pitchFamily="18" charset="0"/>
                      </a:rPr>
                      <m:t>1€</m:t>
                    </m:r>
                  </m:oMath>
                </a14:m>
                <a:r>
                  <a:rPr lang="es-ES" sz="2400" dirty="0" smtClean="0"/>
                  <a:t>, por el segundo </a:t>
                </a:r>
                <a14:m>
                  <m:oMath xmlns:m="http://schemas.openxmlformats.org/officeDocument/2006/math">
                    <m:r>
                      <a:rPr lang="es-ES" sz="2400" b="0" i="1" smtClean="0">
                        <a:latin typeface="Cambria Math" panose="02040503050406030204" pitchFamily="18" charset="0"/>
                      </a:rPr>
                      <m:t>2€</m:t>
                    </m:r>
                  </m:oMath>
                </a14:m>
                <a:r>
                  <a:rPr lang="es-ES" sz="2400" dirty="0" smtClean="0"/>
                  <a:t>, por el tercero </a:t>
                </a:r>
                <a14:m>
                  <m:oMath xmlns:m="http://schemas.openxmlformats.org/officeDocument/2006/math">
                    <m:r>
                      <a:rPr lang="es-ES" sz="2400" b="0" i="1" smtClean="0">
                        <a:latin typeface="Cambria Math" panose="02040503050406030204" pitchFamily="18" charset="0"/>
                      </a:rPr>
                      <m:t>4€</m:t>
                    </m:r>
                  </m:oMath>
                </a14:m>
                <a:r>
                  <a:rPr lang="es-ES" sz="2400" dirty="0" smtClean="0"/>
                  <a:t>, por el cuarto </a:t>
                </a:r>
                <a14:m>
                  <m:oMath xmlns:m="http://schemas.openxmlformats.org/officeDocument/2006/math">
                    <m:r>
                      <a:rPr lang="es-ES" sz="2400" b="0" i="1" smtClean="0">
                        <a:latin typeface="Cambria Math" panose="02040503050406030204" pitchFamily="18" charset="0"/>
                      </a:rPr>
                      <m:t>8€</m:t>
                    </m:r>
                  </m:oMath>
                </a14:m>
                <a:r>
                  <a:rPr lang="es-ES" sz="2400" dirty="0" smtClean="0"/>
                  <a:t>, y así sucesivamente. ¿Cuánto ha pagado por todos los libros? :</a:t>
                </a:r>
              </a:p>
            </p:txBody>
          </p:sp>
        </mc:Choice>
        <mc:Fallback xmlns="">
          <p:sp>
            <p:nvSpPr>
              <p:cNvPr id="7" name="CuadroTexto 6"/>
              <p:cNvSpPr txBox="1">
                <a:spLocks noRot="1" noChangeAspect="1" noMove="1" noResize="1" noEditPoints="1" noAdjustHandles="1" noChangeArrowheads="1" noChangeShapeType="1" noTextEdit="1"/>
              </p:cNvSpPr>
              <p:nvPr/>
            </p:nvSpPr>
            <p:spPr>
              <a:xfrm>
                <a:off x="571140" y="885821"/>
                <a:ext cx="11766436" cy="1311128"/>
              </a:xfrm>
              <a:prstGeom prst="rect">
                <a:avLst/>
              </a:prstGeom>
              <a:blipFill rotWithShape="0">
                <a:blip r:embed="rId5"/>
                <a:stretch>
                  <a:fillRect l="-725" t="-2326" b="-837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73412" y="2321122"/>
                <a:ext cx="11382999" cy="2663486"/>
              </a:xfrm>
              <a:prstGeom prst="rect">
                <a:avLst/>
              </a:prstGeom>
              <a:noFill/>
            </p:spPr>
            <p:txBody>
              <a:bodyPr wrap="square" rtlCol="0">
                <a:spAutoFit/>
              </a:bodyPr>
              <a:lstStyle/>
              <a:p>
                <a:pPr>
                  <a:lnSpc>
                    <a:spcPct val="110000"/>
                  </a:lnSpc>
                  <a:buClr>
                    <a:srgbClr val="0070C0"/>
                  </a:buClr>
                </a:pPr>
                <a:r>
                  <a:rPr lang="es-ES" sz="2400" dirty="0" smtClean="0">
                    <a:solidFill>
                      <a:srgbClr val="0070C0"/>
                    </a:solidFill>
                  </a:rPr>
                  <a:t>Solución:</a:t>
                </a:r>
              </a:p>
              <a:p>
                <a:pPr>
                  <a:lnSpc>
                    <a:spcPct val="130000"/>
                  </a:lnSpc>
                  <a:buClr>
                    <a:srgbClr val="0070C0"/>
                  </a:buClr>
                </a:pPr>
                <a:r>
                  <a:rPr lang="es-ES" sz="2400" dirty="0"/>
                  <a:t> </a:t>
                </a:r>
                <a:r>
                  <a:rPr lang="es-ES" sz="2400" dirty="0" smtClean="0"/>
                  <a:t>   Se trata de una progresión geométrica con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=1</m:t>
                    </m:r>
                  </m:oMath>
                </a14:m>
                <a:r>
                  <a:rPr lang="es-ES" sz="2400" dirty="0" smtClean="0"/>
                  <a:t> y razón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=2</m:t>
                    </m:r>
                  </m:oMath>
                </a14:m>
                <a:r>
                  <a:rPr lang="es-ES" sz="2400" dirty="0" smtClean="0"/>
                  <a:t>. Como sabemos que</a:t>
                </a:r>
                <a14:m>
                  <m:oMath xmlns:m="http://schemas.openxmlformats.org/officeDocument/2006/math">
                    <m:r>
                      <a:rPr lang="es-ES" sz="2400" b="0" i="0" smtClean="0">
                        <a:latin typeface="Cambria Math" panose="02040503050406030204" pitchFamily="18" charset="0"/>
                      </a:rPr>
                      <m:t> </m:t>
                    </m:r>
                  </m:oMath>
                </a14:m>
                <a:r>
                  <a:rPr lang="es-ES" sz="2400" dirty="0" smtClean="0"/>
                  <a:t>la expresión de la suma es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𝑆</m:t>
                        </m:r>
                      </m:e>
                      <m:sub>
                        <m:r>
                          <a:rPr lang="es-ES" sz="2400" i="1">
                            <a:latin typeface="Cambria Math" panose="02040503050406030204" pitchFamily="18" charset="0"/>
                          </a:rPr>
                          <m:t>𝑛</m:t>
                        </m:r>
                      </m:sub>
                    </m:sSub>
                    <m:r>
                      <a:rPr lang="es-ES" sz="2400" i="1">
                        <a:latin typeface="Cambria Math" panose="02040503050406030204" pitchFamily="18" charset="0"/>
                      </a:rPr>
                      <m:t>=</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1</m:t>
                            </m:r>
                          </m:sub>
                        </m:sSub>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𝑟</m:t>
                            </m:r>
                          </m:e>
                          <m:sup>
                            <m:r>
                              <a:rPr lang="es-ES" sz="2400" i="1">
                                <a:latin typeface="Cambria Math" panose="02040503050406030204" pitchFamily="18" charset="0"/>
                              </a:rPr>
                              <m:t>𝑛</m:t>
                            </m:r>
                          </m:sup>
                        </m:sSup>
                        <m:r>
                          <a:rPr lang="es-ES" sz="2400" i="1">
                            <a:latin typeface="Cambria Math" panose="02040503050406030204" pitchFamily="18" charset="0"/>
                            <a:ea typeface="Cambria Math" panose="02040503050406030204" pitchFamily="18" charset="0"/>
                          </a:rPr>
                          <m:t>−1)</m:t>
                        </m:r>
                      </m:num>
                      <m:den>
                        <m:r>
                          <a:rPr lang="es-ES" sz="2400" i="1">
                            <a:latin typeface="Cambria Math" panose="02040503050406030204" pitchFamily="18" charset="0"/>
                          </a:rPr>
                          <m:t>𝑟</m:t>
                        </m:r>
                        <m:r>
                          <a:rPr lang="es-ES" sz="2400" i="1">
                            <a:latin typeface="Cambria Math" panose="02040503050406030204" pitchFamily="18" charset="0"/>
                          </a:rPr>
                          <m:t>−1</m:t>
                        </m:r>
                      </m:den>
                    </m:f>
                    <m:r>
                      <a:rPr lang="es-ES" sz="2400" b="0" i="0" smtClean="0">
                        <a:latin typeface="Cambria Math" panose="02040503050406030204" pitchFamily="18" charset="0"/>
                      </a:rPr>
                      <m:t>,</m:t>
                    </m:r>
                  </m:oMath>
                </a14:m>
                <a:r>
                  <a:rPr lang="es-ES" sz="2400" dirty="0" smtClean="0"/>
                  <a:t> tenemos:  </a:t>
                </a:r>
              </a:p>
              <a:p>
                <a:pPr>
                  <a:lnSpc>
                    <a:spcPct val="130000"/>
                  </a:lnSpc>
                  <a:buClr>
                    <a:srgbClr val="0070C0"/>
                  </a:buClr>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20</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d>
                            <m:dPr>
                              <m:ctrlPr>
                                <a:rPr lang="es-ES" sz="2400" b="0" i="1" smtClean="0">
                                  <a:latin typeface="Cambria Math" panose="02040503050406030204" pitchFamily="18" charset="0"/>
                                </a:rPr>
                              </m:ctrlPr>
                            </m:dPr>
                            <m:e>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2</m:t>
                                  </m:r>
                                </m:e>
                                <m:sup>
                                  <m:r>
                                    <a:rPr lang="es-ES" sz="2400" b="0" i="1" smtClean="0">
                                      <a:latin typeface="Cambria Math" panose="02040503050406030204" pitchFamily="18" charset="0"/>
                                    </a:rPr>
                                    <m:t>20</m:t>
                                  </m:r>
                                </m:sup>
                              </m:sSup>
                              <m:r>
                                <a:rPr lang="es-ES" sz="2400" b="0" i="1" smtClean="0">
                                  <a:latin typeface="Cambria Math" panose="02040503050406030204" pitchFamily="18" charset="0"/>
                                </a:rPr>
                                <m:t>−1</m:t>
                              </m:r>
                            </m:e>
                          </m:d>
                        </m:num>
                        <m:den>
                          <m:r>
                            <a:rPr lang="es-ES" sz="2400" b="0" i="1" smtClean="0">
                              <a:latin typeface="Cambria Math" panose="02040503050406030204" pitchFamily="18" charset="0"/>
                            </a:rPr>
                            <m:t>2−1</m:t>
                          </m:r>
                        </m:den>
                      </m:f>
                      <m:r>
                        <a:rPr lang="es-ES" sz="2400" b="0" i="1" smtClean="0">
                          <a:latin typeface="Cambria Math" panose="02040503050406030204" pitchFamily="18" charset="0"/>
                        </a:rPr>
                        <m:t>=1.048.575€</m:t>
                      </m:r>
                    </m:oMath>
                  </m:oMathPara>
                </a14:m>
                <a:endParaRPr lang="es-ES"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73412" y="2321122"/>
                <a:ext cx="11382999" cy="2663486"/>
              </a:xfrm>
              <a:prstGeom prst="rect">
                <a:avLst/>
              </a:prstGeom>
              <a:blipFill rotWithShape="0">
                <a:blip r:embed="rId6"/>
                <a:stretch>
                  <a:fillRect l="-803" t="-1144" r="-161"/>
                </a:stretch>
              </a:blipFill>
            </p:spPr>
            <p:txBody>
              <a:bodyPr/>
              <a:lstStyle/>
              <a:p>
                <a:r>
                  <a:rPr lang="es-ES">
                    <a:noFill/>
                  </a:rPr>
                  <a:t> </a:t>
                </a:r>
              </a:p>
            </p:txBody>
          </p:sp>
        </mc:Fallback>
      </mc:AlternateContent>
    </p:spTree>
    <p:extLst>
      <p:ext uri="{BB962C8B-B14F-4D97-AF65-F5344CB8AC3E}">
        <p14:creationId xmlns:p14="http://schemas.microsoft.com/office/powerpoint/2010/main" val="298040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10060" y="188641"/>
            <a:ext cx="4592924" cy="646331"/>
          </a:xfrm>
          <a:prstGeom prst="rect">
            <a:avLst/>
          </a:prstGeom>
          <a:noFill/>
        </p:spPr>
        <p:txBody>
          <a:bodyPr wrap="none" rtlCol="0">
            <a:spAutoFit/>
          </a:bodyPr>
          <a:lstStyle/>
          <a:p>
            <a:r>
              <a:rPr lang="es-ES" sz="3600" b="1" smtClean="0">
                <a:solidFill>
                  <a:schemeClr val="accent2"/>
                </a:solidFill>
                <a:latin typeface="AvantGarde" pitchFamily="34" charset="0"/>
              </a:rPr>
              <a:t>P</a:t>
            </a:r>
            <a:r>
              <a:rPr lang="es-ES" sz="2800" smtClean="0">
                <a:solidFill>
                  <a:schemeClr val="accent2"/>
                </a:solidFill>
                <a:latin typeface="AvantGarde" pitchFamily="34" charset="0"/>
              </a:rPr>
              <a:t>rogresiones</a:t>
            </a:r>
            <a:r>
              <a:rPr lang="es-ES" sz="2800" b="1"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CuadroTexto 6"/>
          <p:cNvSpPr txBox="1"/>
          <p:nvPr/>
        </p:nvSpPr>
        <p:spPr>
          <a:xfrm>
            <a:off x="1210060" y="755504"/>
            <a:ext cx="3525713" cy="492443"/>
          </a:xfrm>
          <a:prstGeom prst="rect">
            <a:avLst/>
          </a:prstGeom>
          <a:noFill/>
        </p:spPr>
        <p:txBody>
          <a:bodyPr wrap="square" rtlCol="0">
            <a:spAutoFit/>
          </a:bodyPr>
          <a:lstStyle/>
          <a:p>
            <a:r>
              <a:rPr lang="es-ES" sz="2600" b="1" dirty="0" smtClean="0">
                <a:solidFill>
                  <a:srgbClr val="0070C0"/>
                </a:solidFill>
              </a:rPr>
              <a:t>El inventor del ajedrez</a:t>
            </a:r>
            <a:endParaRPr lang="es-ES" sz="2600" b="1" dirty="0">
              <a:solidFill>
                <a:srgbClr val="0070C0"/>
              </a:solidFill>
            </a:endParaRPr>
          </a:p>
        </p:txBody>
      </p:sp>
      <p:sp>
        <p:nvSpPr>
          <p:cNvPr id="9" name="CuadroTexto 8"/>
          <p:cNvSpPr txBox="1"/>
          <p:nvPr/>
        </p:nvSpPr>
        <p:spPr>
          <a:xfrm>
            <a:off x="276468" y="1245984"/>
            <a:ext cx="11915532" cy="830997"/>
          </a:xfrm>
          <a:prstGeom prst="rect">
            <a:avLst/>
          </a:prstGeom>
          <a:noFill/>
        </p:spPr>
        <p:txBody>
          <a:bodyPr wrap="square" rtlCol="0">
            <a:spAutoFit/>
          </a:bodyPr>
          <a:lstStyle/>
          <a:p>
            <a:r>
              <a:rPr lang="es-ES" sz="2400" dirty="0" smtClean="0"/>
              <a:t>Cuentan que hace ya mucho tiempo hubo un rey maravillado con el juego del ajedrez. Tan encantado estaba que ofreció a su inventor concederle lo que pidiera.</a:t>
            </a:r>
          </a:p>
        </p:txBody>
      </p:sp>
      <p:sp>
        <p:nvSpPr>
          <p:cNvPr id="2" name="CuadroTexto 1"/>
          <p:cNvSpPr txBox="1"/>
          <p:nvPr/>
        </p:nvSpPr>
        <p:spPr>
          <a:xfrm>
            <a:off x="327544" y="2197284"/>
            <a:ext cx="8116768" cy="1569660"/>
          </a:xfrm>
          <a:prstGeom prst="rect">
            <a:avLst/>
          </a:prstGeom>
          <a:noFill/>
        </p:spPr>
        <p:txBody>
          <a:bodyPr wrap="square" rtlCol="0">
            <a:spAutoFit/>
          </a:bodyPr>
          <a:lstStyle/>
          <a:p>
            <a:r>
              <a:rPr lang="es-ES" sz="2400" dirty="0"/>
              <a:t>“Sólo te pido 1 grano de trigo por la </a:t>
            </a:r>
            <a:r>
              <a:rPr lang="es-ES" sz="2400" dirty="0" smtClean="0"/>
              <a:t>primera casilla, 2 por la segunda, 4 por la tercera, 8 por la cuarta y así sucesivamente. En cada una el doble de la anterior hasta llegar a la casilla 64 que es la última”</a:t>
            </a:r>
            <a:endParaRPr lang="es-ES" sz="2400" dirty="0"/>
          </a:p>
        </p:txBody>
      </p:sp>
      <p:pic>
        <p:nvPicPr>
          <p:cNvPr id="11" name="Imagen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8634" y="2076981"/>
            <a:ext cx="3730243" cy="1846470"/>
          </a:xfrm>
          <a:prstGeom prst="rect">
            <a:avLst/>
          </a:prstGeom>
        </p:spPr>
      </p:pic>
      <p:sp>
        <p:nvSpPr>
          <p:cNvPr id="12" name="CuadroTexto 11"/>
          <p:cNvSpPr txBox="1"/>
          <p:nvPr/>
        </p:nvSpPr>
        <p:spPr>
          <a:xfrm>
            <a:off x="265092" y="3786746"/>
            <a:ext cx="11915532" cy="830997"/>
          </a:xfrm>
          <a:prstGeom prst="rect">
            <a:avLst/>
          </a:prstGeom>
          <a:noFill/>
        </p:spPr>
        <p:txBody>
          <a:bodyPr wrap="square" rtlCol="0">
            <a:spAutoFit/>
          </a:bodyPr>
          <a:lstStyle/>
          <a:p>
            <a:r>
              <a:rPr lang="es-ES" sz="2400" dirty="0" smtClean="0"/>
              <a:t>Al rey le pareció algo insignificante y pensó que el inventor era muy humilde. ¡¡¡¡Pero estaba muy equivocado!!!!</a:t>
            </a:r>
          </a:p>
        </p:txBody>
      </p:sp>
      <p:sp>
        <p:nvSpPr>
          <p:cNvPr id="13" name="CuadroTexto 12"/>
          <p:cNvSpPr txBox="1"/>
          <p:nvPr/>
        </p:nvSpPr>
        <p:spPr>
          <a:xfrm>
            <a:off x="278740" y="4714794"/>
            <a:ext cx="11915532" cy="461665"/>
          </a:xfrm>
          <a:prstGeom prst="rect">
            <a:avLst/>
          </a:prstGeom>
          <a:noFill/>
        </p:spPr>
        <p:txBody>
          <a:bodyPr wrap="square" rtlCol="0">
            <a:spAutoFit/>
          </a:bodyPr>
          <a:lstStyle/>
          <a:p>
            <a:r>
              <a:rPr lang="es-ES" sz="2400" dirty="0" smtClean="0"/>
              <a:t>¿A cuantos granos de trigo asciende la deuda que el rey contrajo con el inventor del ajedrez?</a:t>
            </a:r>
          </a:p>
        </p:txBody>
      </p:sp>
    </p:spTree>
    <p:extLst>
      <p:ext uri="{BB962C8B-B14F-4D97-AF65-F5344CB8AC3E}">
        <p14:creationId xmlns:p14="http://schemas.microsoft.com/office/powerpoint/2010/main" val="247759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23708" y="188641"/>
            <a:ext cx="459292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CuadroTexto 6"/>
          <p:cNvSpPr txBox="1"/>
          <p:nvPr/>
        </p:nvSpPr>
        <p:spPr>
          <a:xfrm>
            <a:off x="549424" y="1032847"/>
            <a:ext cx="1443149" cy="492443"/>
          </a:xfrm>
          <a:prstGeom prst="rect">
            <a:avLst/>
          </a:prstGeom>
          <a:noFill/>
        </p:spPr>
        <p:txBody>
          <a:bodyPr wrap="square" rtlCol="0">
            <a:spAutoFit/>
          </a:bodyPr>
          <a:lstStyle/>
          <a:p>
            <a:r>
              <a:rPr lang="es-ES" sz="2600" b="1" dirty="0" smtClean="0">
                <a:solidFill>
                  <a:srgbClr val="0070C0"/>
                </a:solidFill>
              </a:rPr>
              <a:t>Solución:</a:t>
            </a:r>
          </a:p>
        </p:txBody>
      </p:sp>
      <mc:AlternateContent xmlns:mc="http://schemas.openxmlformats.org/markup-compatibility/2006" xmlns:a14="http://schemas.microsoft.com/office/drawing/2010/main">
        <mc:Choice Requires="a14">
          <p:sp>
            <p:nvSpPr>
              <p:cNvPr id="9" name="CuadroTexto 8"/>
              <p:cNvSpPr txBox="1"/>
              <p:nvPr/>
            </p:nvSpPr>
            <p:spPr>
              <a:xfrm>
                <a:off x="276468" y="1750951"/>
                <a:ext cx="11915532" cy="2135008"/>
              </a:xfrm>
              <a:prstGeom prst="rect">
                <a:avLst/>
              </a:prstGeom>
              <a:noFill/>
            </p:spPr>
            <p:txBody>
              <a:bodyPr wrap="square" rtlCol="0">
                <a:spAutoFit/>
              </a:bodyPr>
              <a:lstStyle/>
              <a:p>
                <a:pPr>
                  <a:lnSpc>
                    <a:spcPct val="110000"/>
                  </a:lnSpc>
                </a:pPr>
                <a:r>
                  <a:rPr lang="es-ES" sz="2400" dirty="0" smtClean="0"/>
                  <a:t>Se trata de una progresión geométrica con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1</m:t>
                        </m:r>
                      </m:sub>
                    </m:sSub>
                    <m:r>
                      <a:rPr lang="es-ES" sz="2400" i="1">
                        <a:latin typeface="Cambria Math" panose="02040503050406030204" pitchFamily="18" charset="0"/>
                      </a:rPr>
                      <m:t>=</m:t>
                    </m:r>
                    <m:r>
                      <a:rPr lang="es-ES" sz="2400" b="0" i="1" smtClean="0">
                        <a:latin typeface="Cambria Math" panose="02040503050406030204" pitchFamily="18" charset="0"/>
                      </a:rPr>
                      <m:t>1</m:t>
                    </m:r>
                  </m:oMath>
                </a14:m>
                <a:r>
                  <a:rPr lang="es-ES" sz="2400" dirty="0" smtClean="0"/>
                  <a:t> y de razón </a:t>
                </a:r>
                <a14:m>
                  <m:oMath xmlns:m="http://schemas.openxmlformats.org/officeDocument/2006/math">
                    <m:r>
                      <a:rPr lang="es-ES" sz="2400" b="0" i="1" smtClean="0">
                        <a:latin typeface="Cambria Math" panose="02040503050406030204" pitchFamily="18" charset="0"/>
                      </a:rPr>
                      <m:t>𝑟</m:t>
                    </m:r>
                    <m:r>
                      <a:rPr lang="es-ES" sz="2400" b="0" i="1" smtClean="0">
                        <a:latin typeface="Cambria Math" panose="02040503050406030204" pitchFamily="18" charset="0"/>
                      </a:rPr>
                      <m:t>=2</m:t>
                    </m:r>
                  </m:oMath>
                </a14:m>
                <a:r>
                  <a:rPr lang="es-ES" sz="2400" dirty="0" smtClean="0"/>
                  <a:t>.</a:t>
                </a:r>
              </a:p>
              <a:p>
                <a:pPr>
                  <a:lnSpc>
                    <a:spcPct val="110000"/>
                  </a:lnSpc>
                </a:pPr>
                <a:r>
                  <a:rPr lang="es-ES" sz="2400" dirty="0" smtClean="0"/>
                  <a:t>Como sabemos que</a:t>
                </a:r>
                <a14:m>
                  <m:oMath xmlns:m="http://schemas.openxmlformats.org/officeDocument/2006/math">
                    <m:r>
                      <a:rPr lang="es-ES" sz="2400">
                        <a:latin typeface="Cambria Math" panose="02040503050406030204" pitchFamily="18" charset="0"/>
                      </a:rPr>
                      <m:t> </m:t>
                    </m:r>
                    <m:r>
                      <a:rPr lang="es-ES" sz="2400" i="1">
                        <a:latin typeface="Cambria Math" panose="02040503050406030204" pitchFamily="18" charset="0"/>
                      </a:rPr>
                      <m:t>𝑎</m:t>
                    </m:r>
                    <m:r>
                      <a:rPr lang="es-ES" sz="2400" i="1" baseline="-25000">
                        <a:latin typeface="Cambria Math" panose="02040503050406030204" pitchFamily="18" charset="0"/>
                      </a:rPr>
                      <m:t>𝑛</m:t>
                    </m:r>
                    <m:r>
                      <a:rPr lang="es-ES" sz="2400" i="1">
                        <a:latin typeface="Cambria Math" panose="02040503050406030204" pitchFamily="18" charset="0"/>
                      </a:rPr>
                      <m:t>=</m:t>
                    </m:r>
                    <m:r>
                      <a:rPr lang="es-ES" sz="2400" i="1">
                        <a:latin typeface="Cambria Math" panose="02040503050406030204" pitchFamily="18" charset="0"/>
                      </a:rPr>
                      <m:t>𝑎</m:t>
                    </m:r>
                    <m:r>
                      <a:rPr lang="es-ES" sz="2400" i="1" baseline="-25000">
                        <a:latin typeface="Cambria Math" panose="02040503050406030204" pitchFamily="18" charset="0"/>
                      </a:rPr>
                      <m:t>1</m:t>
                    </m:r>
                    <m:r>
                      <a:rPr lang="es-ES" sz="2400" i="1">
                        <a:latin typeface="Cambria Math" panose="02040503050406030204" pitchFamily="18" charset="0"/>
                        <a:ea typeface="Cambria Math" panose="02040503050406030204" pitchFamily="18" charset="0"/>
                      </a:rPr>
                      <m:t>∙</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𝑟</m:t>
                        </m:r>
                      </m:e>
                      <m:sup>
                        <m:r>
                          <a:rPr lang="es-ES" sz="2400" i="1">
                            <a:latin typeface="Cambria Math" panose="02040503050406030204" pitchFamily="18" charset="0"/>
                            <a:ea typeface="Cambria Math" panose="02040503050406030204" pitchFamily="18" charset="0"/>
                          </a:rPr>
                          <m:t>𝑛</m:t>
                        </m:r>
                        <m:r>
                          <a:rPr lang="es-ES" sz="2400" i="1">
                            <a:latin typeface="Cambria Math" panose="02040503050406030204" pitchFamily="18" charset="0"/>
                            <a:ea typeface="Cambria Math" panose="02040503050406030204" pitchFamily="18" charset="0"/>
                          </a:rPr>
                          <m:t>−1</m:t>
                        </m:r>
                      </m:sup>
                    </m:sSup>
                  </m:oMath>
                </a14:m>
                <a:r>
                  <a:rPr lang="es-ES" sz="2400" dirty="0" smtClean="0"/>
                  <a:t>, el último término sería </a:t>
                </a: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𝑎</m:t>
                        </m:r>
                      </m:e>
                      <m:sub>
                        <m:r>
                          <a:rPr lang="es-ES" sz="2400" b="0" i="1" smtClean="0">
                            <a:latin typeface="Cambria Math" panose="02040503050406030204" pitchFamily="18" charset="0"/>
                          </a:rPr>
                          <m:t>64</m:t>
                        </m:r>
                      </m:sub>
                    </m:sSub>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2</m:t>
                        </m:r>
                      </m:e>
                      <m:sup>
                        <m:r>
                          <a:rPr lang="es-ES" sz="2400" b="0" i="1" smtClean="0">
                            <a:latin typeface="Cambria Math" panose="02040503050406030204" pitchFamily="18" charset="0"/>
                          </a:rPr>
                          <m:t>63</m:t>
                        </m:r>
                      </m:sup>
                    </m:sSup>
                  </m:oMath>
                </a14:m>
                <a:r>
                  <a:rPr lang="es-ES" sz="2400" dirty="0" smtClean="0"/>
                  <a:t>, ¡una cantidad enorme! </a:t>
                </a:r>
                <a:r>
                  <a:rPr lang="es-ES" sz="2400" dirty="0"/>
                  <a:t>y </a:t>
                </a:r>
                <a:r>
                  <a:rPr lang="es-ES" sz="2400" dirty="0" smtClean="0"/>
                  <a:t>como la </a:t>
                </a:r>
                <a:r>
                  <a:rPr lang="es-ES" sz="2400" dirty="0"/>
                  <a:t>expresión que nos da la suma es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𝑆</m:t>
                        </m:r>
                      </m:e>
                      <m:sub>
                        <m:r>
                          <a:rPr lang="es-ES" sz="2400" i="1">
                            <a:latin typeface="Cambria Math" panose="02040503050406030204" pitchFamily="18" charset="0"/>
                          </a:rPr>
                          <m:t>𝑛</m:t>
                        </m:r>
                      </m:sub>
                    </m:sSub>
                    <m:r>
                      <a:rPr lang="es-ES" sz="2400" i="1">
                        <a:latin typeface="Cambria Math" panose="02040503050406030204" pitchFamily="18" charset="0"/>
                      </a:rPr>
                      <m:t>=</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latin typeface="Cambria Math" panose="02040503050406030204" pitchFamily="18" charset="0"/>
                              </a:rPr>
                              <m:t>𝑎</m:t>
                            </m:r>
                          </m:e>
                          <m:sub>
                            <m:r>
                              <a:rPr lang="es-ES" sz="2400" i="1">
                                <a:latin typeface="Cambria Math" panose="02040503050406030204" pitchFamily="18" charset="0"/>
                              </a:rPr>
                              <m:t>1</m:t>
                            </m:r>
                          </m:sub>
                        </m:sSub>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𝑟</m:t>
                            </m:r>
                          </m:e>
                          <m:sup>
                            <m:r>
                              <a:rPr lang="es-ES" sz="2400" i="1">
                                <a:latin typeface="Cambria Math" panose="02040503050406030204" pitchFamily="18" charset="0"/>
                              </a:rPr>
                              <m:t>𝑛</m:t>
                            </m:r>
                          </m:sup>
                        </m:sSup>
                        <m:r>
                          <a:rPr lang="es-ES" sz="2400" i="1">
                            <a:latin typeface="Cambria Math" panose="02040503050406030204" pitchFamily="18" charset="0"/>
                            <a:ea typeface="Cambria Math" panose="02040503050406030204" pitchFamily="18" charset="0"/>
                          </a:rPr>
                          <m:t>−1)</m:t>
                        </m:r>
                      </m:num>
                      <m:den>
                        <m:r>
                          <a:rPr lang="es-ES" sz="2400" i="1">
                            <a:latin typeface="Cambria Math" panose="02040503050406030204" pitchFamily="18" charset="0"/>
                          </a:rPr>
                          <m:t>𝑟</m:t>
                        </m:r>
                        <m:r>
                          <a:rPr lang="es-ES" sz="2400" i="1">
                            <a:latin typeface="Cambria Math" panose="02040503050406030204" pitchFamily="18" charset="0"/>
                          </a:rPr>
                          <m:t>−1</m:t>
                        </m:r>
                      </m:den>
                    </m:f>
                  </m:oMath>
                </a14:m>
                <a:r>
                  <a:rPr lang="es-ES" sz="2400" dirty="0" smtClean="0"/>
                  <a:t>, se tiene que:</a:t>
                </a:r>
              </a:p>
              <a:p>
                <a:pPr algn="ctr">
                  <a:lnSpc>
                    <a:spcPct val="110000"/>
                  </a:lnSpc>
                </a:pP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𝑆</m:t>
                        </m:r>
                      </m:e>
                      <m:sub>
                        <m:r>
                          <a:rPr lang="es-ES" sz="2400" b="0" i="1" smtClean="0">
                            <a:latin typeface="Cambria Math" panose="02040503050406030204" pitchFamily="18" charset="0"/>
                          </a:rPr>
                          <m:t>64</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2</m:t>
                            </m:r>
                          </m:e>
                          <m:sup>
                            <m:r>
                              <a:rPr lang="es-ES" sz="2400" b="0" i="1" smtClean="0">
                                <a:latin typeface="Cambria Math" panose="02040503050406030204" pitchFamily="18" charset="0"/>
                              </a:rPr>
                              <m:t>64</m:t>
                            </m:r>
                          </m:sup>
                        </m:sSup>
                        <m:r>
                          <a:rPr lang="es-ES" sz="2400" b="0" i="1" smtClean="0">
                            <a:latin typeface="Cambria Math" panose="02040503050406030204" pitchFamily="18" charset="0"/>
                          </a:rPr>
                          <m:t>−1</m:t>
                        </m:r>
                      </m:num>
                      <m:den>
                        <m:r>
                          <a:rPr lang="es-ES" sz="2400" b="0" i="1" smtClean="0">
                            <a:latin typeface="Cambria Math" panose="02040503050406030204" pitchFamily="18" charset="0"/>
                          </a:rPr>
                          <m:t>2−1</m:t>
                        </m:r>
                      </m:den>
                    </m:f>
                    <m:r>
                      <a:rPr lang="es-ES" sz="2400" b="0" i="1" smtClean="0">
                        <a:latin typeface="Cambria Math" panose="02040503050406030204" pitchFamily="18" charset="0"/>
                      </a:rPr>
                      <m:t>=18.446.744.073.709.551.615</m:t>
                    </m:r>
                  </m:oMath>
                </a14:m>
                <a:r>
                  <a:rPr lang="es-ES" sz="2400" dirty="0" smtClean="0"/>
                  <a:t> </a:t>
                </a:r>
              </a:p>
            </p:txBody>
          </p:sp>
        </mc:Choice>
        <mc:Fallback xmlns="">
          <p:sp>
            <p:nvSpPr>
              <p:cNvPr id="9" name="CuadroTexto 8"/>
              <p:cNvSpPr txBox="1">
                <a:spLocks noRot="1" noChangeAspect="1" noMove="1" noResize="1" noEditPoints="1" noAdjustHandles="1" noChangeArrowheads="1" noChangeShapeType="1" noTextEdit="1"/>
              </p:cNvSpPr>
              <p:nvPr/>
            </p:nvSpPr>
            <p:spPr>
              <a:xfrm>
                <a:off x="276468" y="1750951"/>
                <a:ext cx="11915532" cy="2135008"/>
              </a:xfrm>
              <a:prstGeom prst="rect">
                <a:avLst/>
              </a:prstGeom>
              <a:blipFill rotWithShape="0">
                <a:blip r:embed="rId5"/>
                <a:stretch>
                  <a:fillRect l="-767" t="-1429" r="-256"/>
                </a:stretch>
              </a:blipFill>
            </p:spPr>
            <p:txBody>
              <a:bodyPr/>
              <a:lstStyle/>
              <a:p>
                <a:r>
                  <a:rPr lang="es-ES">
                    <a:noFill/>
                  </a:rPr>
                  <a:t> </a:t>
                </a:r>
              </a:p>
            </p:txBody>
          </p:sp>
        </mc:Fallback>
      </mc:AlternateContent>
      <p:sp>
        <p:nvSpPr>
          <p:cNvPr id="3" name="CuadroTexto 2"/>
          <p:cNvSpPr txBox="1"/>
          <p:nvPr/>
        </p:nvSpPr>
        <p:spPr>
          <a:xfrm>
            <a:off x="436728" y="4244454"/>
            <a:ext cx="11655188" cy="830997"/>
          </a:xfrm>
          <a:prstGeom prst="rect">
            <a:avLst/>
          </a:prstGeom>
          <a:noFill/>
        </p:spPr>
        <p:txBody>
          <a:bodyPr wrap="square" rtlCol="0">
            <a:spAutoFit/>
          </a:bodyPr>
          <a:lstStyle/>
          <a:p>
            <a:r>
              <a:rPr lang="es-ES" sz="2400" dirty="0" smtClean="0"/>
              <a:t>Obviamente el rey no pudo conceder su promesa, al no haber suficiente trigo en toda la tierra para satisfacer los deseos del inventor del ajedrez.</a:t>
            </a:r>
            <a:endParaRPr lang="es-ES" sz="2400" dirty="0"/>
          </a:p>
        </p:txBody>
      </p:sp>
    </p:spTree>
    <p:extLst>
      <p:ext uri="{BB962C8B-B14F-4D97-AF65-F5344CB8AC3E}">
        <p14:creationId xmlns:p14="http://schemas.microsoft.com/office/powerpoint/2010/main" val="27119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96400" y="6165304"/>
            <a:ext cx="874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4 CuadroTexto"/>
          <p:cNvSpPr txBox="1"/>
          <p:nvPr/>
        </p:nvSpPr>
        <p:spPr>
          <a:xfrm>
            <a:off x="1223708" y="188641"/>
            <a:ext cx="4592924" cy="646331"/>
          </a:xfrm>
          <a:prstGeom prst="rect">
            <a:avLst/>
          </a:prstGeom>
          <a:noFill/>
        </p:spPr>
        <p:txBody>
          <a:bodyPr wrap="none" rtlCol="0">
            <a:spAutoFit/>
          </a:bodyPr>
          <a:lstStyle/>
          <a:p>
            <a:r>
              <a:rPr lang="es-ES" sz="3600" b="1" dirty="0" smtClean="0">
                <a:solidFill>
                  <a:schemeClr val="accent2"/>
                </a:solidFill>
                <a:latin typeface="AvantGarde" pitchFamily="34" charset="0"/>
              </a:rPr>
              <a:t>P</a:t>
            </a:r>
            <a:r>
              <a:rPr lang="es-ES" sz="2800" dirty="0" smtClean="0">
                <a:solidFill>
                  <a:schemeClr val="accent2"/>
                </a:solidFill>
                <a:latin typeface="AvantGarde" pitchFamily="34" charset="0"/>
              </a:rPr>
              <a:t>rogresiones</a:t>
            </a:r>
            <a:r>
              <a:rPr lang="es-ES" sz="2800" b="1" dirty="0" smtClean="0">
                <a:solidFill>
                  <a:schemeClr val="accent2"/>
                </a:solidFill>
                <a:latin typeface="AvantGarde" pitchFamily="34" charset="0"/>
              </a:rPr>
              <a:t> </a:t>
            </a:r>
            <a:r>
              <a:rPr lang="es-ES" sz="3600" b="1" dirty="0" smtClean="0">
                <a:solidFill>
                  <a:schemeClr val="accent2"/>
                </a:solidFill>
                <a:latin typeface="AvantGarde" pitchFamily="34" charset="0"/>
              </a:rPr>
              <a:t>G</a:t>
            </a:r>
            <a:r>
              <a:rPr lang="es-ES" sz="2800" dirty="0" smtClean="0">
                <a:solidFill>
                  <a:schemeClr val="accent2"/>
                </a:solidFill>
                <a:latin typeface="AvantGarde" pitchFamily="34" charset="0"/>
              </a:rPr>
              <a:t>eométricas</a:t>
            </a:r>
            <a:endParaRPr lang="es-ES" sz="2800" dirty="0">
              <a:solidFill>
                <a:schemeClr val="accent2"/>
              </a:solidFill>
              <a:latin typeface="AvantGarde" pitchFamily="34" charset="0"/>
            </a:endParaRPr>
          </a:p>
        </p:txBody>
      </p:sp>
      <p:pic>
        <p:nvPicPr>
          <p:cNvPr id="6" name="Picture 3" descr="C:\Users\mcpuig\AppData\Local\Microsoft\Windows\INetCache\IE\209U2EL3\Fotolia_44095455_XS[1].jp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183806" y="96743"/>
            <a:ext cx="936104" cy="936104"/>
          </a:xfrm>
          <a:prstGeom prst="rect">
            <a:avLst/>
          </a:prstGeom>
          <a:noFill/>
          <a:extLst>
            <a:ext uri="{909E8E84-426E-40DD-AFC4-6F175D3DCCD1}">
              <a14:hiddenFill xmlns:a14="http://schemas.microsoft.com/office/drawing/2010/main">
                <a:solidFill>
                  <a:srgbClr val="FFFFFF"/>
                </a:solidFill>
              </a14:hiddenFill>
            </a:ext>
          </a:extLst>
        </p:spPr>
      </p:pic>
      <p:sp>
        <p:nvSpPr>
          <p:cNvPr id="10" name="Botón de acción: Hacia atrás o Anterior 9">
            <a:hlinkClick r:id="" action="ppaction://hlinkshowjump?jump=nextslide" highlightClick="1"/>
          </p:cNvPr>
          <p:cNvSpPr/>
          <p:nvPr/>
        </p:nvSpPr>
        <p:spPr>
          <a:xfrm rot="10800000">
            <a:off x="10977485" y="5795999"/>
            <a:ext cx="487855" cy="364221"/>
          </a:xfrm>
          <a:prstGeom prst="actionButtonBackPrevious">
            <a:avLst/>
          </a:prstGeom>
          <a:solidFill>
            <a:schemeClr val="accent2">
              <a:lumMod val="60000"/>
              <a:lumOff val="40000"/>
            </a:schemeClr>
          </a:solidFill>
          <a:ln>
            <a:solidFill>
              <a:schemeClr val="accent2"/>
            </a:solidFill>
          </a:ln>
          <a:scene3d>
            <a:camera prst="orthographicFront"/>
            <a:lightRig rig="threePt" dir="t"/>
          </a:scene3d>
          <a:sp3d extrusionH="76200" contourW="12700">
            <a:bevelT w="101600" h="0" prst="relaxedInset"/>
            <a:bevelB h="0" prst="angle"/>
            <a:extrusionClr>
              <a:srgbClr val="FAE5DE"/>
            </a:extrusionClr>
            <a:contourClr>
              <a:schemeClr val="accent2">
                <a:lumMod val="20000"/>
                <a:lumOff val="80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90000" rtlCol="0" anchor="ctr" anchorCtr="0"/>
          <a:lstStyle/>
          <a:p>
            <a:pPr algn="ctr"/>
            <a:endParaRPr lang="es-ES" b="1">
              <a:ln w="6600">
                <a:solidFill>
                  <a:schemeClr val="accent2"/>
                </a:solidFill>
                <a:prstDash val="solid"/>
              </a:ln>
              <a:solidFill>
                <a:srgbClr val="FFFFFF"/>
              </a:solidFill>
              <a:effectLst>
                <a:outerShdw dist="38100" dir="2700000" algn="tl" rotWithShape="0">
                  <a:schemeClr val="accent2"/>
                </a:outerShdw>
              </a:effectLst>
            </a:endParaRPr>
          </a:p>
        </p:txBody>
      </p:sp>
      <p:sp>
        <p:nvSpPr>
          <p:cNvPr id="2" name="CuadroTexto 1"/>
          <p:cNvSpPr txBox="1"/>
          <p:nvPr/>
        </p:nvSpPr>
        <p:spPr>
          <a:xfrm>
            <a:off x="3370997" y="1978925"/>
            <a:ext cx="4490113" cy="1323439"/>
          </a:xfrm>
          <a:prstGeom prst="rect">
            <a:avLst/>
          </a:prstGeom>
          <a:solidFill>
            <a:srgbClr val="FFC000"/>
          </a:solidFill>
        </p:spPr>
        <p:txBody>
          <a:bodyPr wrap="square" rtlCol="0">
            <a:spAutoFit/>
          </a:bodyPr>
          <a:lstStyle/>
          <a:p>
            <a:pPr algn="ctr"/>
            <a:r>
              <a:rPr lang="es-ES" sz="8000" dirty="0" smtClean="0">
                <a:solidFill>
                  <a:srgbClr val="0070C0"/>
                </a:solidFill>
              </a:rPr>
              <a:t>FIN</a:t>
            </a:r>
            <a:endParaRPr lang="es-ES" sz="8000" dirty="0">
              <a:solidFill>
                <a:srgbClr val="0070C0"/>
              </a:solidFill>
            </a:endParaRPr>
          </a:p>
        </p:txBody>
      </p:sp>
    </p:spTree>
    <p:extLst>
      <p:ext uri="{BB962C8B-B14F-4D97-AF65-F5344CB8AC3E}">
        <p14:creationId xmlns:p14="http://schemas.microsoft.com/office/powerpoint/2010/main" val="356471393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1352</TotalTime>
  <Words>1674</Words>
  <Application>Microsoft Office PowerPoint</Application>
  <PresentationFormat>Panorámica</PresentationFormat>
  <Paragraphs>187</Paragraphs>
  <Slides>28</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Arial</vt:lpstr>
      <vt:lpstr>AvantGarde</vt:lpstr>
      <vt:lpstr>Calibri</vt:lpstr>
      <vt:lpstr>Calibri Light</vt:lpstr>
      <vt:lpstr>Cambria Math</vt:lpstr>
      <vt:lpstr>Verdana</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Matilde Lafuente</dc:creator>
  <cp:lastModifiedBy>Matilde Lafuente</cp:lastModifiedBy>
  <cp:revision>152</cp:revision>
  <dcterms:created xsi:type="dcterms:W3CDTF">2017-01-18T18:04:43Z</dcterms:created>
  <dcterms:modified xsi:type="dcterms:W3CDTF">2017-12-13T22:11:12Z</dcterms:modified>
</cp:coreProperties>
</file>