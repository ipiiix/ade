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8" r:id="rId3"/>
    <p:sldId id="303" r:id="rId4"/>
    <p:sldId id="296" r:id="rId5"/>
    <p:sldId id="299" r:id="rId6"/>
    <p:sldId id="300" r:id="rId7"/>
    <p:sldId id="301" r:id="rId8"/>
    <p:sldId id="306" r:id="rId9"/>
    <p:sldId id="305" r:id="rId10"/>
    <p:sldId id="307" r:id="rId11"/>
    <p:sldId id="308" r:id="rId12"/>
    <p:sldId id="312" r:id="rId13"/>
    <p:sldId id="309" r:id="rId14"/>
    <p:sldId id="311" r:id="rId15"/>
    <p:sldId id="310" r:id="rId16"/>
    <p:sldId id="315" r:id="rId17"/>
    <p:sldId id="314" r:id="rId18"/>
    <p:sldId id="316" r:id="rId19"/>
    <p:sldId id="318" r:id="rId20"/>
    <p:sldId id="317" r:id="rId21"/>
    <p:sldId id="313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ilde Lafuente Lechuga" initials="MLL" lastIdx="1" clrIdx="0">
    <p:extLst>
      <p:ext uri="{19B8F6BF-5375-455C-9EA6-DF929625EA0E}">
        <p15:presenceInfo xmlns:p15="http://schemas.microsoft.com/office/powerpoint/2012/main" userId="Matilde Lafuente Lechug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ED7D31"/>
    <a:srgbClr val="FAE5DE"/>
    <a:srgbClr val="FCE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1" d="100"/>
          <a:sy n="71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6361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2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36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06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21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8512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84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73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40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71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509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CF576-0001-4F20-992A-2A914F02A613}" type="datetimeFigureOut">
              <a:rPr lang="es-ES" smtClean="0"/>
              <a:t>05/09/2017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4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wmf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3.png"/><Relationship Id="rId7" Type="http://schemas.openxmlformats.org/officeDocument/2006/relationships/image" Target="../media/image9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Relationship Id="rId9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wmf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gif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0433C-A6FD-494E-9439-4741394F9850}" type="slidenum">
              <a:rPr lang="es-ES" smtClean="0"/>
              <a:t>1</a:t>
            </a:fld>
            <a:endParaRPr lang="es-ES"/>
          </a:p>
        </p:txBody>
      </p:sp>
      <p:pic>
        <p:nvPicPr>
          <p:cNvPr id="3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896" y="198884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2904051" y="1052354"/>
            <a:ext cx="83242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4000" b="1" dirty="0" smtClean="0">
                <a:solidFill>
                  <a:schemeClr val="accent2"/>
                </a:solidFill>
                <a:latin typeface="AvantGarde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Fracciones, porcentajes y proporciones (I)</a:t>
            </a:r>
            <a:endParaRPr lang="es-ES" sz="4000" b="1" dirty="0">
              <a:solidFill>
                <a:schemeClr val="accent2"/>
              </a:solidFill>
              <a:latin typeface="AvantGarde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508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1938808" y="389406"/>
            <a:ext cx="7757592" cy="13163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sz="3600" b="1" dirty="0" err="1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Introducción</a:t>
            </a:r>
            <a:endParaRPr lang="en-GB" altLang="es-ES" sz="3600" b="1" dirty="0" smtClean="0">
              <a:solidFill>
                <a:schemeClr val="accent2"/>
              </a:solidFill>
              <a:latin typeface="AvantGarde" pitchFamily="34" charset="0"/>
              <a:ea typeface="+mn-ea"/>
              <a:cs typeface="+mn-cs"/>
            </a:endParaRPr>
          </a:p>
          <a:p>
            <a:r>
              <a:rPr lang="en-GB" altLang="es-ES" sz="2800" dirty="0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¿</a:t>
            </a:r>
            <a:r>
              <a:rPr lang="en-GB" altLang="es-ES" sz="2800" dirty="0" err="1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Cómo</a:t>
            </a:r>
            <a:r>
              <a:rPr lang="en-GB" altLang="es-ES" sz="2800" dirty="0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 </a:t>
            </a:r>
            <a:r>
              <a:rPr lang="en-GB" altLang="es-ES" sz="2800" dirty="0" err="1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utilizamos</a:t>
            </a:r>
            <a:r>
              <a:rPr lang="en-GB" altLang="es-ES" sz="2800" dirty="0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 </a:t>
            </a:r>
            <a:r>
              <a:rPr lang="en-GB" altLang="es-ES" sz="2800" dirty="0" err="1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las</a:t>
            </a:r>
            <a:r>
              <a:rPr lang="en-GB" altLang="es-ES" sz="2800" dirty="0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 </a:t>
            </a:r>
            <a:r>
              <a:rPr lang="en-GB" altLang="es-ES" sz="2800" dirty="0" err="1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siguientes</a:t>
            </a:r>
            <a:r>
              <a:rPr lang="en-GB" altLang="es-ES" sz="2800" dirty="0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 </a:t>
            </a:r>
            <a:r>
              <a:rPr lang="en-GB" altLang="es-ES" sz="2800" dirty="0" err="1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palabras</a:t>
            </a:r>
            <a:r>
              <a:rPr lang="en-GB" altLang="es-ES" sz="2800" dirty="0" smtClean="0">
                <a:solidFill>
                  <a:schemeClr val="accent2"/>
                </a:solidFill>
                <a:latin typeface="AvantGarde" pitchFamily="34" charset="0"/>
                <a:ea typeface="+mn-ea"/>
                <a:cs typeface="+mn-cs"/>
              </a:rPr>
              <a:t>?</a:t>
            </a:r>
            <a:endParaRPr lang="en-GB" altLang="es-ES" sz="2800" dirty="0">
              <a:solidFill>
                <a:schemeClr val="accent2"/>
              </a:solidFill>
              <a:latin typeface="AvantGarde" pitchFamily="34" charset="0"/>
              <a:ea typeface="+mn-ea"/>
              <a:cs typeface="+mn-cs"/>
            </a:endParaRP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1551620" y="1842305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smtClean="0">
                <a:solidFill>
                  <a:schemeClr val="folHlink"/>
                </a:solidFill>
              </a:rPr>
              <a:t>Hay 24 </a:t>
            </a:r>
            <a:r>
              <a:rPr lang="en-GB" altLang="es-ES" dirty="0" err="1" smtClean="0">
                <a:solidFill>
                  <a:schemeClr val="folHlink"/>
                </a:solidFill>
              </a:rPr>
              <a:t>estudiantes</a:t>
            </a:r>
            <a:r>
              <a:rPr lang="en-GB" altLang="es-ES" dirty="0" smtClean="0">
                <a:solidFill>
                  <a:schemeClr val="folHlink"/>
                </a:solidFill>
              </a:rPr>
              <a:t> en </a:t>
            </a:r>
            <a:r>
              <a:rPr lang="en-GB" altLang="es-ES" dirty="0" err="1" smtClean="0">
                <a:solidFill>
                  <a:schemeClr val="folHlink"/>
                </a:solidFill>
              </a:rPr>
              <a:t>clase</a:t>
            </a:r>
            <a:r>
              <a:rPr lang="en-GB" altLang="es-ES" dirty="0" smtClean="0">
                <a:solidFill>
                  <a:schemeClr val="folHlink"/>
                </a:solidFill>
              </a:rPr>
              <a:t>, 6 de </a:t>
            </a:r>
            <a:r>
              <a:rPr lang="en-GB" altLang="es-ES" dirty="0" err="1" smtClean="0">
                <a:solidFill>
                  <a:schemeClr val="folHlink"/>
                </a:solidFill>
              </a:rPr>
              <a:t>ellos</a:t>
            </a:r>
            <a:r>
              <a:rPr lang="en-GB" altLang="es-ES" dirty="0" smtClean="0">
                <a:solidFill>
                  <a:schemeClr val="folHlink"/>
                </a:solidFill>
              </a:rPr>
              <a:t> son </a:t>
            </a:r>
            <a:r>
              <a:rPr lang="en-GB" altLang="es-ES" dirty="0" err="1" smtClean="0">
                <a:solidFill>
                  <a:schemeClr val="folHlink"/>
                </a:solidFill>
              </a:rPr>
              <a:t>chicas</a:t>
            </a:r>
            <a:r>
              <a:rPr lang="en-GB" altLang="es-ES" dirty="0" smtClean="0">
                <a:solidFill>
                  <a:schemeClr val="folHlink"/>
                </a:solidFill>
              </a:rPr>
              <a:t>.</a:t>
            </a:r>
            <a:endParaRPr lang="en-GB" altLang="es-ES" dirty="0">
              <a:solidFill>
                <a:schemeClr val="folHlink"/>
              </a:solidFill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1634008" y="271534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 err="1" smtClean="0"/>
              <a:t>Fracción</a:t>
            </a:r>
            <a:endParaRPr lang="en-GB" altLang="es-ES" sz="2000" b="1" dirty="0"/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3005608" y="2715345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 smtClean="0">
                <a:solidFill>
                  <a:srgbClr val="CC0000"/>
                </a:solidFill>
              </a:rPr>
              <a:t>“Un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cuarto</a:t>
            </a:r>
            <a:r>
              <a:rPr lang="en-GB" altLang="es-ES" sz="2000" dirty="0" smtClean="0">
                <a:solidFill>
                  <a:srgbClr val="CC0000"/>
                </a:solidFill>
              </a:rPr>
              <a:t> (1/4) de los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estudiantes</a:t>
            </a:r>
            <a:r>
              <a:rPr lang="en-GB" altLang="es-ES" sz="2000" dirty="0" smtClean="0">
                <a:solidFill>
                  <a:srgbClr val="CC0000"/>
                </a:solidFill>
              </a:rPr>
              <a:t> son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chicas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634008" y="324874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/>
              <a:t>Decimal</a:t>
            </a: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3005608" y="3248745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 smtClean="0">
                <a:solidFill>
                  <a:srgbClr val="CC0000"/>
                </a:solidFill>
              </a:rPr>
              <a:t>“0,25 de los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estudiantes</a:t>
            </a:r>
            <a:r>
              <a:rPr lang="en-GB" altLang="es-ES" sz="2000" dirty="0" smtClean="0">
                <a:solidFill>
                  <a:srgbClr val="CC0000"/>
                </a:solidFill>
              </a:rPr>
              <a:t> son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chicas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1634008" y="378214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 err="1"/>
              <a:t>Porcentaje</a:t>
            </a:r>
            <a:endParaRPr lang="en-GB" altLang="es-ES" sz="2000" b="1" dirty="0"/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3005608" y="3782145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CC0000"/>
                </a:solidFill>
              </a:rPr>
              <a:t>“25% </a:t>
            </a:r>
            <a:r>
              <a:rPr lang="en-GB" altLang="es-ES" sz="2000" dirty="0" smtClean="0">
                <a:solidFill>
                  <a:srgbClr val="CC0000"/>
                </a:solidFill>
              </a:rPr>
              <a:t>de los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estudiantes</a:t>
            </a:r>
            <a:r>
              <a:rPr lang="en-GB" altLang="es-ES" sz="2000" dirty="0" smtClean="0">
                <a:solidFill>
                  <a:srgbClr val="CC0000"/>
                </a:solidFill>
              </a:rPr>
              <a:t> son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chicas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1634008" y="431554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/>
              <a:t>Ratio</a:t>
            </a: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3005608" y="4315545"/>
            <a:ext cx="6934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 smtClean="0">
                <a:solidFill>
                  <a:srgbClr val="CC0000"/>
                </a:solidFill>
              </a:rPr>
              <a:t>“El ratio de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chicas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respecto</a:t>
            </a:r>
            <a:r>
              <a:rPr lang="en-GB" altLang="es-ES" sz="2000" dirty="0" smtClean="0">
                <a:solidFill>
                  <a:srgbClr val="CC0000"/>
                </a:solidFill>
              </a:rPr>
              <a:t> a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chicos</a:t>
            </a:r>
            <a:r>
              <a:rPr lang="en-GB" altLang="es-ES" sz="2000" dirty="0" smtClean="0">
                <a:solidFill>
                  <a:srgbClr val="CC0000"/>
                </a:solidFill>
              </a:rPr>
              <a:t> en la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clase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</a:t>
            </a:r>
            <a:r>
              <a:rPr lang="en-GB" altLang="es-ES" sz="2000" dirty="0" smtClean="0">
                <a:solidFill>
                  <a:srgbClr val="CC0000"/>
                </a:solidFill>
              </a:rPr>
              <a:t> 1 a 3</a:t>
            </a:r>
            <a:r>
              <a:rPr lang="en-GB" altLang="es-ES" sz="2000" dirty="0">
                <a:solidFill>
                  <a:srgbClr val="CC0000"/>
                </a:solidFill>
              </a:rPr>
              <a:t>, </a:t>
            </a:r>
            <a:r>
              <a:rPr lang="en-GB" altLang="es-ES" sz="2000" dirty="0" smtClean="0">
                <a:solidFill>
                  <a:srgbClr val="CC0000"/>
                </a:solidFill>
              </a:rPr>
              <a:t>o </a:t>
            </a:r>
            <a:r>
              <a:rPr lang="en-GB" altLang="es-ES" sz="2000" dirty="0">
                <a:solidFill>
                  <a:srgbClr val="CC0000"/>
                </a:solidFill>
              </a:rPr>
              <a:t>1:3, </a:t>
            </a:r>
            <a:r>
              <a:rPr lang="en-GB" altLang="es-ES" sz="2000" dirty="0" smtClean="0">
                <a:solidFill>
                  <a:srgbClr val="CC0000"/>
                </a:solidFill>
              </a:rPr>
              <a:t>o hay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una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chica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por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cada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tres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chicos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1634008" y="5153745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 err="1"/>
              <a:t>Proporción</a:t>
            </a:r>
            <a:endParaRPr lang="en-GB" altLang="es-ES" sz="2000" b="1" dirty="0"/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3005608" y="5153745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 smtClean="0">
                <a:solidFill>
                  <a:srgbClr val="CC0000"/>
                </a:solidFill>
              </a:rPr>
              <a:t>“Uno de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cada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cuatro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estudiantes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una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chica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72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  <p:bldP spid="25" grpId="0" autoUpdateAnimBg="0"/>
      <p:bldP spid="26" grpId="0" autoUpdateAnimBg="0"/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3" grpId="0" autoUpdateAnimBg="0"/>
      <p:bldP spid="3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3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712912" y="750009"/>
            <a:ext cx="3744351" cy="6518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 smtClean="0">
                <a:solidFill>
                  <a:schemeClr val="hlink"/>
                </a:solidFill>
              </a:rPr>
              <a:t>Otro</a:t>
            </a:r>
            <a:r>
              <a:rPr lang="en-GB" altLang="es-ES" dirty="0" smtClean="0">
                <a:solidFill>
                  <a:schemeClr val="hlink"/>
                </a:solidFill>
              </a:rPr>
              <a:t> </a:t>
            </a:r>
            <a:r>
              <a:rPr lang="en-GB" altLang="es-ES" dirty="0" err="1" smtClean="0">
                <a:solidFill>
                  <a:schemeClr val="hlink"/>
                </a:solidFill>
              </a:rPr>
              <a:t>ejemplo</a:t>
            </a:r>
            <a:r>
              <a:rPr lang="en-GB" altLang="es-ES" dirty="0" smtClean="0">
                <a:solidFill>
                  <a:schemeClr val="hlink"/>
                </a:solidFill>
              </a:rPr>
              <a:t>…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789112" y="1930791"/>
            <a:ext cx="87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smtClean="0">
                <a:solidFill>
                  <a:schemeClr val="folHlink"/>
                </a:solidFill>
              </a:rPr>
              <a:t>Hay 40 </a:t>
            </a:r>
            <a:r>
              <a:rPr lang="en-GB" altLang="es-ES" dirty="0" err="1" smtClean="0">
                <a:solidFill>
                  <a:schemeClr val="folHlink"/>
                </a:solidFill>
              </a:rPr>
              <a:t>trabajadores</a:t>
            </a:r>
            <a:r>
              <a:rPr lang="en-GB" altLang="es-ES" dirty="0" smtClean="0">
                <a:solidFill>
                  <a:schemeClr val="folHlink"/>
                </a:solidFill>
              </a:rPr>
              <a:t> en </a:t>
            </a:r>
            <a:r>
              <a:rPr lang="en-GB" altLang="es-ES" dirty="0" err="1" smtClean="0">
                <a:solidFill>
                  <a:schemeClr val="folHlink"/>
                </a:solidFill>
              </a:rPr>
              <a:t>una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empresa</a:t>
            </a:r>
            <a:r>
              <a:rPr lang="en-GB" altLang="es-ES" dirty="0" smtClean="0">
                <a:solidFill>
                  <a:schemeClr val="folHlink"/>
                </a:solidFill>
              </a:rPr>
              <a:t>, 5 de los </a:t>
            </a:r>
            <a:r>
              <a:rPr lang="en-GB" altLang="es-ES" dirty="0" err="1" smtClean="0">
                <a:solidFill>
                  <a:schemeClr val="folHlink"/>
                </a:solidFill>
              </a:rPr>
              <a:t>cuales</a:t>
            </a:r>
            <a:r>
              <a:rPr lang="en-GB" altLang="es-ES" dirty="0" smtClean="0">
                <a:solidFill>
                  <a:schemeClr val="folHlink"/>
                </a:solidFill>
              </a:rPr>
              <a:t> son </a:t>
            </a:r>
            <a:r>
              <a:rPr lang="en-GB" altLang="es-ES" dirty="0" err="1" smtClean="0">
                <a:solidFill>
                  <a:schemeClr val="folHlink"/>
                </a:solidFill>
              </a:rPr>
              <a:t>vegetarianos</a:t>
            </a:r>
            <a:r>
              <a:rPr lang="en-GB" altLang="es-ES" dirty="0" smtClean="0">
                <a:solidFill>
                  <a:schemeClr val="folHlink"/>
                </a:solidFill>
              </a:rPr>
              <a:t>.</a:t>
            </a:r>
            <a:endParaRPr lang="en-GB" altLang="es-ES" dirty="0">
              <a:solidFill>
                <a:schemeClr val="folHlink"/>
              </a:solidFill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12912" y="292139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 err="1" smtClean="0"/>
              <a:t>Fracción</a:t>
            </a:r>
            <a:endParaRPr lang="en-GB" altLang="es-ES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084512" y="2921391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 smtClean="0">
                <a:solidFill>
                  <a:srgbClr val="CC0000"/>
                </a:solidFill>
              </a:rPr>
              <a:t>“Un octavo (</a:t>
            </a:r>
            <a:r>
              <a:rPr lang="en-GB" altLang="es-ES" sz="2000" baseline="30000" dirty="0" smtClean="0">
                <a:solidFill>
                  <a:srgbClr val="CC0000"/>
                </a:solidFill>
              </a:rPr>
              <a:t>1</a:t>
            </a:r>
            <a:r>
              <a:rPr lang="en-GB" altLang="es-ES" sz="2000" dirty="0" smtClean="0">
                <a:solidFill>
                  <a:srgbClr val="CC0000"/>
                </a:solidFill>
              </a:rPr>
              <a:t>/</a:t>
            </a:r>
            <a:r>
              <a:rPr lang="en-GB" altLang="es-ES" sz="2000" baseline="-25000" dirty="0" smtClean="0">
                <a:solidFill>
                  <a:srgbClr val="CC0000"/>
                </a:solidFill>
              </a:rPr>
              <a:t>8</a:t>
            </a:r>
            <a:r>
              <a:rPr lang="en-GB" altLang="es-ES" sz="2000" dirty="0">
                <a:solidFill>
                  <a:srgbClr val="CC0000"/>
                </a:solidFill>
              </a:rPr>
              <a:t>) </a:t>
            </a:r>
            <a:r>
              <a:rPr lang="en-GB" altLang="es-ES" sz="2000" dirty="0" smtClean="0">
                <a:solidFill>
                  <a:srgbClr val="CC0000"/>
                </a:solidFill>
              </a:rPr>
              <a:t>de los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trabajadores</a:t>
            </a:r>
            <a:r>
              <a:rPr lang="en-GB" altLang="es-ES" sz="2000" dirty="0" smtClean="0">
                <a:solidFill>
                  <a:srgbClr val="CC0000"/>
                </a:solidFill>
              </a:rPr>
              <a:t> son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712912" y="345479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/>
              <a:t>Decimal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3084512" y="3454791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CC0000"/>
                </a:solidFill>
              </a:rPr>
              <a:t>“</a:t>
            </a:r>
            <a:r>
              <a:rPr lang="en-GB" altLang="es-ES" sz="2000" dirty="0" smtClean="0">
                <a:solidFill>
                  <a:srgbClr val="CC0000"/>
                </a:solidFill>
              </a:rPr>
              <a:t>0,125 de los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trabajadores</a:t>
            </a:r>
            <a:r>
              <a:rPr lang="en-GB" altLang="es-ES" sz="2000" dirty="0" smtClean="0">
                <a:solidFill>
                  <a:srgbClr val="CC0000"/>
                </a:solidFill>
              </a:rPr>
              <a:t> son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1712912" y="398819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 err="1" smtClean="0"/>
              <a:t>Porcentaje</a:t>
            </a:r>
            <a:endParaRPr lang="en-GB" altLang="es-ES" sz="2000" b="1" dirty="0"/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3084512" y="3988191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CC0000"/>
                </a:solidFill>
              </a:rPr>
              <a:t>“12.5% </a:t>
            </a:r>
            <a:r>
              <a:rPr lang="en-GB" altLang="es-ES" sz="2000" dirty="0" smtClean="0">
                <a:solidFill>
                  <a:srgbClr val="CC0000"/>
                </a:solidFill>
              </a:rPr>
              <a:t>de los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trabajadores</a:t>
            </a:r>
            <a:r>
              <a:rPr lang="en-GB" altLang="es-ES" sz="2000" dirty="0" smtClean="0">
                <a:solidFill>
                  <a:srgbClr val="CC0000"/>
                </a:solidFill>
              </a:rPr>
              <a:t> son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1712912" y="452159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/>
              <a:t>Ratio</a:t>
            </a: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3084512" y="4521591"/>
            <a:ext cx="6934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 smtClean="0">
                <a:solidFill>
                  <a:srgbClr val="CC0000"/>
                </a:solidFill>
              </a:rPr>
              <a:t>“El ratio de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vegetarianos</a:t>
            </a:r>
            <a:r>
              <a:rPr lang="en-GB" altLang="es-ES" sz="2000" dirty="0" smtClean="0">
                <a:solidFill>
                  <a:srgbClr val="CC0000"/>
                </a:solidFill>
              </a:rPr>
              <a:t> respect a no-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vegetarianos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</a:t>
            </a:r>
            <a:r>
              <a:rPr lang="en-GB" altLang="es-ES" sz="2000" dirty="0" smtClean="0">
                <a:solidFill>
                  <a:srgbClr val="CC0000"/>
                </a:solidFill>
              </a:rPr>
              <a:t> 1 a 7, o 1:7 o hay 1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por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cada</a:t>
            </a:r>
            <a:r>
              <a:rPr lang="en-GB" altLang="es-ES" sz="2000" dirty="0" smtClean="0">
                <a:solidFill>
                  <a:srgbClr val="CC0000"/>
                </a:solidFill>
              </a:rPr>
              <a:t> 7 no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vegetarianos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1712912" y="535979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b="1" dirty="0" err="1" smtClean="0"/>
              <a:t>Proporción</a:t>
            </a:r>
            <a:endParaRPr lang="en-GB" altLang="es-ES" sz="2000" b="1" dirty="0"/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084512" y="5359791"/>
            <a:ext cx="693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 smtClean="0">
                <a:solidFill>
                  <a:srgbClr val="CC0000"/>
                </a:solidFill>
              </a:rPr>
              <a:t>“Uno de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cada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ocho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trabajadores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es</a:t>
            </a:r>
            <a:r>
              <a:rPr lang="en-GB" altLang="es-ES" sz="2000" dirty="0" smtClean="0">
                <a:solidFill>
                  <a:srgbClr val="CC0000"/>
                </a:solidFill>
              </a:rPr>
              <a:t> </a:t>
            </a:r>
            <a:r>
              <a:rPr lang="en-GB" altLang="es-ES" sz="2000" dirty="0" err="1" smtClean="0">
                <a:solidFill>
                  <a:srgbClr val="CC0000"/>
                </a:solidFill>
              </a:rPr>
              <a:t>vegetariano</a:t>
            </a:r>
            <a:r>
              <a:rPr lang="en-GB" altLang="es-ES" sz="2000" dirty="0" smtClean="0">
                <a:solidFill>
                  <a:srgbClr val="CC0000"/>
                </a:solidFill>
              </a:rPr>
              <a:t>”</a:t>
            </a:r>
            <a:endParaRPr lang="en-GB" altLang="es-ES" sz="2000" dirty="0">
              <a:solidFill>
                <a:srgbClr val="C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57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4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066800" y="381000"/>
            <a:ext cx="77724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smtClean="0">
                <a:solidFill>
                  <a:schemeClr val="hlink"/>
                </a:solidFill>
              </a:rPr>
              <a:t>¿Para </a:t>
            </a:r>
            <a:r>
              <a:rPr lang="en-GB" altLang="es-ES" dirty="0" err="1" smtClean="0">
                <a:solidFill>
                  <a:schemeClr val="hlink"/>
                </a:solidFill>
              </a:rPr>
              <a:t>qué</a:t>
            </a:r>
            <a:r>
              <a:rPr lang="en-GB" altLang="es-ES" dirty="0" smtClean="0">
                <a:solidFill>
                  <a:schemeClr val="hlink"/>
                </a:solidFill>
              </a:rPr>
              <a:t> se </a:t>
            </a:r>
            <a:r>
              <a:rPr lang="en-GB" altLang="es-ES" dirty="0" err="1" smtClean="0">
                <a:solidFill>
                  <a:schemeClr val="hlink"/>
                </a:solidFill>
              </a:rPr>
              <a:t>utilizan</a:t>
            </a:r>
            <a:r>
              <a:rPr lang="en-GB" altLang="es-ES" dirty="0" smtClean="0">
                <a:solidFill>
                  <a:schemeClr val="hlink"/>
                </a:solidFill>
              </a:rPr>
              <a:t>?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976312" y="1890713"/>
            <a:ext cx="945860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smtClean="0">
                <a:solidFill>
                  <a:schemeClr val="folHlink"/>
                </a:solidFill>
              </a:rPr>
              <a:t>Las </a:t>
            </a:r>
            <a:r>
              <a:rPr lang="en-GB" altLang="es-ES" dirty="0" err="1" smtClean="0">
                <a:solidFill>
                  <a:schemeClr val="folHlink"/>
                </a:solidFill>
              </a:rPr>
              <a:t>fracciones</a:t>
            </a:r>
            <a:r>
              <a:rPr lang="en-GB" altLang="es-ES" dirty="0" smtClean="0">
                <a:solidFill>
                  <a:schemeClr val="folHlink"/>
                </a:solidFill>
              </a:rPr>
              <a:t>, los </a:t>
            </a:r>
            <a:r>
              <a:rPr lang="en-GB" altLang="es-ES" dirty="0" err="1" smtClean="0">
                <a:solidFill>
                  <a:schemeClr val="folHlink"/>
                </a:solidFill>
              </a:rPr>
              <a:t>decimalse</a:t>
            </a:r>
            <a:r>
              <a:rPr lang="en-GB" altLang="es-ES" dirty="0" smtClean="0">
                <a:solidFill>
                  <a:schemeClr val="folHlink"/>
                </a:solidFill>
              </a:rPr>
              <a:t>, </a:t>
            </a:r>
            <a:r>
              <a:rPr lang="en-GB" altLang="es-ES" dirty="0" err="1" smtClean="0">
                <a:solidFill>
                  <a:schemeClr val="folHlink"/>
                </a:solidFill>
              </a:rPr>
              <a:t>porcentajes</a:t>
            </a:r>
            <a:r>
              <a:rPr lang="en-GB" altLang="es-ES" dirty="0" smtClean="0">
                <a:solidFill>
                  <a:schemeClr val="folHlink"/>
                </a:solidFill>
              </a:rPr>
              <a:t>, ratios y </a:t>
            </a:r>
            <a:r>
              <a:rPr lang="en-GB" altLang="es-ES" dirty="0" err="1" smtClean="0">
                <a:solidFill>
                  <a:schemeClr val="folHlink"/>
                </a:solidFill>
              </a:rPr>
              <a:t>proporciones</a:t>
            </a:r>
            <a:r>
              <a:rPr lang="en-GB" altLang="es-ES" dirty="0" smtClean="0">
                <a:solidFill>
                  <a:schemeClr val="folHlink"/>
                </a:solidFill>
              </a:rPr>
              <a:t> son </a:t>
            </a:r>
            <a:r>
              <a:rPr lang="en-GB" altLang="es-ES" dirty="0" err="1" smtClean="0">
                <a:solidFill>
                  <a:schemeClr val="folHlink"/>
                </a:solidFill>
              </a:rPr>
              <a:t>diferentes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formas</a:t>
            </a:r>
            <a:r>
              <a:rPr lang="en-GB" altLang="es-ES" dirty="0" smtClean="0">
                <a:solidFill>
                  <a:schemeClr val="folHlink"/>
                </a:solidFill>
              </a:rPr>
              <a:t> de </a:t>
            </a:r>
            <a:r>
              <a:rPr lang="en-GB" altLang="es-ES" dirty="0" err="1" smtClean="0">
                <a:solidFill>
                  <a:schemeClr val="folHlink"/>
                </a:solidFill>
              </a:rPr>
              <a:t>expresar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conceptos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similares</a:t>
            </a:r>
            <a:r>
              <a:rPr lang="en-GB" altLang="es-ES" dirty="0" smtClean="0">
                <a:solidFill>
                  <a:schemeClr val="folHlink"/>
                </a:solidFill>
              </a:rPr>
              <a:t>. </a:t>
            </a:r>
          </a:p>
          <a:p>
            <a:pPr eaLnBrk="1" hangingPunct="1"/>
            <a:r>
              <a:rPr lang="en-GB" altLang="es-ES" dirty="0" err="1" smtClean="0">
                <a:solidFill>
                  <a:schemeClr val="folHlink"/>
                </a:solidFill>
              </a:rPr>
              <a:t>Podemos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utilizarlos</a:t>
            </a:r>
            <a:r>
              <a:rPr lang="en-GB" altLang="es-ES" dirty="0" smtClean="0">
                <a:solidFill>
                  <a:schemeClr val="folHlink"/>
                </a:solidFill>
              </a:rPr>
              <a:t> para:</a:t>
            </a:r>
            <a:endParaRPr lang="en-GB" altLang="es-ES" dirty="0">
              <a:solidFill>
                <a:schemeClr val="folHlink"/>
              </a:solidFill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187450" y="3684588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>
                <a:solidFill>
                  <a:srgbClr val="CC3300"/>
                </a:solidFill>
              </a:rPr>
              <a:t>Designar</a:t>
            </a:r>
            <a:r>
              <a:rPr lang="en-GB" altLang="es-ES" dirty="0" smtClean="0">
                <a:solidFill>
                  <a:srgbClr val="CC3300"/>
                </a:solidFill>
              </a:rPr>
              <a:t> </a:t>
            </a:r>
            <a:r>
              <a:rPr lang="en-GB" altLang="es-ES" dirty="0" err="1" smtClean="0">
                <a:solidFill>
                  <a:srgbClr val="CC3300"/>
                </a:solidFill>
              </a:rPr>
              <a:t>partes</a:t>
            </a:r>
            <a:r>
              <a:rPr lang="en-GB" altLang="es-ES" dirty="0" smtClean="0">
                <a:solidFill>
                  <a:srgbClr val="CC3300"/>
                </a:solidFill>
              </a:rPr>
              <a:t> de un </a:t>
            </a:r>
            <a:r>
              <a:rPr lang="en-GB" altLang="es-ES" dirty="0" err="1" smtClean="0">
                <a:solidFill>
                  <a:srgbClr val="CC3300"/>
                </a:solidFill>
              </a:rPr>
              <a:t>determinado</a:t>
            </a:r>
            <a:r>
              <a:rPr lang="en-GB" altLang="es-ES" dirty="0" smtClean="0">
                <a:solidFill>
                  <a:srgbClr val="CC3300"/>
                </a:solidFill>
              </a:rPr>
              <a:t> </a:t>
            </a:r>
            <a:r>
              <a:rPr lang="en-GB" altLang="es-ES" dirty="0" err="1" smtClean="0">
                <a:solidFill>
                  <a:srgbClr val="CC3300"/>
                </a:solidFill>
              </a:rPr>
              <a:t>grupo</a:t>
            </a:r>
            <a:endParaRPr lang="en-GB" altLang="es-ES" dirty="0">
              <a:solidFill>
                <a:srgbClr val="CC3300"/>
              </a:solidFill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143000" y="42672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>
                <a:solidFill>
                  <a:srgbClr val="CC3300"/>
                </a:solidFill>
              </a:rPr>
              <a:t>Especificar</a:t>
            </a:r>
            <a:r>
              <a:rPr lang="en-GB" altLang="es-ES" dirty="0" smtClean="0">
                <a:solidFill>
                  <a:srgbClr val="CC3300"/>
                </a:solidFill>
              </a:rPr>
              <a:t> un </a:t>
            </a:r>
            <a:r>
              <a:rPr lang="en-GB" altLang="es-ES" dirty="0" err="1" smtClean="0">
                <a:solidFill>
                  <a:srgbClr val="CC3300"/>
                </a:solidFill>
              </a:rPr>
              <a:t>número</a:t>
            </a:r>
            <a:r>
              <a:rPr lang="en-GB" altLang="es-ES" dirty="0" smtClean="0">
                <a:solidFill>
                  <a:srgbClr val="CC3300"/>
                </a:solidFill>
              </a:rPr>
              <a:t> de </a:t>
            </a:r>
            <a:r>
              <a:rPr lang="en-GB" altLang="es-ES" dirty="0" err="1" smtClean="0">
                <a:solidFill>
                  <a:srgbClr val="CC3300"/>
                </a:solidFill>
              </a:rPr>
              <a:t>objetos</a:t>
            </a:r>
            <a:r>
              <a:rPr lang="en-GB" altLang="es-ES" dirty="0" smtClean="0">
                <a:solidFill>
                  <a:srgbClr val="CC3300"/>
                </a:solidFill>
              </a:rPr>
              <a:t>, </a:t>
            </a:r>
            <a:r>
              <a:rPr lang="en-GB" altLang="es-ES" dirty="0" err="1" smtClean="0">
                <a:solidFill>
                  <a:srgbClr val="CC3300"/>
                </a:solidFill>
              </a:rPr>
              <a:t>cantidades</a:t>
            </a:r>
            <a:r>
              <a:rPr lang="en-GB" altLang="es-ES" dirty="0" smtClean="0">
                <a:solidFill>
                  <a:srgbClr val="CC3300"/>
                </a:solidFill>
              </a:rPr>
              <a:t> o </a:t>
            </a:r>
            <a:r>
              <a:rPr lang="en-GB" altLang="es-ES" dirty="0" err="1" smtClean="0">
                <a:solidFill>
                  <a:srgbClr val="CC3300"/>
                </a:solidFill>
              </a:rPr>
              <a:t>medidas</a:t>
            </a:r>
            <a:endParaRPr lang="en-GB" altLang="es-ES" dirty="0">
              <a:solidFill>
                <a:srgbClr val="CC3300"/>
              </a:solidFill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143000" y="48006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>
                <a:solidFill>
                  <a:srgbClr val="CC3300"/>
                </a:solidFill>
              </a:rPr>
              <a:t>Realizar</a:t>
            </a:r>
            <a:r>
              <a:rPr lang="en-GB" altLang="es-ES" dirty="0" smtClean="0">
                <a:solidFill>
                  <a:srgbClr val="CC3300"/>
                </a:solidFill>
              </a:rPr>
              <a:t> </a:t>
            </a:r>
            <a:r>
              <a:rPr lang="en-GB" altLang="es-ES" dirty="0" err="1" smtClean="0">
                <a:solidFill>
                  <a:srgbClr val="CC3300"/>
                </a:solidFill>
              </a:rPr>
              <a:t>representaciones</a:t>
            </a:r>
            <a:r>
              <a:rPr lang="en-GB" altLang="es-ES" dirty="0" smtClean="0">
                <a:solidFill>
                  <a:srgbClr val="CC3300"/>
                </a:solidFill>
              </a:rPr>
              <a:t> de </a:t>
            </a:r>
            <a:r>
              <a:rPr lang="en-GB" altLang="es-ES" dirty="0" err="1" smtClean="0">
                <a:solidFill>
                  <a:srgbClr val="CC3300"/>
                </a:solidFill>
              </a:rPr>
              <a:t>números</a:t>
            </a:r>
            <a:r>
              <a:rPr lang="en-GB" altLang="es-ES" dirty="0" smtClean="0">
                <a:solidFill>
                  <a:srgbClr val="CC3300"/>
                </a:solidFill>
              </a:rPr>
              <a:t> o </a:t>
            </a:r>
            <a:r>
              <a:rPr lang="en-GB" altLang="es-ES" dirty="0" err="1" smtClean="0">
                <a:solidFill>
                  <a:srgbClr val="CC3300"/>
                </a:solidFill>
              </a:rPr>
              <a:t>medidas</a:t>
            </a:r>
            <a:endParaRPr lang="en-GB" altLang="es-ES" dirty="0">
              <a:solidFill>
                <a:srgbClr val="CC3300"/>
              </a:solidFill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143000" y="535305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>
                <a:solidFill>
                  <a:srgbClr val="CC3300"/>
                </a:solidFill>
              </a:rPr>
              <a:t>Realizar</a:t>
            </a:r>
            <a:r>
              <a:rPr lang="en-GB" altLang="es-ES" dirty="0" smtClean="0">
                <a:solidFill>
                  <a:srgbClr val="CC3300"/>
                </a:solidFill>
              </a:rPr>
              <a:t> </a:t>
            </a:r>
            <a:r>
              <a:rPr lang="en-GB" altLang="es-ES" dirty="0" err="1" smtClean="0">
                <a:solidFill>
                  <a:srgbClr val="CC3300"/>
                </a:solidFill>
              </a:rPr>
              <a:t>comparaciones</a:t>
            </a:r>
            <a:r>
              <a:rPr lang="en-GB" altLang="es-ES" dirty="0" smtClean="0">
                <a:solidFill>
                  <a:srgbClr val="CC3300"/>
                </a:solidFill>
              </a:rPr>
              <a:t> entre dos </a:t>
            </a:r>
            <a:r>
              <a:rPr lang="en-GB" altLang="es-ES" dirty="0" err="1" smtClean="0">
                <a:solidFill>
                  <a:srgbClr val="CC3300"/>
                </a:solidFill>
              </a:rPr>
              <a:t>partes</a:t>
            </a:r>
            <a:r>
              <a:rPr lang="en-GB" altLang="es-ES" dirty="0" smtClean="0">
                <a:solidFill>
                  <a:srgbClr val="CC3300"/>
                </a:solidFill>
              </a:rPr>
              <a:t>, </a:t>
            </a:r>
            <a:r>
              <a:rPr lang="en-GB" altLang="es-ES" dirty="0" err="1" smtClean="0">
                <a:solidFill>
                  <a:srgbClr val="CC3300"/>
                </a:solidFill>
              </a:rPr>
              <a:t>cantidades</a:t>
            </a:r>
            <a:r>
              <a:rPr lang="en-GB" altLang="es-ES" dirty="0" smtClean="0">
                <a:solidFill>
                  <a:srgbClr val="CC3300"/>
                </a:solidFill>
              </a:rPr>
              <a:t> o </a:t>
            </a:r>
            <a:r>
              <a:rPr lang="en-GB" altLang="es-ES" dirty="0" err="1" smtClean="0">
                <a:solidFill>
                  <a:srgbClr val="CC3300"/>
                </a:solidFill>
              </a:rPr>
              <a:t>medidas</a:t>
            </a:r>
            <a:endParaRPr lang="en-GB" altLang="es-ES" dirty="0">
              <a:solidFill>
                <a:srgbClr val="CC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43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5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066800" y="381000"/>
            <a:ext cx="77724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 smtClean="0">
                <a:solidFill>
                  <a:schemeClr val="hlink"/>
                </a:solidFill>
              </a:rPr>
              <a:t>Partes</a:t>
            </a:r>
            <a:r>
              <a:rPr lang="en-GB" altLang="es-ES" dirty="0" smtClean="0">
                <a:solidFill>
                  <a:schemeClr val="hlink"/>
                </a:solidFill>
              </a:rPr>
              <a:t> de un </a:t>
            </a:r>
            <a:r>
              <a:rPr lang="en-GB" altLang="es-ES" dirty="0" err="1" smtClean="0">
                <a:solidFill>
                  <a:schemeClr val="hlink"/>
                </a:solidFill>
              </a:rPr>
              <a:t>determinado</a:t>
            </a:r>
            <a:r>
              <a:rPr lang="en-GB" altLang="es-ES" dirty="0" smtClean="0">
                <a:solidFill>
                  <a:schemeClr val="hlink"/>
                </a:solidFill>
              </a:rPr>
              <a:t> </a:t>
            </a:r>
            <a:r>
              <a:rPr lang="en-GB" altLang="es-ES" dirty="0" err="1" smtClean="0">
                <a:solidFill>
                  <a:schemeClr val="hlink"/>
                </a:solidFill>
              </a:rPr>
              <a:t>grupo</a:t>
            </a:r>
            <a:endParaRPr lang="en-GB" altLang="es-ES" dirty="0" smtClean="0">
              <a:solidFill>
                <a:schemeClr val="hlink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143000" y="2286000"/>
            <a:ext cx="77724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/>
              <a:t>Tres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cuartos</a:t>
            </a:r>
            <a:r>
              <a:rPr lang="en-GB" altLang="es-ES" dirty="0" smtClean="0"/>
              <a:t> de los 60 </a:t>
            </a:r>
            <a:r>
              <a:rPr lang="en-GB" altLang="es-ES" dirty="0" err="1" smtClean="0"/>
              <a:t>cubos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que</a:t>
            </a:r>
            <a:r>
              <a:rPr lang="en-GB" altLang="es-ES" dirty="0" smtClean="0"/>
              <a:t> hay en la </a:t>
            </a:r>
            <a:r>
              <a:rPr lang="en-GB" altLang="es-ES" dirty="0" err="1" smtClean="0"/>
              <a:t>caja</a:t>
            </a:r>
            <a:r>
              <a:rPr lang="en-GB" altLang="es-ES" dirty="0" smtClean="0"/>
              <a:t> son </a:t>
            </a:r>
            <a:r>
              <a:rPr lang="en-GB" altLang="es-ES" dirty="0" err="1" smtClean="0"/>
              <a:t>rojos</a:t>
            </a:r>
            <a:r>
              <a:rPr lang="en-GB" altLang="es-ES" dirty="0" smtClean="0"/>
              <a:t>.</a:t>
            </a:r>
            <a:endParaRPr lang="en-GB" altLang="es-ES" dirty="0"/>
          </a:p>
          <a:p>
            <a:pPr eaLnBrk="1" hangingPunct="1"/>
            <a:r>
              <a:rPr lang="en-GB" altLang="es-ES" dirty="0" smtClean="0"/>
              <a:t>0.25 de los 60 </a:t>
            </a:r>
            <a:r>
              <a:rPr lang="en-GB" altLang="es-ES" dirty="0" err="1" smtClean="0"/>
              <a:t>cubos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que</a:t>
            </a:r>
            <a:r>
              <a:rPr lang="en-GB" altLang="es-ES" dirty="0" smtClean="0"/>
              <a:t> hay en la </a:t>
            </a:r>
            <a:r>
              <a:rPr lang="en-GB" altLang="es-ES" dirty="0" err="1" smtClean="0"/>
              <a:t>caja</a:t>
            </a:r>
            <a:r>
              <a:rPr lang="en-GB" altLang="es-ES" dirty="0" smtClean="0"/>
              <a:t> son </a:t>
            </a:r>
            <a:r>
              <a:rPr lang="en-GB" altLang="es-ES" dirty="0" err="1" smtClean="0"/>
              <a:t>azules</a:t>
            </a:r>
            <a:r>
              <a:rPr lang="en-GB" altLang="es-ES" dirty="0" smtClean="0"/>
              <a:t>.</a:t>
            </a:r>
            <a:endParaRPr lang="en-GB" altLang="es-ES" dirty="0"/>
          </a:p>
          <a:p>
            <a:pPr eaLnBrk="1" hangingPunct="1"/>
            <a:r>
              <a:rPr lang="en-GB" altLang="es-ES" dirty="0" smtClean="0"/>
              <a:t>3 de </a:t>
            </a:r>
            <a:r>
              <a:rPr lang="en-GB" altLang="es-ES" dirty="0" err="1" smtClean="0"/>
              <a:t>cada</a:t>
            </a:r>
            <a:r>
              <a:rPr lang="en-GB" altLang="es-ES" dirty="0" smtClean="0"/>
              <a:t> 5 personas </a:t>
            </a:r>
            <a:r>
              <a:rPr lang="en-GB" altLang="es-ES" dirty="0" err="1" smtClean="0"/>
              <a:t>votaron</a:t>
            </a:r>
            <a:r>
              <a:rPr lang="en-GB" altLang="es-ES" dirty="0" smtClean="0"/>
              <a:t> “</a:t>
            </a:r>
            <a:r>
              <a:rPr lang="en-GB" altLang="es-ES" dirty="0" err="1" smtClean="0"/>
              <a:t>sí</a:t>
            </a:r>
            <a:r>
              <a:rPr lang="en-GB" altLang="es-ES" dirty="0" smtClean="0"/>
              <a:t>”.</a:t>
            </a:r>
            <a:endParaRPr lang="en-GB" altLang="es-ES" dirty="0"/>
          </a:p>
          <a:p>
            <a:pPr eaLnBrk="1" hangingPunct="1"/>
            <a:r>
              <a:rPr lang="en-GB" altLang="es-ES" dirty="0" smtClean="0"/>
              <a:t>El 50% de los 24 </a:t>
            </a:r>
            <a:r>
              <a:rPr lang="en-GB" altLang="es-ES" dirty="0" err="1" smtClean="0"/>
              <a:t>estudiantes</a:t>
            </a:r>
            <a:r>
              <a:rPr lang="en-GB" altLang="es-ES" dirty="0" smtClean="0"/>
              <a:t> de la </a:t>
            </a:r>
            <a:r>
              <a:rPr lang="en-GB" altLang="es-ES" dirty="0" err="1" smtClean="0"/>
              <a:t>clase</a:t>
            </a:r>
            <a:r>
              <a:rPr lang="en-GB" altLang="es-ES" dirty="0" smtClean="0"/>
              <a:t> son </a:t>
            </a:r>
            <a:r>
              <a:rPr lang="en-GB" altLang="es-ES" dirty="0" err="1" smtClean="0"/>
              <a:t>chicas</a:t>
            </a:r>
            <a:r>
              <a:rPr lang="en-GB" altLang="es-ES" dirty="0" smtClean="0"/>
              <a:t>.</a:t>
            </a:r>
            <a:endParaRPr lang="en-GB" altLang="es-ES" dirty="0"/>
          </a:p>
        </p:txBody>
      </p:sp>
      <p:pic>
        <p:nvPicPr>
          <p:cNvPr id="11" name="Picture 4" descr="C:\Documents and Settings\davies3n\Application Data\Microsoft\Media Catalog\Downloaded Clips\cl0\DD01732_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190" y="2038008"/>
            <a:ext cx="958850" cy="341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293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6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176729" y="680003"/>
            <a:ext cx="9147763" cy="9361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sz="4100" dirty="0" err="1" smtClean="0">
                <a:solidFill>
                  <a:schemeClr val="hlink"/>
                </a:solidFill>
              </a:rPr>
              <a:t>Número</a:t>
            </a:r>
            <a:r>
              <a:rPr lang="en-GB" altLang="es-ES" sz="4100" dirty="0" smtClean="0">
                <a:solidFill>
                  <a:schemeClr val="hlink"/>
                </a:solidFill>
              </a:rPr>
              <a:t> de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objetos</a:t>
            </a:r>
            <a:r>
              <a:rPr lang="en-GB" altLang="es-ES" sz="4100" dirty="0" smtClean="0">
                <a:solidFill>
                  <a:schemeClr val="hlink"/>
                </a:solidFill>
              </a:rPr>
              <a:t>,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cantidades</a:t>
            </a:r>
            <a:r>
              <a:rPr lang="en-GB" altLang="es-ES" sz="4100" dirty="0" smtClean="0">
                <a:solidFill>
                  <a:schemeClr val="hlink"/>
                </a:solidFill>
              </a:rPr>
              <a:t> o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medidas</a:t>
            </a:r>
            <a:endParaRPr lang="en-GB" altLang="es-ES" sz="4100" dirty="0" smtClean="0">
              <a:solidFill>
                <a:schemeClr val="hlink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546006" y="2077943"/>
            <a:ext cx="7772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/>
              <a:t>Tres</a:t>
            </a:r>
            <a:r>
              <a:rPr lang="en-GB" altLang="es-ES" dirty="0" smtClean="0"/>
              <a:t> kilos y </a:t>
            </a:r>
            <a:r>
              <a:rPr lang="en-GB" altLang="es-ES" dirty="0" err="1" smtClean="0"/>
              <a:t>medio</a:t>
            </a:r>
            <a:r>
              <a:rPr lang="en-GB" altLang="es-ES" dirty="0" smtClean="0"/>
              <a:t> de </a:t>
            </a:r>
            <a:r>
              <a:rPr lang="en-GB" altLang="es-ES" dirty="0" err="1" smtClean="0"/>
              <a:t>naranjas</a:t>
            </a:r>
            <a:endParaRPr lang="en-GB" altLang="es-ES" dirty="0"/>
          </a:p>
          <a:p>
            <a:pPr eaLnBrk="1" hangingPunct="1"/>
            <a:r>
              <a:rPr lang="en-GB" altLang="es-ES" dirty="0" smtClean="0"/>
              <a:t>Un </a:t>
            </a:r>
            <a:r>
              <a:rPr lang="en-GB" altLang="es-ES" dirty="0" err="1" smtClean="0"/>
              <a:t>incremento</a:t>
            </a:r>
            <a:r>
              <a:rPr lang="en-GB" altLang="es-ES" dirty="0" smtClean="0"/>
              <a:t> del 125%</a:t>
            </a:r>
            <a:endParaRPr lang="en-GB" altLang="es-ES" dirty="0"/>
          </a:p>
          <a:p>
            <a:pPr eaLnBrk="1" hangingPunct="1"/>
            <a:r>
              <a:rPr lang="en-GB" altLang="es-ES" dirty="0" smtClean="0"/>
              <a:t>4.65 euros</a:t>
            </a:r>
            <a:endParaRPr lang="en-GB" altLang="es-ES" dirty="0"/>
          </a:p>
          <a:p>
            <a:pPr eaLnBrk="1" hangingPunct="1"/>
            <a:r>
              <a:rPr lang="en-GB" altLang="es-ES" dirty="0"/>
              <a:t>2.5 </a:t>
            </a:r>
            <a:r>
              <a:rPr lang="en-GB" altLang="es-ES" dirty="0" err="1" smtClean="0"/>
              <a:t>litros</a:t>
            </a:r>
            <a:endParaRPr lang="en-GB" altLang="es-ES" dirty="0"/>
          </a:p>
          <a:p>
            <a:pPr eaLnBrk="1" hangingPunct="1"/>
            <a:r>
              <a:rPr lang="en-GB" altLang="es-ES" dirty="0" smtClean="0"/>
              <a:t>3.25 metros de </a:t>
            </a:r>
            <a:r>
              <a:rPr lang="en-GB" altLang="es-ES" dirty="0" err="1" smtClean="0"/>
              <a:t>cuerda</a:t>
            </a:r>
            <a:endParaRPr lang="en-GB" altLang="es-ES" dirty="0"/>
          </a:p>
        </p:txBody>
      </p:sp>
      <p:pic>
        <p:nvPicPr>
          <p:cNvPr id="11" name="Picture 4" descr="C:\Documents and Settings\davies3n\Application Data\Microsoft\Media Catalog\Downloaded Clips\cl38\j0141289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31" y="4179793"/>
            <a:ext cx="1870075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119" y="2174781"/>
            <a:ext cx="1757362" cy="220027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74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7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317405" y="464234"/>
            <a:ext cx="9147764" cy="107564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sz="4100" dirty="0" err="1" smtClean="0">
                <a:solidFill>
                  <a:schemeClr val="hlink"/>
                </a:solidFill>
              </a:rPr>
              <a:t>Representaciones</a:t>
            </a:r>
            <a:r>
              <a:rPr lang="en-GB" altLang="es-ES" sz="4100" dirty="0" smtClean="0">
                <a:solidFill>
                  <a:schemeClr val="hlink"/>
                </a:solidFill>
              </a:rPr>
              <a:t> de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números</a:t>
            </a:r>
            <a:r>
              <a:rPr lang="en-GB" altLang="es-ES" sz="4100" dirty="0" smtClean="0">
                <a:solidFill>
                  <a:schemeClr val="hlink"/>
                </a:solidFill>
              </a:rPr>
              <a:t> o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medidas</a:t>
            </a:r>
            <a:endParaRPr lang="en-GB" altLang="es-ES" sz="4100" dirty="0" smtClean="0">
              <a:solidFill>
                <a:schemeClr val="hlink"/>
              </a:solidFill>
            </a:endParaRPr>
          </a:p>
        </p:txBody>
      </p:sp>
      <p:pic>
        <p:nvPicPr>
          <p:cNvPr id="10" name="Picture 3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1369" y="4459288"/>
            <a:ext cx="4725987" cy="76676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531" y="1820863"/>
            <a:ext cx="4999038" cy="86518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3" descr="C:\Documents and Settings\davies3n\Application Data\Microsoft\Media Catalog\Downloaded Clips\cl0\ED00042_.wmf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481" y="5424488"/>
            <a:ext cx="798988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4" descr="C:\Documents and Settings\davies3n\Application Data\Microsoft\Media Catalog\Downloaded Clips\cl53\j0208948.wm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209" y="1651794"/>
            <a:ext cx="1717675" cy="223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5" descr="C:\Documents and Settings\davies3n\Application Data\Microsoft\Media Catalog\Downloaded Clips\cl86\j0336623.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869" y="2770188"/>
            <a:ext cx="1609725" cy="195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42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8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94986" y="361876"/>
            <a:ext cx="8737517" cy="1311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sz="4100" dirty="0" err="1" smtClean="0">
                <a:solidFill>
                  <a:schemeClr val="hlink"/>
                </a:solidFill>
              </a:rPr>
              <a:t>Comparación</a:t>
            </a:r>
            <a:r>
              <a:rPr lang="en-GB" altLang="es-ES" sz="4100" dirty="0" smtClean="0">
                <a:solidFill>
                  <a:schemeClr val="hlink"/>
                </a:solidFill>
              </a:rPr>
              <a:t> de dos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partes</a:t>
            </a:r>
            <a:r>
              <a:rPr lang="en-GB" altLang="es-ES" sz="4100" dirty="0" smtClean="0">
                <a:solidFill>
                  <a:schemeClr val="hlink"/>
                </a:solidFill>
              </a:rPr>
              <a:t>,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cantidades</a:t>
            </a:r>
            <a:r>
              <a:rPr lang="en-GB" altLang="es-ES" sz="4100" dirty="0" smtClean="0">
                <a:solidFill>
                  <a:schemeClr val="hlink"/>
                </a:solidFill>
              </a:rPr>
              <a:t> o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medidas</a:t>
            </a:r>
            <a:endParaRPr lang="en-GB" altLang="es-ES" sz="4100" dirty="0" smtClean="0">
              <a:solidFill>
                <a:schemeClr val="hlink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894987" y="2326175"/>
            <a:ext cx="855730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/>
              <a:t>Utiliza</a:t>
            </a:r>
            <a:r>
              <a:rPr lang="en-GB" altLang="es-ES" dirty="0" smtClean="0"/>
              <a:t> un </a:t>
            </a:r>
            <a:r>
              <a:rPr lang="en-GB" altLang="es-ES" dirty="0" err="1" smtClean="0"/>
              <a:t>litro</a:t>
            </a:r>
            <a:r>
              <a:rPr lang="en-GB" altLang="es-ES" dirty="0" smtClean="0"/>
              <a:t> de </a:t>
            </a:r>
            <a:r>
              <a:rPr lang="en-GB" altLang="es-ES" dirty="0" err="1" smtClean="0"/>
              <a:t>pintura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azul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por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cada</a:t>
            </a:r>
            <a:r>
              <a:rPr lang="en-GB" altLang="es-ES" dirty="0" smtClean="0"/>
              <a:t> 2 </a:t>
            </a:r>
            <a:r>
              <a:rPr lang="en-GB" altLang="es-ES" dirty="0" err="1" smtClean="0"/>
              <a:t>litros</a:t>
            </a:r>
            <a:r>
              <a:rPr lang="en-GB" altLang="es-ES" dirty="0" smtClean="0"/>
              <a:t> de </a:t>
            </a:r>
            <a:r>
              <a:rPr lang="en-GB" altLang="es-ES" dirty="0" err="1" smtClean="0"/>
              <a:t>pintura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amarilla</a:t>
            </a:r>
            <a:endParaRPr lang="en-GB" altLang="es-ES" dirty="0"/>
          </a:p>
          <a:p>
            <a:pPr eaLnBrk="1" hangingPunct="1"/>
            <a:r>
              <a:rPr lang="en-GB" altLang="es-ES" dirty="0" smtClean="0"/>
              <a:t>En </a:t>
            </a:r>
            <a:r>
              <a:rPr lang="en-GB" altLang="es-ES" dirty="0" err="1" smtClean="0"/>
              <a:t>una</a:t>
            </a:r>
            <a:r>
              <a:rPr lang="en-GB" altLang="es-ES" dirty="0" smtClean="0"/>
              <a:t> </a:t>
            </a:r>
            <a:r>
              <a:rPr lang="en-GB" altLang="es-ES" dirty="0" err="1" smtClean="0"/>
              <a:t>porción</a:t>
            </a:r>
            <a:r>
              <a:rPr lang="en-GB" altLang="es-ES" dirty="0" smtClean="0"/>
              <a:t> de 100 </a:t>
            </a:r>
            <a:r>
              <a:rPr lang="en-GB" altLang="es-ES" dirty="0" err="1" smtClean="0"/>
              <a:t>gramos</a:t>
            </a:r>
            <a:r>
              <a:rPr lang="en-GB" altLang="es-ES" dirty="0" smtClean="0"/>
              <a:t> de </a:t>
            </a:r>
            <a:r>
              <a:rPr lang="en-GB" altLang="es-ES" dirty="0" err="1" smtClean="0"/>
              <a:t>cerales</a:t>
            </a:r>
            <a:r>
              <a:rPr lang="en-GB" altLang="es-ES" dirty="0" smtClean="0"/>
              <a:t> de </a:t>
            </a:r>
            <a:r>
              <a:rPr lang="en-GB" altLang="es-ES" dirty="0" err="1" smtClean="0"/>
              <a:t>desayuno</a:t>
            </a:r>
            <a:r>
              <a:rPr lang="en-GB" altLang="es-ES" dirty="0" smtClean="0"/>
              <a:t>, 80 </a:t>
            </a:r>
            <a:r>
              <a:rPr lang="en-GB" altLang="es-ES" dirty="0" err="1" smtClean="0"/>
              <a:t>gramos</a:t>
            </a:r>
            <a:r>
              <a:rPr lang="en-GB" altLang="es-ES" dirty="0" smtClean="0"/>
              <a:t> son </a:t>
            </a:r>
            <a:r>
              <a:rPr lang="en-GB" altLang="es-ES" dirty="0" err="1" smtClean="0"/>
              <a:t>carbohidratos</a:t>
            </a:r>
            <a:r>
              <a:rPr lang="en-GB" altLang="es-ES" dirty="0" smtClean="0"/>
              <a:t>.</a:t>
            </a:r>
            <a:endParaRPr lang="en-GB" altLang="es-ES" dirty="0"/>
          </a:p>
        </p:txBody>
      </p:sp>
      <p:pic>
        <p:nvPicPr>
          <p:cNvPr id="11" name="Picture 4" descr="C:\Documents and Settings\davies3n\Application Data\Microsoft\Media Catalog\Downloaded Clips\cl1\PH02749G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268" y="3553313"/>
            <a:ext cx="2024062" cy="299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C:\Documents and Settings\davies3n\Application Data\Microsoft\Media Catalog\Downloaded Clips\cl0\FD00931_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537" y="4020831"/>
            <a:ext cx="219075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655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9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054674" y="449026"/>
            <a:ext cx="9030667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sz="4100" dirty="0" err="1" smtClean="0">
                <a:solidFill>
                  <a:schemeClr val="hlink"/>
                </a:solidFill>
              </a:rPr>
              <a:t>Relacionar</a:t>
            </a:r>
            <a:r>
              <a:rPr lang="en-GB" altLang="es-ES" sz="4100" dirty="0" smtClean="0">
                <a:solidFill>
                  <a:schemeClr val="hlink"/>
                </a:solidFill>
              </a:rPr>
              <a:t> los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distintos</a:t>
            </a:r>
            <a:r>
              <a:rPr lang="en-GB" altLang="es-ES" sz="4100" dirty="0" smtClean="0">
                <a:solidFill>
                  <a:schemeClr val="hlink"/>
                </a:solidFill>
              </a:rPr>
              <a:t>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conceptos</a:t>
            </a:r>
            <a:r>
              <a:rPr lang="en-GB" altLang="es-ES" sz="4100" dirty="0" smtClean="0">
                <a:solidFill>
                  <a:schemeClr val="hlink"/>
                </a:solidFill>
              </a:rPr>
              <a:t> entre </a:t>
            </a:r>
            <a:r>
              <a:rPr lang="en-GB" altLang="es-ES" sz="4100" dirty="0" err="1" smtClean="0">
                <a:solidFill>
                  <a:schemeClr val="hlink"/>
                </a:solidFill>
              </a:rPr>
              <a:t>sí</a:t>
            </a:r>
            <a:endParaRPr lang="en-GB" altLang="es-ES" sz="4100" dirty="0">
              <a:solidFill>
                <a:schemeClr val="hlink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150719" y="1649318"/>
            <a:ext cx="82438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err="1" smtClean="0">
                <a:solidFill>
                  <a:srgbClr val="FF0000"/>
                </a:solidFill>
              </a:rPr>
              <a:t>Señala</a:t>
            </a:r>
            <a:r>
              <a:rPr lang="en-GB" altLang="es-ES" dirty="0" smtClean="0">
                <a:solidFill>
                  <a:srgbClr val="FF0000"/>
                </a:solidFill>
              </a:rPr>
              <a:t> </a:t>
            </a:r>
            <a:r>
              <a:rPr lang="en-GB" altLang="es-ES" dirty="0" err="1" smtClean="0">
                <a:solidFill>
                  <a:srgbClr val="FF0000"/>
                </a:solidFill>
              </a:rPr>
              <a:t>cada</a:t>
            </a:r>
            <a:r>
              <a:rPr lang="en-GB" altLang="es-ES" dirty="0" smtClean="0">
                <a:solidFill>
                  <a:srgbClr val="FF0000"/>
                </a:solidFill>
              </a:rPr>
              <a:t> </a:t>
            </a:r>
            <a:r>
              <a:rPr lang="en-GB" altLang="es-ES" dirty="0" err="1" smtClean="0">
                <a:solidFill>
                  <a:srgbClr val="FF0000"/>
                </a:solidFill>
              </a:rPr>
              <a:t>uno</a:t>
            </a:r>
            <a:r>
              <a:rPr lang="en-GB" altLang="es-ES" dirty="0" smtClean="0">
                <a:solidFill>
                  <a:srgbClr val="FF0000"/>
                </a:solidFill>
              </a:rPr>
              <a:t> de los </a:t>
            </a:r>
            <a:r>
              <a:rPr lang="en-GB" altLang="es-ES" dirty="0" err="1" smtClean="0">
                <a:solidFill>
                  <a:srgbClr val="FF0000"/>
                </a:solidFill>
              </a:rPr>
              <a:t>siguientes</a:t>
            </a:r>
            <a:r>
              <a:rPr lang="en-GB" altLang="es-ES" dirty="0" smtClean="0">
                <a:solidFill>
                  <a:srgbClr val="FF0000"/>
                </a:solidFill>
              </a:rPr>
              <a:t> </a:t>
            </a:r>
            <a:r>
              <a:rPr lang="en-GB" altLang="es-ES" dirty="0" err="1" smtClean="0">
                <a:solidFill>
                  <a:srgbClr val="FF0000"/>
                </a:solidFill>
              </a:rPr>
              <a:t>valores</a:t>
            </a:r>
            <a:r>
              <a:rPr lang="en-GB" altLang="es-ES" dirty="0" smtClean="0">
                <a:solidFill>
                  <a:srgbClr val="FF0000"/>
                </a:solidFill>
              </a:rPr>
              <a:t> en la </a:t>
            </a:r>
            <a:r>
              <a:rPr lang="en-GB" altLang="es-ES" dirty="0" err="1" smtClean="0">
                <a:solidFill>
                  <a:srgbClr val="FF0000"/>
                </a:solidFill>
              </a:rPr>
              <a:t>línea</a:t>
            </a:r>
            <a:r>
              <a:rPr lang="en-GB" altLang="es-ES" dirty="0" smtClean="0"/>
              <a:t>:</a:t>
            </a:r>
            <a:endParaRPr lang="en-GB" altLang="es-ES" dirty="0"/>
          </a:p>
          <a:p>
            <a:pPr eaLnBrk="1" hangingPunct="1"/>
            <a:r>
              <a:rPr lang="en-GB" altLang="es-ES" dirty="0"/>
              <a:t>	½	0.2	40%	150%	1.75</a:t>
            </a:r>
          </a:p>
        </p:txBody>
      </p:sp>
      <p:grpSp>
        <p:nvGrpSpPr>
          <p:cNvPr id="11" name="Group 44"/>
          <p:cNvGrpSpPr>
            <a:grpSpLocks/>
          </p:cNvGrpSpPr>
          <p:nvPr/>
        </p:nvGrpSpPr>
        <p:grpSpPr bwMode="auto">
          <a:xfrm>
            <a:off x="1285531" y="2762157"/>
            <a:ext cx="8434388" cy="1030288"/>
            <a:chOff x="22" y="1919"/>
            <a:chExt cx="5313" cy="649"/>
          </a:xfrm>
        </p:grpSpPr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22" y="1919"/>
              <a:ext cx="4991" cy="355"/>
              <a:chOff x="22" y="1919"/>
              <a:chExt cx="4991" cy="355"/>
            </a:xfrm>
          </p:grpSpPr>
          <p:sp>
            <p:nvSpPr>
              <p:cNvPr id="15" name="Line 3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16" name="Text Box 30"/>
              <p:cNvSpPr txBox="1">
                <a:spLocks noChangeArrowheads="1"/>
              </p:cNvSpPr>
              <p:nvPr/>
            </p:nvSpPr>
            <p:spPr bwMode="auto">
              <a:xfrm>
                <a:off x="22" y="1919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Fracciones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3" name="Text Box 38"/>
            <p:cNvSpPr txBox="1">
              <a:spLocks noChangeArrowheads="1"/>
            </p:cNvSpPr>
            <p:nvPr/>
          </p:nvSpPr>
          <p:spPr bwMode="auto">
            <a:xfrm>
              <a:off x="722" y="227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14" name="Text Box 41"/>
            <p:cNvSpPr txBox="1">
              <a:spLocks noChangeArrowheads="1"/>
            </p:cNvSpPr>
            <p:nvPr/>
          </p:nvSpPr>
          <p:spPr bwMode="auto">
            <a:xfrm>
              <a:off x="5005" y="22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17" name="Group 45"/>
          <p:cNvGrpSpPr>
            <a:grpSpLocks/>
          </p:cNvGrpSpPr>
          <p:nvPr/>
        </p:nvGrpSpPr>
        <p:grpSpPr bwMode="auto">
          <a:xfrm>
            <a:off x="1285531" y="3898808"/>
            <a:ext cx="8485188" cy="1004888"/>
            <a:chOff x="22" y="2635"/>
            <a:chExt cx="5345" cy="633"/>
          </a:xfrm>
        </p:grpSpPr>
        <p:grpSp>
          <p:nvGrpSpPr>
            <p:cNvPr id="18" name="Group 32"/>
            <p:cNvGrpSpPr>
              <a:grpSpLocks/>
            </p:cNvGrpSpPr>
            <p:nvPr/>
          </p:nvGrpSpPr>
          <p:grpSpPr bwMode="auto">
            <a:xfrm>
              <a:off x="22" y="2635"/>
              <a:ext cx="5005" cy="347"/>
              <a:chOff x="8" y="1927"/>
              <a:chExt cx="5005" cy="347"/>
            </a:xfrm>
          </p:grpSpPr>
          <p:sp>
            <p:nvSpPr>
              <p:cNvPr id="21" name="Line 33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2" name="Text Box 34"/>
              <p:cNvSpPr txBox="1">
                <a:spLocks noChangeArrowheads="1"/>
              </p:cNvSpPr>
              <p:nvPr/>
            </p:nvSpPr>
            <p:spPr bwMode="auto">
              <a:xfrm>
                <a:off x="8" y="1927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Decimales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9" name="Text Box 39"/>
            <p:cNvSpPr txBox="1">
              <a:spLocks noChangeArrowheads="1"/>
            </p:cNvSpPr>
            <p:nvPr/>
          </p:nvSpPr>
          <p:spPr bwMode="auto">
            <a:xfrm>
              <a:off x="708" y="297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0" name="Text Box 42"/>
            <p:cNvSpPr txBox="1">
              <a:spLocks noChangeArrowheads="1"/>
            </p:cNvSpPr>
            <p:nvPr/>
          </p:nvSpPr>
          <p:spPr bwMode="auto">
            <a:xfrm>
              <a:off x="5037" y="29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23" name="Group 47"/>
          <p:cNvGrpSpPr>
            <a:grpSpLocks/>
          </p:cNvGrpSpPr>
          <p:nvPr/>
        </p:nvGrpSpPr>
        <p:grpSpPr bwMode="auto">
          <a:xfrm>
            <a:off x="1276007" y="4989418"/>
            <a:ext cx="9118599" cy="1031875"/>
            <a:chOff x="16" y="3322"/>
            <a:chExt cx="5744" cy="650"/>
          </a:xfrm>
        </p:grpSpPr>
        <p:grpSp>
          <p:nvGrpSpPr>
            <p:cNvPr id="24" name="Group 46"/>
            <p:cNvGrpSpPr>
              <a:grpSpLocks/>
            </p:cNvGrpSpPr>
            <p:nvPr/>
          </p:nvGrpSpPr>
          <p:grpSpPr bwMode="auto">
            <a:xfrm>
              <a:off x="16" y="3322"/>
              <a:ext cx="5038" cy="650"/>
              <a:chOff x="16" y="3322"/>
              <a:chExt cx="5038" cy="650"/>
            </a:xfrm>
          </p:grpSpPr>
          <p:grpSp>
            <p:nvGrpSpPr>
              <p:cNvPr id="26" name="Group 35"/>
              <p:cNvGrpSpPr>
                <a:grpSpLocks/>
              </p:cNvGrpSpPr>
              <p:nvPr/>
            </p:nvGrpSpPr>
            <p:grpSpPr bwMode="auto">
              <a:xfrm>
                <a:off x="16" y="3322"/>
                <a:ext cx="5038" cy="364"/>
                <a:chOff x="-25" y="1910"/>
                <a:chExt cx="5038" cy="364"/>
              </a:xfrm>
            </p:grpSpPr>
            <p:sp>
              <p:nvSpPr>
                <p:cNvPr id="28" name="Line 36"/>
                <p:cNvSpPr>
                  <a:spLocks noChangeShapeType="1"/>
                </p:cNvSpPr>
                <p:nvPr/>
              </p:nvSpPr>
              <p:spPr bwMode="auto">
                <a:xfrm>
                  <a:off x="868" y="2274"/>
                  <a:ext cx="41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s-ES"/>
                </a:p>
              </p:txBody>
            </p:sp>
            <p:sp>
              <p:nvSpPr>
                <p:cNvPr id="2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-25" y="1910"/>
                  <a:ext cx="145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50000"/>
                    </a:spcBef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50000"/>
                    </a:spcBef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50000"/>
                    </a:spcBef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50000"/>
                    </a:spcBef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50000"/>
                    </a:spcBef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/>
                  <a:r>
                    <a:rPr lang="en-GB" altLang="es-ES" b="1" dirty="0" err="1" smtClean="0">
                      <a:solidFill>
                        <a:srgbClr val="0070C0"/>
                      </a:solidFill>
                    </a:rPr>
                    <a:t>Porcentajes</a:t>
                  </a:r>
                  <a:endParaRPr lang="en-GB" altLang="es-ES" b="1" dirty="0">
                    <a:solidFill>
                      <a:srgbClr val="0070C0"/>
                    </a:solidFill>
                  </a:endParaRPr>
                </a:p>
              </p:txBody>
            </p:sp>
          </p:grpSp>
          <p:sp>
            <p:nvSpPr>
              <p:cNvPr id="27" name="Text Box 40"/>
              <p:cNvSpPr txBox="1">
                <a:spLocks noChangeArrowheads="1"/>
              </p:cNvSpPr>
              <p:nvPr/>
            </p:nvSpPr>
            <p:spPr bwMode="auto">
              <a:xfrm>
                <a:off x="749" y="3684"/>
                <a:ext cx="3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/>
                  <a:t>0</a:t>
                </a:r>
              </a:p>
            </p:txBody>
          </p:sp>
        </p:grpSp>
        <p:sp>
          <p:nvSpPr>
            <p:cNvPr id="25" name="Text Box 43"/>
            <p:cNvSpPr txBox="1">
              <a:spLocks noChangeArrowheads="1"/>
            </p:cNvSpPr>
            <p:nvPr/>
          </p:nvSpPr>
          <p:spPr bwMode="auto">
            <a:xfrm>
              <a:off x="5074" y="368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200%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908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10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42867" y="267391"/>
            <a:ext cx="9988061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chemeClr val="hlink"/>
                </a:solidFill>
              </a:rPr>
              <a:t>Relacionar</a:t>
            </a:r>
            <a:r>
              <a:rPr lang="en-GB" altLang="es-ES" dirty="0">
                <a:solidFill>
                  <a:schemeClr val="hlink"/>
                </a:solidFill>
              </a:rPr>
              <a:t> los </a:t>
            </a:r>
            <a:r>
              <a:rPr lang="en-GB" altLang="es-ES" dirty="0" err="1">
                <a:solidFill>
                  <a:schemeClr val="hlink"/>
                </a:solidFill>
              </a:rPr>
              <a:t>distintos</a:t>
            </a:r>
            <a:r>
              <a:rPr lang="en-GB" altLang="es-ES" dirty="0">
                <a:solidFill>
                  <a:schemeClr val="hlink"/>
                </a:solidFill>
              </a:rPr>
              <a:t> </a:t>
            </a:r>
            <a:r>
              <a:rPr lang="en-GB" altLang="es-ES" dirty="0" err="1">
                <a:solidFill>
                  <a:schemeClr val="hlink"/>
                </a:solidFill>
              </a:rPr>
              <a:t>conceptos</a:t>
            </a:r>
            <a:r>
              <a:rPr lang="en-GB" altLang="es-ES" dirty="0">
                <a:solidFill>
                  <a:schemeClr val="hlink"/>
                </a:solidFill>
              </a:rPr>
              <a:t> entre </a:t>
            </a:r>
            <a:r>
              <a:rPr lang="en-GB" altLang="es-ES" dirty="0" err="1">
                <a:solidFill>
                  <a:schemeClr val="hlink"/>
                </a:solidFill>
              </a:rPr>
              <a:t>sí</a:t>
            </a:r>
            <a:endParaRPr lang="en-GB" altLang="es-ES" dirty="0">
              <a:solidFill>
                <a:schemeClr val="hlink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093569" y="1818729"/>
            <a:ext cx="82438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 err="1">
                <a:solidFill>
                  <a:srgbClr val="FF0000"/>
                </a:solidFill>
              </a:rPr>
              <a:t>Señala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cada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uno</a:t>
            </a:r>
            <a:r>
              <a:rPr lang="en-GB" altLang="es-ES" dirty="0">
                <a:solidFill>
                  <a:srgbClr val="FF0000"/>
                </a:solidFill>
              </a:rPr>
              <a:t> de los </a:t>
            </a:r>
            <a:r>
              <a:rPr lang="en-GB" altLang="es-ES" dirty="0" err="1">
                <a:solidFill>
                  <a:srgbClr val="FF0000"/>
                </a:solidFill>
              </a:rPr>
              <a:t>siguientes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valores</a:t>
            </a:r>
            <a:r>
              <a:rPr lang="en-GB" altLang="es-ES" dirty="0">
                <a:solidFill>
                  <a:srgbClr val="FF0000"/>
                </a:solidFill>
              </a:rPr>
              <a:t> en la </a:t>
            </a:r>
            <a:r>
              <a:rPr lang="en-GB" altLang="es-ES" dirty="0" err="1">
                <a:solidFill>
                  <a:srgbClr val="FF0000"/>
                </a:solidFill>
              </a:rPr>
              <a:t>línea</a:t>
            </a:r>
            <a:r>
              <a:rPr lang="en-GB" altLang="es-ES" dirty="0"/>
              <a:t>:</a:t>
            </a:r>
          </a:p>
          <a:p>
            <a:pPr eaLnBrk="1" hangingPunct="1"/>
            <a:r>
              <a:rPr lang="en-GB" altLang="es-ES" dirty="0"/>
              <a:t>	</a:t>
            </a:r>
            <a:r>
              <a:rPr lang="en-GB" altLang="es-ES" b="1" dirty="0">
                <a:solidFill>
                  <a:srgbClr val="800000"/>
                </a:solidFill>
              </a:rPr>
              <a:t>½</a:t>
            </a:r>
            <a:r>
              <a:rPr lang="en-GB" altLang="es-ES" dirty="0"/>
              <a:t>	0.2	40%	150%	1.75</a:t>
            </a:r>
          </a:p>
        </p:txBody>
      </p: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1417293" y="2918868"/>
            <a:ext cx="8245476" cy="1042988"/>
            <a:chOff x="141" y="1911"/>
            <a:chExt cx="5194" cy="657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141" y="1911"/>
              <a:ext cx="4872" cy="363"/>
              <a:chOff x="141" y="1911"/>
              <a:chExt cx="4872" cy="363"/>
            </a:xfrm>
          </p:grpSpPr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141" y="1911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Fracciones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722" y="227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14" name="Text Box 29"/>
            <p:cNvSpPr txBox="1">
              <a:spLocks noChangeArrowheads="1"/>
            </p:cNvSpPr>
            <p:nvPr/>
          </p:nvSpPr>
          <p:spPr bwMode="auto">
            <a:xfrm>
              <a:off x="5005" y="22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17" name="Group 39"/>
          <p:cNvGrpSpPr>
            <a:grpSpLocks/>
          </p:cNvGrpSpPr>
          <p:nvPr/>
        </p:nvGrpSpPr>
        <p:grpSpPr bwMode="auto">
          <a:xfrm>
            <a:off x="1417293" y="4084094"/>
            <a:ext cx="8296276" cy="989013"/>
            <a:chOff x="141" y="2645"/>
            <a:chExt cx="5226" cy="623"/>
          </a:xfrm>
        </p:grpSpPr>
        <p:grpSp>
          <p:nvGrpSpPr>
            <p:cNvPr id="18" name="Group 20"/>
            <p:cNvGrpSpPr>
              <a:grpSpLocks/>
            </p:cNvGrpSpPr>
            <p:nvPr/>
          </p:nvGrpSpPr>
          <p:grpSpPr bwMode="auto">
            <a:xfrm>
              <a:off x="141" y="2645"/>
              <a:ext cx="4886" cy="337"/>
              <a:chOff x="127" y="1937"/>
              <a:chExt cx="4886" cy="337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2" name="Text Box 22"/>
              <p:cNvSpPr txBox="1">
                <a:spLocks noChangeArrowheads="1"/>
              </p:cNvSpPr>
              <p:nvPr/>
            </p:nvSpPr>
            <p:spPr bwMode="auto">
              <a:xfrm>
                <a:off x="127" y="1937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Decimales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708" y="297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0" name="Text Box 30"/>
            <p:cNvSpPr txBox="1">
              <a:spLocks noChangeArrowheads="1"/>
            </p:cNvSpPr>
            <p:nvPr/>
          </p:nvSpPr>
          <p:spPr bwMode="auto">
            <a:xfrm>
              <a:off x="5037" y="29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23" name="Group 40"/>
          <p:cNvGrpSpPr>
            <a:grpSpLocks/>
          </p:cNvGrpSpPr>
          <p:nvPr/>
        </p:nvGrpSpPr>
        <p:grpSpPr bwMode="auto">
          <a:xfrm>
            <a:off x="1447457" y="5165179"/>
            <a:ext cx="8889999" cy="1025525"/>
            <a:chOff x="160" y="3326"/>
            <a:chExt cx="5600" cy="646"/>
          </a:xfrm>
        </p:grpSpPr>
        <p:grpSp>
          <p:nvGrpSpPr>
            <p:cNvPr id="24" name="Group 23"/>
            <p:cNvGrpSpPr>
              <a:grpSpLocks/>
            </p:cNvGrpSpPr>
            <p:nvPr/>
          </p:nvGrpSpPr>
          <p:grpSpPr bwMode="auto">
            <a:xfrm>
              <a:off x="160" y="3326"/>
              <a:ext cx="4894" cy="360"/>
              <a:chOff x="119" y="1914"/>
              <a:chExt cx="4894" cy="360"/>
            </a:xfrm>
          </p:grpSpPr>
          <p:sp>
            <p:nvSpPr>
              <p:cNvPr id="27" name="Line 24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119" y="1914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Porcentajes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749" y="368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5074" y="368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200%</a:t>
              </a:r>
            </a:p>
          </p:txBody>
        </p:sp>
      </p:grp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4036669" y="3499892"/>
            <a:ext cx="479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½</a:t>
            </a:r>
          </a:p>
        </p:txBody>
      </p:sp>
      <p:sp>
        <p:nvSpPr>
          <p:cNvPr id="30" name="Line 33"/>
          <p:cNvSpPr>
            <a:spLocks noChangeShapeType="1"/>
          </p:cNvSpPr>
          <p:nvPr/>
        </p:nvSpPr>
        <p:spPr bwMode="auto">
          <a:xfrm>
            <a:off x="4241456" y="3485604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3943006" y="4627017"/>
            <a:ext cx="65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0.5</a:t>
            </a: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4247806" y="4652417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3936656" y="5749379"/>
            <a:ext cx="814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50</a:t>
            </a:r>
            <a:r>
              <a:rPr lang="en-GB" altLang="es-ES" sz="1800" b="1">
                <a:solidFill>
                  <a:srgbClr val="800000"/>
                </a:solidFill>
              </a:rPr>
              <a:t>%</a:t>
            </a:r>
          </a:p>
        </p:txBody>
      </p:sp>
      <p:sp>
        <p:nvSpPr>
          <p:cNvPr id="34" name="Oval 37"/>
          <p:cNvSpPr>
            <a:spLocks noChangeArrowheads="1"/>
          </p:cNvSpPr>
          <p:nvPr/>
        </p:nvSpPr>
        <p:spPr bwMode="auto">
          <a:xfrm>
            <a:off x="2892081" y="2294979"/>
            <a:ext cx="623888" cy="623888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29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nimBg="1"/>
      <p:bldP spid="31" grpId="0" autoUpdateAnimBg="0"/>
      <p:bldP spid="32" grpId="0" animBg="1"/>
      <p:bldP spid="3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11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011681" y="266154"/>
            <a:ext cx="9847384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chemeClr val="hlink"/>
                </a:solidFill>
              </a:rPr>
              <a:t>Relacionar</a:t>
            </a:r>
            <a:r>
              <a:rPr lang="en-GB" altLang="es-ES" dirty="0">
                <a:solidFill>
                  <a:schemeClr val="hlink"/>
                </a:solidFill>
              </a:rPr>
              <a:t> los </a:t>
            </a:r>
            <a:r>
              <a:rPr lang="en-GB" altLang="es-ES" dirty="0" err="1">
                <a:solidFill>
                  <a:schemeClr val="hlink"/>
                </a:solidFill>
              </a:rPr>
              <a:t>distintos</a:t>
            </a:r>
            <a:r>
              <a:rPr lang="en-GB" altLang="es-ES" dirty="0">
                <a:solidFill>
                  <a:schemeClr val="hlink"/>
                </a:solidFill>
              </a:rPr>
              <a:t> </a:t>
            </a:r>
            <a:r>
              <a:rPr lang="en-GB" altLang="es-ES" dirty="0" err="1">
                <a:solidFill>
                  <a:schemeClr val="hlink"/>
                </a:solidFill>
              </a:rPr>
              <a:t>conceptos</a:t>
            </a:r>
            <a:r>
              <a:rPr lang="en-GB" altLang="es-ES" dirty="0">
                <a:solidFill>
                  <a:schemeClr val="hlink"/>
                </a:solidFill>
              </a:rPr>
              <a:t> entre </a:t>
            </a:r>
            <a:r>
              <a:rPr lang="en-GB" altLang="es-ES" dirty="0" err="1">
                <a:solidFill>
                  <a:schemeClr val="hlink"/>
                </a:solidFill>
              </a:rPr>
              <a:t>sí</a:t>
            </a:r>
            <a:endParaRPr lang="en-GB" altLang="es-ES" dirty="0">
              <a:solidFill>
                <a:schemeClr val="hlink"/>
              </a:solidFill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327225" y="1818729"/>
            <a:ext cx="82438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 err="1">
                <a:solidFill>
                  <a:srgbClr val="FF0000"/>
                </a:solidFill>
              </a:rPr>
              <a:t>Señala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cada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uno</a:t>
            </a:r>
            <a:r>
              <a:rPr lang="en-GB" altLang="es-ES" dirty="0">
                <a:solidFill>
                  <a:srgbClr val="FF0000"/>
                </a:solidFill>
              </a:rPr>
              <a:t> de los </a:t>
            </a:r>
            <a:r>
              <a:rPr lang="en-GB" altLang="es-ES" dirty="0" err="1">
                <a:solidFill>
                  <a:srgbClr val="FF0000"/>
                </a:solidFill>
              </a:rPr>
              <a:t>siguientes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valores</a:t>
            </a:r>
            <a:r>
              <a:rPr lang="en-GB" altLang="es-ES" dirty="0">
                <a:solidFill>
                  <a:srgbClr val="FF0000"/>
                </a:solidFill>
              </a:rPr>
              <a:t> en la </a:t>
            </a:r>
            <a:r>
              <a:rPr lang="en-GB" altLang="es-ES" dirty="0" err="1">
                <a:solidFill>
                  <a:srgbClr val="FF0000"/>
                </a:solidFill>
              </a:rPr>
              <a:t>línea</a:t>
            </a:r>
            <a:r>
              <a:rPr lang="en-GB" altLang="es-ES" dirty="0"/>
              <a:t>:</a:t>
            </a:r>
          </a:p>
          <a:p>
            <a:pPr eaLnBrk="1" hangingPunct="1"/>
            <a:r>
              <a:rPr lang="en-GB" altLang="es-ES" dirty="0"/>
              <a:t>	½	</a:t>
            </a:r>
            <a:r>
              <a:rPr lang="en-GB" altLang="es-ES" b="1" dirty="0">
                <a:solidFill>
                  <a:srgbClr val="800000"/>
                </a:solidFill>
              </a:rPr>
              <a:t>0.2</a:t>
            </a:r>
            <a:r>
              <a:rPr lang="en-GB" altLang="es-ES" dirty="0"/>
              <a:t>	40%	150%	1.75</a:t>
            </a:r>
          </a:p>
        </p:txBody>
      </p: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1338212" y="2934743"/>
            <a:ext cx="8558213" cy="1027113"/>
            <a:chOff x="-56" y="1921"/>
            <a:chExt cx="5391" cy="647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-56" y="1921"/>
              <a:ext cx="5069" cy="353"/>
              <a:chOff x="-56" y="1921"/>
              <a:chExt cx="5069" cy="353"/>
            </a:xfrm>
          </p:grpSpPr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-56" y="1921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Fracciones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722" y="227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14" name="Text Box 29"/>
            <p:cNvSpPr txBox="1">
              <a:spLocks noChangeArrowheads="1"/>
            </p:cNvSpPr>
            <p:nvPr/>
          </p:nvSpPr>
          <p:spPr bwMode="auto">
            <a:xfrm>
              <a:off x="5005" y="22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17" name="Group 39"/>
          <p:cNvGrpSpPr>
            <a:grpSpLocks/>
          </p:cNvGrpSpPr>
          <p:nvPr/>
        </p:nvGrpSpPr>
        <p:grpSpPr bwMode="auto">
          <a:xfrm>
            <a:off x="1338212" y="4141244"/>
            <a:ext cx="8609013" cy="931863"/>
            <a:chOff x="-56" y="2681"/>
            <a:chExt cx="5423" cy="587"/>
          </a:xfrm>
        </p:grpSpPr>
        <p:grpSp>
          <p:nvGrpSpPr>
            <p:cNvPr id="18" name="Group 20"/>
            <p:cNvGrpSpPr>
              <a:grpSpLocks/>
            </p:cNvGrpSpPr>
            <p:nvPr/>
          </p:nvGrpSpPr>
          <p:grpSpPr bwMode="auto">
            <a:xfrm>
              <a:off x="-56" y="2681"/>
              <a:ext cx="5083" cy="301"/>
              <a:chOff x="-70" y="1973"/>
              <a:chExt cx="5083" cy="301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2" name="Text Box 22"/>
              <p:cNvSpPr txBox="1">
                <a:spLocks noChangeArrowheads="1"/>
              </p:cNvSpPr>
              <p:nvPr/>
            </p:nvSpPr>
            <p:spPr bwMode="auto">
              <a:xfrm>
                <a:off x="-70" y="1973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Decimales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708" y="297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0" name="Text Box 30"/>
            <p:cNvSpPr txBox="1">
              <a:spLocks noChangeArrowheads="1"/>
            </p:cNvSpPr>
            <p:nvPr/>
          </p:nvSpPr>
          <p:spPr bwMode="auto">
            <a:xfrm>
              <a:off x="5037" y="29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23" name="Group 40"/>
          <p:cNvGrpSpPr>
            <a:grpSpLocks/>
          </p:cNvGrpSpPr>
          <p:nvPr/>
        </p:nvGrpSpPr>
        <p:grpSpPr bwMode="auto">
          <a:xfrm>
            <a:off x="1339800" y="5162004"/>
            <a:ext cx="9231312" cy="1028700"/>
            <a:chOff x="-55" y="3324"/>
            <a:chExt cx="5815" cy="648"/>
          </a:xfrm>
        </p:grpSpPr>
        <p:grpSp>
          <p:nvGrpSpPr>
            <p:cNvPr id="24" name="Group 23"/>
            <p:cNvGrpSpPr>
              <a:grpSpLocks/>
            </p:cNvGrpSpPr>
            <p:nvPr/>
          </p:nvGrpSpPr>
          <p:grpSpPr bwMode="auto">
            <a:xfrm>
              <a:off x="-55" y="3324"/>
              <a:ext cx="5109" cy="362"/>
              <a:chOff x="-96" y="1912"/>
              <a:chExt cx="5109" cy="362"/>
            </a:xfrm>
          </p:grpSpPr>
          <p:sp>
            <p:nvSpPr>
              <p:cNvPr id="27" name="Line 24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-96" y="1912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Porcentajes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749" y="368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5074" y="368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200%</a:t>
              </a:r>
            </a:p>
          </p:txBody>
        </p:sp>
      </p:grp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3241625" y="3499892"/>
            <a:ext cx="50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 baseline="30000">
                <a:solidFill>
                  <a:srgbClr val="800000"/>
                </a:solidFill>
              </a:rPr>
              <a:t>1</a:t>
            </a:r>
            <a:r>
              <a:rPr lang="en-GB" altLang="es-ES" b="1">
                <a:solidFill>
                  <a:srgbClr val="800000"/>
                </a:solidFill>
              </a:rPr>
              <a:t>/</a:t>
            </a:r>
            <a:r>
              <a:rPr lang="en-GB" altLang="es-ES" b="1" baseline="-25000">
                <a:solidFill>
                  <a:srgbClr val="800000"/>
                </a:solidFill>
              </a:rPr>
              <a:t>5</a:t>
            </a:r>
          </a:p>
        </p:txBody>
      </p:sp>
      <p:sp>
        <p:nvSpPr>
          <p:cNvPr id="30" name="Line 33"/>
          <p:cNvSpPr>
            <a:spLocks noChangeShapeType="1"/>
          </p:cNvSpPr>
          <p:nvPr/>
        </p:nvSpPr>
        <p:spPr bwMode="auto">
          <a:xfrm>
            <a:off x="3473400" y="3485604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3176537" y="4611142"/>
            <a:ext cx="65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0.2</a:t>
            </a: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479750" y="4623842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3151137" y="5736679"/>
            <a:ext cx="814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20</a:t>
            </a:r>
            <a:r>
              <a:rPr lang="en-GB" altLang="es-ES" sz="1800" b="1">
                <a:solidFill>
                  <a:srgbClr val="800000"/>
                </a:solidFill>
              </a:rPr>
              <a:t>%</a:t>
            </a:r>
          </a:p>
        </p:txBody>
      </p:sp>
      <p:sp>
        <p:nvSpPr>
          <p:cNvPr id="34" name="Oval 37"/>
          <p:cNvSpPr>
            <a:spLocks noChangeArrowheads="1"/>
          </p:cNvSpPr>
          <p:nvPr/>
        </p:nvSpPr>
        <p:spPr bwMode="auto">
          <a:xfrm>
            <a:off x="4127450" y="2294979"/>
            <a:ext cx="623887" cy="623888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468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nimBg="1"/>
      <p:bldP spid="31" grpId="0" autoUpdateAnimBg="0"/>
      <p:bldP spid="32" grpId="0" animBg="1"/>
      <p:bldP spid="3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12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912987" y="1818729"/>
            <a:ext cx="82438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 err="1">
                <a:solidFill>
                  <a:srgbClr val="FF0000"/>
                </a:solidFill>
              </a:rPr>
              <a:t>Señala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cada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uno</a:t>
            </a:r>
            <a:r>
              <a:rPr lang="en-GB" altLang="es-ES" dirty="0">
                <a:solidFill>
                  <a:srgbClr val="FF0000"/>
                </a:solidFill>
              </a:rPr>
              <a:t> de los </a:t>
            </a:r>
            <a:r>
              <a:rPr lang="en-GB" altLang="es-ES" dirty="0" err="1">
                <a:solidFill>
                  <a:srgbClr val="FF0000"/>
                </a:solidFill>
              </a:rPr>
              <a:t>siguientes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valores</a:t>
            </a:r>
            <a:r>
              <a:rPr lang="en-GB" altLang="es-ES" dirty="0">
                <a:solidFill>
                  <a:srgbClr val="FF0000"/>
                </a:solidFill>
              </a:rPr>
              <a:t> en la </a:t>
            </a:r>
            <a:r>
              <a:rPr lang="en-GB" altLang="es-ES" dirty="0" err="1">
                <a:solidFill>
                  <a:srgbClr val="FF0000"/>
                </a:solidFill>
              </a:rPr>
              <a:t>línea</a:t>
            </a:r>
            <a:r>
              <a:rPr lang="en-GB" altLang="es-ES" dirty="0"/>
              <a:t>:</a:t>
            </a:r>
          </a:p>
          <a:p>
            <a:pPr eaLnBrk="1" hangingPunct="1"/>
            <a:r>
              <a:rPr lang="en-GB" altLang="es-ES" dirty="0"/>
              <a:t>	½	0.2	</a:t>
            </a:r>
            <a:r>
              <a:rPr lang="en-GB" altLang="es-ES" b="1" dirty="0">
                <a:solidFill>
                  <a:srgbClr val="800000"/>
                </a:solidFill>
              </a:rPr>
              <a:t>40%</a:t>
            </a:r>
            <a:r>
              <a:rPr lang="en-GB" altLang="es-ES" dirty="0"/>
              <a:t>	150%	1.75</a:t>
            </a:r>
          </a:p>
        </p:txBody>
      </p: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1301799" y="2895054"/>
            <a:ext cx="8180388" cy="1066800"/>
            <a:chOff x="182" y="1896"/>
            <a:chExt cx="5153" cy="672"/>
          </a:xfrm>
        </p:grpSpPr>
        <p:grpSp>
          <p:nvGrpSpPr>
            <p:cNvPr id="13" name="Group 17"/>
            <p:cNvGrpSpPr>
              <a:grpSpLocks/>
            </p:cNvGrpSpPr>
            <p:nvPr/>
          </p:nvGrpSpPr>
          <p:grpSpPr bwMode="auto">
            <a:xfrm>
              <a:off x="182" y="1896"/>
              <a:ext cx="4831" cy="378"/>
              <a:chOff x="182" y="1896"/>
              <a:chExt cx="4831" cy="378"/>
            </a:xfrm>
          </p:grpSpPr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17" name="Text Box 19"/>
              <p:cNvSpPr txBox="1">
                <a:spLocks noChangeArrowheads="1"/>
              </p:cNvSpPr>
              <p:nvPr/>
            </p:nvSpPr>
            <p:spPr bwMode="auto">
              <a:xfrm>
                <a:off x="182" y="1896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Fracciones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4" name="Text Box 26"/>
            <p:cNvSpPr txBox="1">
              <a:spLocks noChangeArrowheads="1"/>
            </p:cNvSpPr>
            <p:nvPr/>
          </p:nvSpPr>
          <p:spPr bwMode="auto">
            <a:xfrm>
              <a:off x="722" y="227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15" name="Text Box 29"/>
            <p:cNvSpPr txBox="1">
              <a:spLocks noChangeArrowheads="1"/>
            </p:cNvSpPr>
            <p:nvPr/>
          </p:nvSpPr>
          <p:spPr bwMode="auto">
            <a:xfrm>
              <a:off x="5005" y="22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18" name="Group 39"/>
          <p:cNvGrpSpPr>
            <a:grpSpLocks/>
          </p:cNvGrpSpPr>
          <p:nvPr/>
        </p:nvGrpSpPr>
        <p:grpSpPr bwMode="auto">
          <a:xfrm>
            <a:off x="1324024" y="4057104"/>
            <a:ext cx="8208963" cy="1016000"/>
            <a:chOff x="196" y="2628"/>
            <a:chExt cx="5171" cy="640"/>
          </a:xfrm>
        </p:grpSpPr>
        <p:grpSp>
          <p:nvGrpSpPr>
            <p:cNvPr id="19" name="Group 20"/>
            <p:cNvGrpSpPr>
              <a:grpSpLocks/>
            </p:cNvGrpSpPr>
            <p:nvPr/>
          </p:nvGrpSpPr>
          <p:grpSpPr bwMode="auto">
            <a:xfrm>
              <a:off x="196" y="2628"/>
              <a:ext cx="4831" cy="354"/>
              <a:chOff x="182" y="1920"/>
              <a:chExt cx="4831" cy="354"/>
            </a:xfrm>
          </p:grpSpPr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3" name="Text Box 22"/>
              <p:cNvSpPr txBox="1">
                <a:spLocks noChangeArrowheads="1"/>
              </p:cNvSpPr>
              <p:nvPr/>
            </p:nvSpPr>
            <p:spPr bwMode="auto">
              <a:xfrm>
                <a:off x="182" y="1920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Decimales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0" name="Text Box 27"/>
            <p:cNvSpPr txBox="1">
              <a:spLocks noChangeArrowheads="1"/>
            </p:cNvSpPr>
            <p:nvPr/>
          </p:nvSpPr>
          <p:spPr bwMode="auto">
            <a:xfrm>
              <a:off x="708" y="297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1" name="Text Box 30"/>
            <p:cNvSpPr txBox="1">
              <a:spLocks noChangeArrowheads="1"/>
            </p:cNvSpPr>
            <p:nvPr/>
          </p:nvSpPr>
          <p:spPr bwMode="auto">
            <a:xfrm>
              <a:off x="5037" y="29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24" name="Group 40"/>
          <p:cNvGrpSpPr>
            <a:grpSpLocks/>
          </p:cNvGrpSpPr>
          <p:nvPr/>
        </p:nvGrpSpPr>
        <p:grpSpPr bwMode="auto">
          <a:xfrm>
            <a:off x="1309737" y="5173119"/>
            <a:ext cx="8847137" cy="1017588"/>
            <a:chOff x="187" y="3331"/>
            <a:chExt cx="5573" cy="641"/>
          </a:xfrm>
        </p:grpSpPr>
        <p:grpSp>
          <p:nvGrpSpPr>
            <p:cNvPr id="25" name="Group 23"/>
            <p:cNvGrpSpPr>
              <a:grpSpLocks/>
            </p:cNvGrpSpPr>
            <p:nvPr/>
          </p:nvGrpSpPr>
          <p:grpSpPr bwMode="auto">
            <a:xfrm>
              <a:off x="187" y="3331"/>
              <a:ext cx="4867" cy="355"/>
              <a:chOff x="146" y="1919"/>
              <a:chExt cx="4867" cy="355"/>
            </a:xfrm>
          </p:grpSpPr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9" name="Text Box 25"/>
              <p:cNvSpPr txBox="1">
                <a:spLocks noChangeArrowheads="1"/>
              </p:cNvSpPr>
              <p:nvPr/>
            </p:nvSpPr>
            <p:spPr bwMode="auto">
              <a:xfrm>
                <a:off x="146" y="1919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Porcentajes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749" y="368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7" name="Text Box 31"/>
            <p:cNvSpPr txBox="1">
              <a:spLocks noChangeArrowheads="1"/>
            </p:cNvSpPr>
            <p:nvPr/>
          </p:nvSpPr>
          <p:spPr bwMode="auto">
            <a:xfrm>
              <a:off x="5074" y="368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200%</a:t>
              </a:r>
            </a:p>
          </p:txBody>
        </p:sp>
      </p:grp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3508424" y="3499892"/>
            <a:ext cx="50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 baseline="30000">
                <a:solidFill>
                  <a:srgbClr val="800000"/>
                </a:solidFill>
              </a:rPr>
              <a:t>2</a:t>
            </a:r>
            <a:r>
              <a:rPr lang="en-GB" altLang="es-ES" b="1">
                <a:solidFill>
                  <a:srgbClr val="800000"/>
                </a:solidFill>
              </a:rPr>
              <a:t>/</a:t>
            </a:r>
            <a:r>
              <a:rPr lang="en-GB" altLang="es-ES" b="1" baseline="-25000">
                <a:solidFill>
                  <a:srgbClr val="800000"/>
                </a:solidFill>
              </a:rPr>
              <a:t>5</a:t>
            </a: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>
            <a:off x="3756074" y="3515767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3444924" y="4609554"/>
            <a:ext cx="65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0.4</a:t>
            </a:r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3762424" y="4652417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3405237" y="5736679"/>
            <a:ext cx="814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40</a:t>
            </a:r>
            <a:r>
              <a:rPr lang="en-GB" altLang="es-ES" sz="1800" b="1">
                <a:solidFill>
                  <a:srgbClr val="800000"/>
                </a:solidFill>
              </a:rPr>
              <a:t>%</a:t>
            </a:r>
          </a:p>
        </p:txBody>
      </p:sp>
      <p:sp>
        <p:nvSpPr>
          <p:cNvPr id="35" name="Oval 37"/>
          <p:cNvSpPr>
            <a:spLocks noChangeArrowheads="1"/>
          </p:cNvSpPr>
          <p:nvPr/>
        </p:nvSpPr>
        <p:spPr bwMode="auto">
          <a:xfrm>
            <a:off x="4686349" y="2237829"/>
            <a:ext cx="695325" cy="739775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36" name="Rectangle 2"/>
          <p:cNvSpPr txBox="1">
            <a:spLocks noChangeArrowheads="1"/>
          </p:cNvSpPr>
          <p:nvPr/>
        </p:nvSpPr>
        <p:spPr>
          <a:xfrm>
            <a:off x="2011681" y="266154"/>
            <a:ext cx="9847384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chemeClr val="hlink"/>
                </a:solidFill>
              </a:rPr>
              <a:t>Relacionar</a:t>
            </a:r>
            <a:r>
              <a:rPr lang="en-GB" altLang="es-ES" dirty="0">
                <a:solidFill>
                  <a:schemeClr val="hlink"/>
                </a:solidFill>
              </a:rPr>
              <a:t> los </a:t>
            </a:r>
            <a:r>
              <a:rPr lang="en-GB" altLang="es-ES" dirty="0" err="1">
                <a:solidFill>
                  <a:schemeClr val="hlink"/>
                </a:solidFill>
              </a:rPr>
              <a:t>distintos</a:t>
            </a:r>
            <a:r>
              <a:rPr lang="en-GB" altLang="es-ES" dirty="0">
                <a:solidFill>
                  <a:schemeClr val="hlink"/>
                </a:solidFill>
              </a:rPr>
              <a:t> </a:t>
            </a:r>
            <a:r>
              <a:rPr lang="en-GB" altLang="es-ES" dirty="0" err="1">
                <a:solidFill>
                  <a:schemeClr val="hlink"/>
                </a:solidFill>
              </a:rPr>
              <a:t>conceptos</a:t>
            </a:r>
            <a:r>
              <a:rPr lang="en-GB" altLang="es-ES" dirty="0">
                <a:solidFill>
                  <a:schemeClr val="hlink"/>
                </a:solidFill>
              </a:rPr>
              <a:t> entre </a:t>
            </a:r>
            <a:r>
              <a:rPr lang="en-GB" altLang="es-ES" dirty="0" err="1">
                <a:solidFill>
                  <a:schemeClr val="hlink"/>
                </a:solidFill>
              </a:rPr>
              <a:t>sí</a:t>
            </a:r>
            <a:endParaRPr lang="en-GB" altLang="es-ES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25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utoUpdateAnimBg="0"/>
      <p:bldP spid="31" grpId="0" animBg="1"/>
      <p:bldP spid="32" grpId="0" autoUpdateAnimBg="0"/>
      <p:bldP spid="33" grpId="0" animBg="1"/>
      <p:bldP spid="3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13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969257" y="1818729"/>
            <a:ext cx="82438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 err="1">
                <a:solidFill>
                  <a:srgbClr val="FF0000"/>
                </a:solidFill>
              </a:rPr>
              <a:t>Señala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cada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uno</a:t>
            </a:r>
            <a:r>
              <a:rPr lang="en-GB" altLang="es-ES" dirty="0">
                <a:solidFill>
                  <a:srgbClr val="FF0000"/>
                </a:solidFill>
              </a:rPr>
              <a:t> de los </a:t>
            </a:r>
            <a:r>
              <a:rPr lang="en-GB" altLang="es-ES" dirty="0" err="1">
                <a:solidFill>
                  <a:srgbClr val="FF0000"/>
                </a:solidFill>
              </a:rPr>
              <a:t>siguientes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valores</a:t>
            </a:r>
            <a:r>
              <a:rPr lang="en-GB" altLang="es-ES" dirty="0">
                <a:solidFill>
                  <a:srgbClr val="FF0000"/>
                </a:solidFill>
              </a:rPr>
              <a:t> en la </a:t>
            </a:r>
            <a:r>
              <a:rPr lang="en-GB" altLang="es-ES" dirty="0" err="1">
                <a:solidFill>
                  <a:srgbClr val="FF0000"/>
                </a:solidFill>
              </a:rPr>
              <a:t>línea</a:t>
            </a:r>
            <a:r>
              <a:rPr lang="en-GB" altLang="es-ES" dirty="0"/>
              <a:t>:</a:t>
            </a:r>
          </a:p>
          <a:p>
            <a:pPr eaLnBrk="1" hangingPunct="1"/>
            <a:r>
              <a:rPr lang="en-GB" altLang="es-ES" dirty="0"/>
              <a:t>	½	0.2	40%	</a:t>
            </a:r>
            <a:r>
              <a:rPr lang="en-GB" altLang="es-ES" b="1" dirty="0">
                <a:solidFill>
                  <a:srgbClr val="800000"/>
                </a:solidFill>
              </a:rPr>
              <a:t>150%</a:t>
            </a:r>
            <a:r>
              <a:rPr lang="en-GB" altLang="es-ES" dirty="0"/>
              <a:t>	1.75</a:t>
            </a:r>
          </a:p>
        </p:txBody>
      </p: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1359656" y="2934743"/>
            <a:ext cx="8178801" cy="1027113"/>
            <a:chOff x="183" y="1921"/>
            <a:chExt cx="5152" cy="647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183" y="1921"/>
              <a:ext cx="4830" cy="353"/>
              <a:chOff x="183" y="1921"/>
              <a:chExt cx="4830" cy="353"/>
            </a:xfrm>
          </p:grpSpPr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183" y="1921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Fracciones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722" y="227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14" name="Text Box 29"/>
            <p:cNvSpPr txBox="1">
              <a:spLocks noChangeArrowheads="1"/>
            </p:cNvSpPr>
            <p:nvPr/>
          </p:nvSpPr>
          <p:spPr bwMode="auto">
            <a:xfrm>
              <a:off x="5005" y="22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17" name="Group 39"/>
          <p:cNvGrpSpPr>
            <a:grpSpLocks/>
          </p:cNvGrpSpPr>
          <p:nvPr/>
        </p:nvGrpSpPr>
        <p:grpSpPr bwMode="auto">
          <a:xfrm>
            <a:off x="1366006" y="4128544"/>
            <a:ext cx="8223251" cy="944563"/>
            <a:chOff x="187" y="2673"/>
            <a:chExt cx="5180" cy="595"/>
          </a:xfrm>
        </p:grpSpPr>
        <p:grpSp>
          <p:nvGrpSpPr>
            <p:cNvPr id="18" name="Group 20"/>
            <p:cNvGrpSpPr>
              <a:grpSpLocks/>
            </p:cNvGrpSpPr>
            <p:nvPr/>
          </p:nvGrpSpPr>
          <p:grpSpPr bwMode="auto">
            <a:xfrm>
              <a:off x="187" y="2673"/>
              <a:ext cx="4840" cy="309"/>
              <a:chOff x="173" y="1965"/>
              <a:chExt cx="4840" cy="309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2" name="Text Box 22"/>
              <p:cNvSpPr txBox="1">
                <a:spLocks noChangeArrowheads="1"/>
              </p:cNvSpPr>
              <p:nvPr/>
            </p:nvSpPr>
            <p:spPr bwMode="auto">
              <a:xfrm>
                <a:off x="173" y="1965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Decimales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708" y="297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0" name="Text Box 30"/>
            <p:cNvSpPr txBox="1">
              <a:spLocks noChangeArrowheads="1"/>
            </p:cNvSpPr>
            <p:nvPr/>
          </p:nvSpPr>
          <p:spPr bwMode="auto">
            <a:xfrm>
              <a:off x="5037" y="29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23" name="Group 40"/>
          <p:cNvGrpSpPr>
            <a:grpSpLocks/>
          </p:cNvGrpSpPr>
          <p:nvPr/>
        </p:nvGrpSpPr>
        <p:grpSpPr bwMode="auto">
          <a:xfrm>
            <a:off x="1366007" y="5158829"/>
            <a:ext cx="8847137" cy="1031875"/>
            <a:chOff x="187" y="3322"/>
            <a:chExt cx="5573" cy="650"/>
          </a:xfrm>
        </p:grpSpPr>
        <p:grpSp>
          <p:nvGrpSpPr>
            <p:cNvPr id="24" name="Group 23"/>
            <p:cNvGrpSpPr>
              <a:grpSpLocks/>
            </p:cNvGrpSpPr>
            <p:nvPr/>
          </p:nvGrpSpPr>
          <p:grpSpPr bwMode="auto">
            <a:xfrm>
              <a:off x="187" y="3322"/>
              <a:ext cx="4867" cy="364"/>
              <a:chOff x="146" y="1910"/>
              <a:chExt cx="4867" cy="364"/>
            </a:xfrm>
          </p:grpSpPr>
          <p:sp>
            <p:nvSpPr>
              <p:cNvPr id="27" name="Line 24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146" y="1910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Porcentajes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749" y="368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5074" y="368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200%</a:t>
              </a:r>
            </a:p>
          </p:txBody>
        </p:sp>
      </p:grp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7122282" y="3499892"/>
            <a:ext cx="841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1</a:t>
            </a:r>
            <a:r>
              <a:rPr lang="en-GB" altLang="es-ES" b="1" baseline="30000">
                <a:solidFill>
                  <a:srgbClr val="800000"/>
                </a:solidFill>
              </a:rPr>
              <a:t>1</a:t>
            </a:r>
            <a:r>
              <a:rPr lang="en-GB" altLang="es-ES" b="1">
                <a:solidFill>
                  <a:srgbClr val="800000"/>
                </a:solidFill>
              </a:rPr>
              <a:t>/</a:t>
            </a:r>
            <a:r>
              <a:rPr lang="en-GB" altLang="es-ES" b="1" baseline="-25000">
                <a:solidFill>
                  <a:srgbClr val="800000"/>
                </a:solidFill>
              </a:rPr>
              <a:t>2</a:t>
            </a:r>
          </a:p>
        </p:txBody>
      </p:sp>
      <p:sp>
        <p:nvSpPr>
          <p:cNvPr id="30" name="Line 33"/>
          <p:cNvSpPr>
            <a:spLocks noChangeShapeType="1"/>
          </p:cNvSpPr>
          <p:nvPr/>
        </p:nvSpPr>
        <p:spPr bwMode="auto">
          <a:xfrm>
            <a:off x="7427082" y="3501479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7114344" y="4611142"/>
            <a:ext cx="65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1.5</a:t>
            </a: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7433432" y="4623842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7076244" y="5735092"/>
            <a:ext cx="104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150</a:t>
            </a:r>
            <a:r>
              <a:rPr lang="en-GB" altLang="es-ES" sz="1800" b="1">
                <a:solidFill>
                  <a:srgbClr val="800000"/>
                </a:solidFill>
              </a:rPr>
              <a:t>%</a:t>
            </a:r>
          </a:p>
        </p:txBody>
      </p:sp>
      <p:sp>
        <p:nvSpPr>
          <p:cNvPr id="34" name="Oval 37"/>
          <p:cNvSpPr>
            <a:spLocks noChangeArrowheads="1"/>
          </p:cNvSpPr>
          <p:nvPr/>
        </p:nvSpPr>
        <p:spPr bwMode="auto">
          <a:xfrm>
            <a:off x="5685594" y="2193379"/>
            <a:ext cx="811213" cy="811213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>
          <a:xfrm>
            <a:off x="2011681" y="266154"/>
            <a:ext cx="9847384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chemeClr val="hlink"/>
                </a:solidFill>
              </a:rPr>
              <a:t>Relacionar</a:t>
            </a:r>
            <a:r>
              <a:rPr lang="en-GB" altLang="es-ES" dirty="0">
                <a:solidFill>
                  <a:schemeClr val="hlink"/>
                </a:solidFill>
              </a:rPr>
              <a:t> los </a:t>
            </a:r>
            <a:r>
              <a:rPr lang="en-GB" altLang="es-ES" dirty="0" err="1">
                <a:solidFill>
                  <a:schemeClr val="hlink"/>
                </a:solidFill>
              </a:rPr>
              <a:t>distintos</a:t>
            </a:r>
            <a:r>
              <a:rPr lang="en-GB" altLang="es-ES" dirty="0">
                <a:solidFill>
                  <a:schemeClr val="hlink"/>
                </a:solidFill>
              </a:rPr>
              <a:t> </a:t>
            </a:r>
            <a:r>
              <a:rPr lang="en-GB" altLang="es-ES" dirty="0" err="1">
                <a:solidFill>
                  <a:schemeClr val="hlink"/>
                </a:solidFill>
              </a:rPr>
              <a:t>conceptos</a:t>
            </a:r>
            <a:r>
              <a:rPr lang="en-GB" altLang="es-ES" dirty="0">
                <a:solidFill>
                  <a:schemeClr val="hlink"/>
                </a:solidFill>
              </a:rPr>
              <a:t> entre </a:t>
            </a:r>
            <a:r>
              <a:rPr lang="en-GB" altLang="es-ES" dirty="0" err="1">
                <a:solidFill>
                  <a:schemeClr val="hlink"/>
                </a:solidFill>
              </a:rPr>
              <a:t>sí</a:t>
            </a:r>
            <a:endParaRPr lang="en-GB" altLang="es-ES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56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nimBg="1"/>
      <p:bldP spid="31" grpId="0" autoUpdateAnimBg="0"/>
      <p:bldP spid="32" grpId="0" animBg="1"/>
      <p:bldP spid="3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14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2574875" y="1933575"/>
            <a:ext cx="82438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 err="1">
                <a:solidFill>
                  <a:srgbClr val="FF0000"/>
                </a:solidFill>
              </a:rPr>
              <a:t>Señala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cada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uno</a:t>
            </a:r>
            <a:r>
              <a:rPr lang="en-GB" altLang="es-ES" dirty="0">
                <a:solidFill>
                  <a:srgbClr val="FF0000"/>
                </a:solidFill>
              </a:rPr>
              <a:t> de los </a:t>
            </a:r>
            <a:r>
              <a:rPr lang="en-GB" altLang="es-ES" dirty="0" err="1">
                <a:solidFill>
                  <a:srgbClr val="FF0000"/>
                </a:solidFill>
              </a:rPr>
              <a:t>siguientes</a:t>
            </a:r>
            <a:r>
              <a:rPr lang="en-GB" altLang="es-ES" dirty="0">
                <a:solidFill>
                  <a:srgbClr val="FF0000"/>
                </a:solidFill>
              </a:rPr>
              <a:t> </a:t>
            </a:r>
            <a:r>
              <a:rPr lang="en-GB" altLang="es-ES" dirty="0" err="1">
                <a:solidFill>
                  <a:srgbClr val="FF0000"/>
                </a:solidFill>
              </a:rPr>
              <a:t>valores</a:t>
            </a:r>
            <a:r>
              <a:rPr lang="en-GB" altLang="es-ES" dirty="0">
                <a:solidFill>
                  <a:srgbClr val="FF0000"/>
                </a:solidFill>
              </a:rPr>
              <a:t> en la </a:t>
            </a:r>
            <a:r>
              <a:rPr lang="en-GB" altLang="es-ES" dirty="0" err="1">
                <a:solidFill>
                  <a:srgbClr val="FF0000"/>
                </a:solidFill>
              </a:rPr>
              <a:t>línea</a:t>
            </a:r>
            <a:r>
              <a:rPr lang="en-GB" altLang="es-ES" dirty="0"/>
              <a:t>:</a:t>
            </a:r>
          </a:p>
          <a:p>
            <a:pPr eaLnBrk="1" hangingPunct="1"/>
            <a:r>
              <a:rPr lang="en-GB" altLang="es-ES" dirty="0"/>
              <a:t>	½	0.2	40%	150%	</a:t>
            </a:r>
            <a:r>
              <a:rPr lang="en-GB" altLang="es-ES" b="1" dirty="0">
                <a:solidFill>
                  <a:srgbClr val="800000"/>
                </a:solidFill>
              </a:rPr>
              <a:t>1.75</a:t>
            </a:r>
          </a:p>
        </p:txBody>
      </p: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1709687" y="2995614"/>
            <a:ext cx="8434388" cy="1081088"/>
            <a:chOff x="22" y="1887"/>
            <a:chExt cx="5313" cy="681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" y="1887"/>
              <a:ext cx="4991" cy="387"/>
              <a:chOff x="22" y="1887"/>
              <a:chExt cx="4991" cy="387"/>
            </a:xfrm>
          </p:grpSpPr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16" name="Text Box 19"/>
              <p:cNvSpPr txBox="1">
                <a:spLocks noChangeArrowheads="1"/>
              </p:cNvSpPr>
              <p:nvPr/>
            </p:nvSpPr>
            <p:spPr bwMode="auto">
              <a:xfrm>
                <a:off x="22" y="1887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Fracciones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3" name="Text Box 26"/>
            <p:cNvSpPr txBox="1">
              <a:spLocks noChangeArrowheads="1"/>
            </p:cNvSpPr>
            <p:nvPr/>
          </p:nvSpPr>
          <p:spPr bwMode="auto">
            <a:xfrm>
              <a:off x="722" y="2276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14" name="Text Box 29"/>
            <p:cNvSpPr txBox="1">
              <a:spLocks noChangeArrowheads="1"/>
            </p:cNvSpPr>
            <p:nvPr/>
          </p:nvSpPr>
          <p:spPr bwMode="auto">
            <a:xfrm>
              <a:off x="5005" y="2280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17" name="Group 39"/>
          <p:cNvGrpSpPr>
            <a:grpSpLocks/>
          </p:cNvGrpSpPr>
          <p:nvPr/>
        </p:nvGrpSpPr>
        <p:grpSpPr bwMode="auto">
          <a:xfrm>
            <a:off x="1752550" y="4116389"/>
            <a:ext cx="8399463" cy="1085851"/>
            <a:chOff x="49" y="2593"/>
            <a:chExt cx="5291" cy="684"/>
          </a:xfrm>
        </p:grpSpPr>
        <p:grpSp>
          <p:nvGrpSpPr>
            <p:cNvPr id="18" name="Group 20"/>
            <p:cNvGrpSpPr>
              <a:grpSpLocks/>
            </p:cNvGrpSpPr>
            <p:nvPr/>
          </p:nvGrpSpPr>
          <p:grpSpPr bwMode="auto">
            <a:xfrm>
              <a:off x="49" y="2593"/>
              <a:ext cx="4978" cy="389"/>
              <a:chOff x="35" y="1885"/>
              <a:chExt cx="4978" cy="389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2" name="Text Box 22"/>
              <p:cNvSpPr txBox="1">
                <a:spLocks noChangeArrowheads="1"/>
              </p:cNvSpPr>
              <p:nvPr/>
            </p:nvSpPr>
            <p:spPr bwMode="auto">
              <a:xfrm>
                <a:off x="35" y="1885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Decimales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708" y="2975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0" name="Text Box 30"/>
            <p:cNvSpPr txBox="1">
              <a:spLocks noChangeArrowheads="1"/>
            </p:cNvSpPr>
            <p:nvPr/>
          </p:nvSpPr>
          <p:spPr bwMode="auto">
            <a:xfrm>
              <a:off x="5010" y="2989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</a:t>
              </a:r>
            </a:p>
          </p:txBody>
        </p:sp>
      </p:grpSp>
      <p:grpSp>
        <p:nvGrpSpPr>
          <p:cNvPr id="23" name="Group 40"/>
          <p:cNvGrpSpPr>
            <a:grpSpLocks/>
          </p:cNvGrpSpPr>
          <p:nvPr/>
        </p:nvGrpSpPr>
        <p:grpSpPr bwMode="auto">
          <a:xfrm>
            <a:off x="1709688" y="5178425"/>
            <a:ext cx="8905874" cy="1127125"/>
            <a:chOff x="22" y="3262"/>
            <a:chExt cx="5610" cy="710"/>
          </a:xfrm>
        </p:grpSpPr>
        <p:grpSp>
          <p:nvGrpSpPr>
            <p:cNvPr id="24" name="Group 23"/>
            <p:cNvGrpSpPr>
              <a:grpSpLocks/>
            </p:cNvGrpSpPr>
            <p:nvPr/>
          </p:nvGrpSpPr>
          <p:grpSpPr bwMode="auto">
            <a:xfrm>
              <a:off x="22" y="3262"/>
              <a:ext cx="5032" cy="424"/>
              <a:chOff x="-19" y="1850"/>
              <a:chExt cx="5032" cy="424"/>
            </a:xfrm>
          </p:grpSpPr>
          <p:sp>
            <p:nvSpPr>
              <p:cNvPr id="27" name="Line 24"/>
              <p:cNvSpPr>
                <a:spLocks noChangeShapeType="1"/>
              </p:cNvSpPr>
              <p:nvPr/>
            </p:nvSpPr>
            <p:spPr bwMode="auto">
              <a:xfrm>
                <a:off x="868" y="2274"/>
                <a:ext cx="41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s-ES"/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-19" y="1850"/>
                <a:ext cx="1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50000"/>
                  </a:spcBef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/>
                <a:r>
                  <a:rPr lang="en-GB" altLang="es-ES" b="1" dirty="0" err="1" smtClean="0">
                    <a:solidFill>
                      <a:srgbClr val="0070C0"/>
                    </a:solidFill>
                  </a:rPr>
                  <a:t>Porcentajes</a:t>
                </a:r>
                <a:endParaRPr lang="en-GB" altLang="es-ES" b="1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749" y="3684"/>
              <a:ext cx="33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0</a:t>
              </a:r>
            </a:p>
          </p:txBody>
        </p:sp>
        <p:sp>
          <p:nvSpPr>
            <p:cNvPr id="26" name="Text Box 31"/>
            <p:cNvSpPr txBox="1">
              <a:spLocks noChangeArrowheads="1"/>
            </p:cNvSpPr>
            <p:nvPr/>
          </p:nvSpPr>
          <p:spPr bwMode="auto">
            <a:xfrm>
              <a:off x="4946" y="3684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s-ES"/>
                <a:t>200%</a:t>
              </a:r>
            </a:p>
          </p:txBody>
        </p:sp>
      </p:grp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8366075" y="3616325"/>
            <a:ext cx="841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1</a:t>
            </a:r>
            <a:r>
              <a:rPr lang="en-GB" altLang="es-ES" b="1" baseline="30000">
                <a:solidFill>
                  <a:srgbClr val="800000"/>
                </a:solidFill>
              </a:rPr>
              <a:t>3</a:t>
            </a:r>
            <a:r>
              <a:rPr lang="en-GB" altLang="es-ES" b="1">
                <a:solidFill>
                  <a:srgbClr val="800000"/>
                </a:solidFill>
              </a:rPr>
              <a:t>/</a:t>
            </a:r>
            <a:r>
              <a:rPr lang="en-GB" altLang="es-ES" b="1" baseline="-25000">
                <a:solidFill>
                  <a:srgbClr val="800000"/>
                </a:solidFill>
              </a:rPr>
              <a:t>4</a:t>
            </a:r>
          </a:p>
        </p:txBody>
      </p:sp>
      <p:sp>
        <p:nvSpPr>
          <p:cNvPr id="30" name="Line 33"/>
          <p:cNvSpPr>
            <a:spLocks noChangeShapeType="1"/>
          </p:cNvSpPr>
          <p:nvPr/>
        </p:nvSpPr>
        <p:spPr bwMode="auto">
          <a:xfrm>
            <a:off x="8685162" y="3630613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1" name="Text Box 34"/>
          <p:cNvSpPr txBox="1">
            <a:spLocks noChangeArrowheads="1"/>
          </p:cNvSpPr>
          <p:nvPr/>
        </p:nvSpPr>
        <p:spPr bwMode="auto">
          <a:xfrm>
            <a:off x="8315275" y="4725988"/>
            <a:ext cx="95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1.75</a:t>
            </a:r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8691512" y="4738688"/>
            <a:ext cx="0" cy="1117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33" name="Text Box 36"/>
          <p:cNvSpPr txBox="1">
            <a:spLocks noChangeArrowheads="1"/>
          </p:cNvSpPr>
          <p:nvPr/>
        </p:nvSpPr>
        <p:spPr bwMode="auto">
          <a:xfrm>
            <a:off x="8332737" y="5851525"/>
            <a:ext cx="104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b="1">
                <a:solidFill>
                  <a:srgbClr val="800000"/>
                </a:solidFill>
              </a:rPr>
              <a:t>175</a:t>
            </a:r>
            <a:r>
              <a:rPr lang="en-GB" altLang="es-ES" sz="1800" b="1">
                <a:solidFill>
                  <a:srgbClr val="800000"/>
                </a:solidFill>
              </a:rPr>
              <a:t>%</a:t>
            </a:r>
          </a:p>
        </p:txBody>
      </p:sp>
      <p:sp>
        <p:nvSpPr>
          <p:cNvPr id="34" name="Oval 37"/>
          <p:cNvSpPr>
            <a:spLocks noChangeArrowheads="1"/>
          </p:cNvSpPr>
          <p:nvPr/>
        </p:nvSpPr>
        <p:spPr bwMode="auto">
          <a:xfrm>
            <a:off x="7119887" y="2308225"/>
            <a:ext cx="811213" cy="811213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35" name="Rectangle 2"/>
          <p:cNvSpPr txBox="1">
            <a:spLocks noChangeArrowheads="1"/>
          </p:cNvSpPr>
          <p:nvPr/>
        </p:nvSpPr>
        <p:spPr>
          <a:xfrm>
            <a:off x="2011681" y="266154"/>
            <a:ext cx="9847384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chemeClr val="hlink"/>
                </a:solidFill>
              </a:rPr>
              <a:t>Relacionar</a:t>
            </a:r>
            <a:r>
              <a:rPr lang="en-GB" altLang="es-ES" dirty="0">
                <a:solidFill>
                  <a:schemeClr val="hlink"/>
                </a:solidFill>
              </a:rPr>
              <a:t> los </a:t>
            </a:r>
            <a:r>
              <a:rPr lang="en-GB" altLang="es-ES" dirty="0" err="1">
                <a:solidFill>
                  <a:schemeClr val="hlink"/>
                </a:solidFill>
              </a:rPr>
              <a:t>distintos</a:t>
            </a:r>
            <a:r>
              <a:rPr lang="en-GB" altLang="es-ES" dirty="0">
                <a:solidFill>
                  <a:schemeClr val="hlink"/>
                </a:solidFill>
              </a:rPr>
              <a:t> </a:t>
            </a:r>
            <a:r>
              <a:rPr lang="en-GB" altLang="es-ES" dirty="0" err="1">
                <a:solidFill>
                  <a:schemeClr val="hlink"/>
                </a:solidFill>
              </a:rPr>
              <a:t>conceptos</a:t>
            </a:r>
            <a:r>
              <a:rPr lang="en-GB" altLang="es-ES" dirty="0">
                <a:solidFill>
                  <a:schemeClr val="hlink"/>
                </a:solidFill>
              </a:rPr>
              <a:t> entre </a:t>
            </a:r>
            <a:r>
              <a:rPr lang="en-GB" altLang="es-ES" dirty="0" err="1">
                <a:solidFill>
                  <a:schemeClr val="hlink"/>
                </a:solidFill>
              </a:rPr>
              <a:t>sí</a:t>
            </a:r>
            <a:endParaRPr lang="en-GB" altLang="es-ES" dirty="0">
              <a:solidFill>
                <a:schemeClr val="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79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utoUpdateAnimBg="0"/>
      <p:bldP spid="30" grpId="0" animBg="1"/>
      <p:bldP spid="31" grpId="0" autoUpdateAnimBg="0"/>
      <p:bldP spid="32" grpId="0" animBg="1"/>
      <p:bldP spid="3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15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402976" y="348943"/>
            <a:ext cx="77724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>
                <a:solidFill>
                  <a:schemeClr val="hlink"/>
                </a:solidFill>
              </a:rPr>
              <a:t>¡</a:t>
            </a:r>
            <a:r>
              <a:rPr lang="en-GB" altLang="es-ES" dirty="0" err="1">
                <a:solidFill>
                  <a:schemeClr val="hlink"/>
                </a:solidFill>
              </a:rPr>
              <a:t>Ojo</a:t>
            </a:r>
            <a:r>
              <a:rPr lang="en-GB" altLang="es-ES" dirty="0">
                <a:solidFill>
                  <a:schemeClr val="hlink"/>
                </a:solidFill>
              </a:rPr>
              <a:t>! ¡</a:t>
            </a:r>
            <a:r>
              <a:rPr lang="en-GB" altLang="es-ES" dirty="0" err="1">
                <a:solidFill>
                  <a:schemeClr val="hlink"/>
                </a:solidFill>
              </a:rPr>
              <a:t>Algunos</a:t>
            </a:r>
            <a:r>
              <a:rPr lang="en-GB" altLang="es-ES" dirty="0">
                <a:solidFill>
                  <a:schemeClr val="hlink"/>
                </a:solidFill>
              </a:rPr>
              <a:t> errors </a:t>
            </a:r>
            <a:r>
              <a:rPr lang="en-GB" altLang="es-ES" dirty="0" err="1">
                <a:solidFill>
                  <a:schemeClr val="hlink"/>
                </a:solidFill>
              </a:rPr>
              <a:t>frecuentes</a:t>
            </a:r>
            <a:r>
              <a:rPr lang="en-GB" altLang="es-ES" dirty="0">
                <a:solidFill>
                  <a:schemeClr val="hlink"/>
                </a:solidFill>
              </a:rPr>
              <a:t>!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402976" y="1621691"/>
            <a:ext cx="102413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smtClean="0">
                <a:solidFill>
                  <a:srgbClr val="800000"/>
                </a:solidFill>
              </a:rPr>
              <a:t>“</a:t>
            </a:r>
            <a:r>
              <a:rPr lang="en-GB" altLang="es-ES" dirty="0" err="1" smtClean="0">
                <a:solidFill>
                  <a:srgbClr val="800000"/>
                </a:solidFill>
              </a:rPr>
              <a:t>Cuanto</a:t>
            </a:r>
            <a:r>
              <a:rPr lang="en-GB" altLang="es-ES" dirty="0" smtClean="0">
                <a:solidFill>
                  <a:srgbClr val="800000"/>
                </a:solidFill>
              </a:rPr>
              <a:t> mayor </a:t>
            </a:r>
            <a:r>
              <a:rPr lang="en-GB" altLang="es-ES" dirty="0" err="1" smtClean="0">
                <a:solidFill>
                  <a:srgbClr val="800000"/>
                </a:solidFill>
              </a:rPr>
              <a:t>es</a:t>
            </a:r>
            <a:r>
              <a:rPr lang="en-GB" altLang="es-ES" dirty="0" smtClean="0">
                <a:solidFill>
                  <a:srgbClr val="800000"/>
                </a:solidFill>
              </a:rPr>
              <a:t> el </a:t>
            </a:r>
            <a:r>
              <a:rPr lang="en-GB" altLang="es-ES" dirty="0" err="1" smtClean="0">
                <a:solidFill>
                  <a:srgbClr val="800000"/>
                </a:solidFill>
              </a:rPr>
              <a:t>número</a:t>
            </a:r>
            <a:r>
              <a:rPr lang="en-GB" altLang="es-ES" dirty="0" smtClean="0">
                <a:solidFill>
                  <a:srgbClr val="800000"/>
                </a:solidFill>
              </a:rPr>
              <a:t> </a:t>
            </a:r>
            <a:r>
              <a:rPr lang="en-GB" altLang="es-ES" dirty="0" err="1" smtClean="0">
                <a:solidFill>
                  <a:srgbClr val="800000"/>
                </a:solidFill>
              </a:rPr>
              <a:t>que</a:t>
            </a:r>
            <a:r>
              <a:rPr lang="en-GB" altLang="es-ES" dirty="0" smtClean="0">
                <a:solidFill>
                  <a:srgbClr val="800000"/>
                </a:solidFill>
              </a:rPr>
              <a:t> </a:t>
            </a:r>
            <a:r>
              <a:rPr lang="en-GB" altLang="es-ES" dirty="0" err="1" smtClean="0">
                <a:solidFill>
                  <a:srgbClr val="800000"/>
                </a:solidFill>
              </a:rPr>
              <a:t>aparece</a:t>
            </a:r>
            <a:r>
              <a:rPr lang="en-GB" altLang="es-ES" dirty="0" smtClean="0">
                <a:solidFill>
                  <a:srgbClr val="800000"/>
                </a:solidFill>
              </a:rPr>
              <a:t> en el </a:t>
            </a:r>
            <a:r>
              <a:rPr lang="en-GB" altLang="es-ES" dirty="0" err="1" smtClean="0">
                <a:solidFill>
                  <a:srgbClr val="800000"/>
                </a:solidFill>
              </a:rPr>
              <a:t>denominador</a:t>
            </a:r>
            <a:r>
              <a:rPr lang="en-GB" altLang="es-ES" dirty="0" smtClean="0">
                <a:solidFill>
                  <a:srgbClr val="800000"/>
                </a:solidFill>
              </a:rPr>
              <a:t> de </a:t>
            </a:r>
            <a:r>
              <a:rPr lang="en-GB" altLang="es-ES" dirty="0" err="1" smtClean="0">
                <a:solidFill>
                  <a:srgbClr val="800000"/>
                </a:solidFill>
              </a:rPr>
              <a:t>una</a:t>
            </a:r>
            <a:r>
              <a:rPr lang="en-GB" altLang="es-ES" dirty="0" smtClean="0">
                <a:solidFill>
                  <a:srgbClr val="800000"/>
                </a:solidFill>
              </a:rPr>
              <a:t> </a:t>
            </a:r>
            <a:r>
              <a:rPr lang="en-GB" altLang="es-ES" dirty="0" err="1" smtClean="0">
                <a:solidFill>
                  <a:srgbClr val="800000"/>
                </a:solidFill>
              </a:rPr>
              <a:t>fracción</a:t>
            </a:r>
            <a:r>
              <a:rPr lang="en-GB" altLang="es-ES" dirty="0" smtClean="0">
                <a:solidFill>
                  <a:srgbClr val="800000"/>
                </a:solidFill>
              </a:rPr>
              <a:t>, mayor </a:t>
            </a:r>
            <a:r>
              <a:rPr lang="en-GB" altLang="es-ES" dirty="0" err="1" smtClean="0">
                <a:solidFill>
                  <a:srgbClr val="800000"/>
                </a:solidFill>
              </a:rPr>
              <a:t>es</a:t>
            </a:r>
            <a:r>
              <a:rPr lang="en-GB" altLang="es-ES" dirty="0" smtClean="0">
                <a:solidFill>
                  <a:srgbClr val="800000"/>
                </a:solidFill>
              </a:rPr>
              <a:t> el </a:t>
            </a:r>
            <a:r>
              <a:rPr lang="en-GB" altLang="es-ES" dirty="0" err="1" smtClean="0">
                <a:solidFill>
                  <a:srgbClr val="800000"/>
                </a:solidFill>
              </a:rPr>
              <a:t>valor</a:t>
            </a:r>
            <a:r>
              <a:rPr lang="en-GB" altLang="es-ES" dirty="0" smtClean="0">
                <a:solidFill>
                  <a:srgbClr val="800000"/>
                </a:solidFill>
              </a:rPr>
              <a:t> de la </a:t>
            </a:r>
            <a:r>
              <a:rPr lang="en-GB" altLang="es-ES" dirty="0" err="1" smtClean="0">
                <a:solidFill>
                  <a:srgbClr val="800000"/>
                </a:solidFill>
              </a:rPr>
              <a:t>misma</a:t>
            </a:r>
            <a:r>
              <a:rPr lang="en-GB" altLang="es-ES" dirty="0" smtClean="0">
                <a:solidFill>
                  <a:srgbClr val="800000"/>
                </a:solidFill>
              </a:rPr>
              <a:t>” </a:t>
            </a:r>
            <a:r>
              <a:rPr lang="en-GB" altLang="es-ES" dirty="0" smtClean="0">
                <a:solidFill>
                  <a:srgbClr val="800000"/>
                </a:solidFill>
                <a:sym typeface="Wingdings" panose="05000000000000000000" pitchFamily="2" charset="2"/>
              </a:rPr>
              <a:t> </a:t>
            </a:r>
            <a:r>
              <a:rPr lang="en-GB" altLang="es-ES" sz="32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FALSO</a:t>
            </a:r>
            <a:endParaRPr lang="en-GB" altLang="es-ES" sz="3200" b="1" dirty="0">
              <a:solidFill>
                <a:srgbClr val="FF0000"/>
              </a:solidFill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2740025"/>
            <a:ext cx="5133975" cy="383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592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16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739152" y="381000"/>
            <a:ext cx="8346141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>
                <a:solidFill>
                  <a:schemeClr val="hlink"/>
                </a:solidFill>
              </a:rPr>
              <a:t>¡</a:t>
            </a:r>
            <a:r>
              <a:rPr lang="en-GB" altLang="es-ES" dirty="0" err="1">
                <a:solidFill>
                  <a:schemeClr val="hlink"/>
                </a:solidFill>
              </a:rPr>
              <a:t>Ojo</a:t>
            </a:r>
            <a:r>
              <a:rPr lang="en-GB" altLang="es-ES" dirty="0">
                <a:solidFill>
                  <a:schemeClr val="hlink"/>
                </a:solidFill>
              </a:rPr>
              <a:t>! ¡</a:t>
            </a:r>
            <a:r>
              <a:rPr lang="en-GB" altLang="es-ES" dirty="0" err="1">
                <a:solidFill>
                  <a:schemeClr val="hlink"/>
                </a:solidFill>
              </a:rPr>
              <a:t>Algunos</a:t>
            </a:r>
            <a:r>
              <a:rPr lang="en-GB" altLang="es-ES" dirty="0">
                <a:solidFill>
                  <a:schemeClr val="hlink"/>
                </a:solidFill>
              </a:rPr>
              <a:t> </a:t>
            </a:r>
            <a:r>
              <a:rPr lang="en-GB" altLang="es-ES" dirty="0" err="1" smtClean="0">
                <a:solidFill>
                  <a:schemeClr val="hlink"/>
                </a:solidFill>
              </a:rPr>
              <a:t>errores</a:t>
            </a:r>
            <a:r>
              <a:rPr lang="en-GB" altLang="es-ES" dirty="0" smtClean="0">
                <a:solidFill>
                  <a:schemeClr val="hlink"/>
                </a:solidFill>
              </a:rPr>
              <a:t> </a:t>
            </a:r>
            <a:r>
              <a:rPr lang="en-GB" altLang="es-ES" dirty="0" err="1">
                <a:solidFill>
                  <a:schemeClr val="hlink"/>
                </a:solidFill>
              </a:rPr>
              <a:t>frecuentes</a:t>
            </a:r>
            <a:r>
              <a:rPr lang="en-GB" altLang="es-ES" dirty="0">
                <a:solidFill>
                  <a:schemeClr val="hlink"/>
                </a:solidFill>
              </a:rPr>
              <a:t>!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89508" y="1648162"/>
            <a:ext cx="919246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 smtClean="0">
                <a:solidFill>
                  <a:srgbClr val="800000"/>
                </a:solidFill>
              </a:rPr>
              <a:t>“Los </a:t>
            </a:r>
            <a:r>
              <a:rPr lang="en-GB" altLang="es-ES" dirty="0" err="1" smtClean="0">
                <a:solidFill>
                  <a:srgbClr val="800000"/>
                </a:solidFill>
              </a:rPr>
              <a:t>números</a:t>
            </a:r>
            <a:r>
              <a:rPr lang="en-GB" altLang="es-ES" dirty="0" smtClean="0">
                <a:solidFill>
                  <a:srgbClr val="800000"/>
                </a:solidFill>
              </a:rPr>
              <a:t> con mayor </a:t>
            </a:r>
            <a:r>
              <a:rPr lang="en-GB" altLang="es-ES" dirty="0" err="1" smtClean="0">
                <a:solidFill>
                  <a:srgbClr val="800000"/>
                </a:solidFill>
              </a:rPr>
              <a:t>número</a:t>
            </a:r>
            <a:r>
              <a:rPr lang="en-GB" altLang="es-ES" dirty="0" smtClean="0">
                <a:solidFill>
                  <a:srgbClr val="800000"/>
                </a:solidFill>
              </a:rPr>
              <a:t> de </a:t>
            </a:r>
            <a:r>
              <a:rPr lang="en-GB" altLang="es-ES" dirty="0" err="1" smtClean="0">
                <a:solidFill>
                  <a:srgbClr val="800000"/>
                </a:solidFill>
              </a:rPr>
              <a:t>decimales</a:t>
            </a:r>
            <a:r>
              <a:rPr lang="en-GB" altLang="es-ES" dirty="0" smtClean="0">
                <a:solidFill>
                  <a:srgbClr val="800000"/>
                </a:solidFill>
              </a:rPr>
              <a:t> son mayors” </a:t>
            </a:r>
            <a:r>
              <a:rPr lang="en-GB" altLang="es-ES" dirty="0" smtClean="0">
                <a:solidFill>
                  <a:srgbClr val="800000"/>
                </a:solidFill>
                <a:sym typeface="Wingdings" panose="05000000000000000000" pitchFamily="2" charset="2"/>
              </a:rPr>
              <a:t> </a:t>
            </a:r>
            <a:r>
              <a:rPr lang="en-GB" alt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FALSO</a:t>
            </a:r>
            <a:endParaRPr lang="en-GB" altLang="es-ES" b="1" dirty="0">
              <a:solidFill>
                <a:srgbClr val="FF0000"/>
              </a:solidFill>
            </a:endParaRPr>
          </a:p>
          <a:p>
            <a:pPr eaLnBrk="1" hangingPunct="1"/>
            <a:endParaRPr lang="en-GB" altLang="es-ES" dirty="0">
              <a:solidFill>
                <a:srgbClr val="800000"/>
              </a:solidFill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678" y="4892675"/>
            <a:ext cx="448627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141" y="2987675"/>
            <a:ext cx="36576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66" y="2513013"/>
            <a:ext cx="800100" cy="415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743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17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698811" y="266154"/>
            <a:ext cx="8574741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>
                <a:solidFill>
                  <a:schemeClr val="hlink"/>
                </a:solidFill>
              </a:rPr>
              <a:t>¡</a:t>
            </a:r>
            <a:r>
              <a:rPr lang="en-GB" altLang="es-ES" dirty="0" err="1">
                <a:solidFill>
                  <a:schemeClr val="hlink"/>
                </a:solidFill>
              </a:rPr>
              <a:t>Ojo</a:t>
            </a:r>
            <a:r>
              <a:rPr lang="en-GB" altLang="es-ES" dirty="0">
                <a:solidFill>
                  <a:schemeClr val="hlink"/>
                </a:solidFill>
              </a:rPr>
              <a:t>! ¡</a:t>
            </a:r>
            <a:r>
              <a:rPr lang="en-GB" altLang="es-ES" dirty="0" err="1">
                <a:solidFill>
                  <a:schemeClr val="hlink"/>
                </a:solidFill>
              </a:rPr>
              <a:t>Algunos</a:t>
            </a:r>
            <a:r>
              <a:rPr lang="en-GB" altLang="es-ES" dirty="0">
                <a:solidFill>
                  <a:schemeClr val="hlink"/>
                </a:solidFill>
              </a:rPr>
              <a:t> </a:t>
            </a:r>
            <a:r>
              <a:rPr lang="en-GB" altLang="es-ES" dirty="0" err="1" smtClean="0">
                <a:solidFill>
                  <a:schemeClr val="hlink"/>
                </a:solidFill>
              </a:rPr>
              <a:t>errores</a:t>
            </a:r>
            <a:r>
              <a:rPr lang="en-GB" altLang="es-ES" dirty="0" smtClean="0">
                <a:solidFill>
                  <a:schemeClr val="hlink"/>
                </a:solidFill>
              </a:rPr>
              <a:t> </a:t>
            </a:r>
            <a:r>
              <a:rPr lang="en-GB" altLang="es-ES" dirty="0" err="1">
                <a:solidFill>
                  <a:schemeClr val="hlink"/>
                </a:solidFill>
              </a:rPr>
              <a:t>frecuentes</a:t>
            </a:r>
            <a:r>
              <a:rPr lang="en-GB" altLang="es-ES" dirty="0">
                <a:solidFill>
                  <a:schemeClr val="hlink"/>
                </a:solidFill>
              </a:rPr>
              <a:t>!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698811" y="1368733"/>
            <a:ext cx="87226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 smtClean="0">
                <a:solidFill>
                  <a:srgbClr val="800000"/>
                </a:solidFill>
              </a:rPr>
              <a:t>“Los </a:t>
            </a:r>
            <a:r>
              <a:rPr lang="en-GB" altLang="es-ES" dirty="0" err="1" smtClean="0">
                <a:solidFill>
                  <a:srgbClr val="800000"/>
                </a:solidFill>
              </a:rPr>
              <a:t>porcentajes</a:t>
            </a:r>
            <a:r>
              <a:rPr lang="en-GB" altLang="es-ES" dirty="0" smtClean="0">
                <a:solidFill>
                  <a:srgbClr val="800000"/>
                </a:solidFill>
              </a:rPr>
              <a:t> no </a:t>
            </a:r>
            <a:r>
              <a:rPr lang="en-GB" altLang="es-ES" dirty="0" err="1" smtClean="0">
                <a:solidFill>
                  <a:srgbClr val="800000"/>
                </a:solidFill>
              </a:rPr>
              <a:t>pueden</a:t>
            </a:r>
            <a:r>
              <a:rPr lang="en-GB" altLang="es-ES" dirty="0" smtClean="0">
                <a:solidFill>
                  <a:srgbClr val="800000"/>
                </a:solidFill>
              </a:rPr>
              <a:t> </a:t>
            </a:r>
            <a:r>
              <a:rPr lang="en-GB" altLang="es-ES" dirty="0" err="1" smtClean="0">
                <a:solidFill>
                  <a:srgbClr val="800000"/>
                </a:solidFill>
              </a:rPr>
              <a:t>ser</a:t>
            </a:r>
            <a:r>
              <a:rPr lang="en-GB" altLang="es-ES" dirty="0" smtClean="0">
                <a:solidFill>
                  <a:srgbClr val="800000"/>
                </a:solidFill>
              </a:rPr>
              <a:t> </a:t>
            </a:r>
            <a:r>
              <a:rPr lang="en-GB" altLang="es-ES" dirty="0" err="1" smtClean="0">
                <a:solidFill>
                  <a:srgbClr val="800000"/>
                </a:solidFill>
              </a:rPr>
              <a:t>superiores</a:t>
            </a:r>
            <a:r>
              <a:rPr lang="en-GB" altLang="es-ES" dirty="0" smtClean="0">
                <a:solidFill>
                  <a:srgbClr val="800000"/>
                </a:solidFill>
              </a:rPr>
              <a:t> al 100%” </a:t>
            </a:r>
            <a:r>
              <a:rPr lang="en-GB" altLang="es-ES" dirty="0">
                <a:solidFill>
                  <a:srgbClr val="800000"/>
                </a:solidFill>
                <a:sym typeface="Wingdings" panose="05000000000000000000" pitchFamily="2" charset="2"/>
              </a:rPr>
              <a:t> </a:t>
            </a:r>
            <a:r>
              <a:rPr lang="en-GB" alt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FALSO</a:t>
            </a:r>
            <a:endParaRPr lang="en-GB" altLang="es-ES" dirty="0">
              <a:solidFill>
                <a:srgbClr val="800000"/>
              </a:solidFill>
            </a:endParaRPr>
          </a:p>
        </p:txBody>
      </p:sp>
      <p:pic>
        <p:nvPicPr>
          <p:cNvPr id="11" name="Picture 4" descr="C:\Documents and Settings\davies3n\Application Data\Microsoft\Media Catalog\Downloaded Clips\cl45\j0172575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1062" y="2628354"/>
            <a:ext cx="1485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1560700" y="2366417"/>
            <a:ext cx="2889250" cy="668337"/>
          </a:xfrm>
          <a:prstGeom prst="wedgeEllipseCallout">
            <a:avLst>
              <a:gd name="adj1" fmla="val 64120"/>
              <a:gd name="adj2" fmla="val 1365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s-ES" dirty="0" err="1" smtClean="0"/>
              <a:t>Tengo</a:t>
            </a:r>
            <a:r>
              <a:rPr lang="en-GB" altLang="es-ES" dirty="0" smtClean="0"/>
              <a:t> 50 €</a:t>
            </a:r>
            <a:endParaRPr lang="en-GB" altLang="es-ES" dirty="0"/>
          </a:p>
        </p:txBody>
      </p:sp>
      <p:sp>
        <p:nvSpPr>
          <p:cNvPr id="13" name="AutoShape 6"/>
          <p:cNvSpPr>
            <a:spLocks noChangeArrowheads="1"/>
          </p:cNvSpPr>
          <p:nvPr/>
        </p:nvSpPr>
        <p:spPr bwMode="auto">
          <a:xfrm>
            <a:off x="6299387" y="2445792"/>
            <a:ext cx="2830513" cy="682625"/>
          </a:xfrm>
          <a:prstGeom prst="wedgeEllipseCallout">
            <a:avLst>
              <a:gd name="adj1" fmla="val -74005"/>
              <a:gd name="adj2" fmla="val 10231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s-ES" dirty="0" err="1" smtClean="0"/>
              <a:t>Tengo</a:t>
            </a:r>
            <a:r>
              <a:rPr lang="en-GB" altLang="es-ES" dirty="0" smtClean="0"/>
              <a:t> 100 €</a:t>
            </a:r>
            <a:endParaRPr lang="en-GB" altLang="es-ES" dirty="0"/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1438462" y="3128417"/>
            <a:ext cx="2889250" cy="1190625"/>
          </a:xfrm>
          <a:prstGeom prst="wedgeEllipseCallout">
            <a:avLst>
              <a:gd name="adj1" fmla="val 66097"/>
              <a:gd name="adj2" fmla="val -71468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s-ES" dirty="0" err="1" smtClean="0">
                <a:solidFill>
                  <a:srgbClr val="800000"/>
                </a:solidFill>
              </a:rPr>
              <a:t>Tengo</a:t>
            </a:r>
            <a:r>
              <a:rPr lang="en-GB" altLang="es-ES" dirty="0" smtClean="0">
                <a:solidFill>
                  <a:srgbClr val="800000"/>
                </a:solidFill>
              </a:rPr>
              <a:t> el 50% </a:t>
            </a:r>
            <a:r>
              <a:rPr lang="en-GB" altLang="es-ES" dirty="0" err="1" smtClean="0">
                <a:solidFill>
                  <a:srgbClr val="800000"/>
                </a:solidFill>
              </a:rPr>
              <a:t>respecto</a:t>
            </a:r>
            <a:r>
              <a:rPr lang="en-GB" altLang="es-ES" dirty="0" smtClean="0">
                <a:solidFill>
                  <a:srgbClr val="800000"/>
                </a:solidFill>
              </a:rPr>
              <a:t> a </a:t>
            </a:r>
            <a:r>
              <a:rPr lang="en-GB" altLang="es-ES" dirty="0" err="1" smtClean="0">
                <a:solidFill>
                  <a:srgbClr val="800000"/>
                </a:solidFill>
              </a:rPr>
              <a:t>ti</a:t>
            </a:r>
            <a:endParaRPr lang="en-GB" altLang="es-ES" dirty="0">
              <a:solidFill>
                <a:srgbClr val="800000"/>
              </a:solidFill>
            </a:endParaRPr>
          </a:p>
        </p:txBody>
      </p:sp>
      <p:pic>
        <p:nvPicPr>
          <p:cNvPr id="15" name="Picture 8" descr="C:\Documents and Settings\davies3n\Application Data\Microsoft\Media Catalog\Downloaded Clips\cl45\j0172575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462" y="4696867"/>
            <a:ext cx="1485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1436875" y="4565104"/>
            <a:ext cx="2889250" cy="668338"/>
          </a:xfrm>
          <a:prstGeom prst="wedgeEllipseCallout">
            <a:avLst>
              <a:gd name="adj1" fmla="val 72199"/>
              <a:gd name="adj2" fmla="val -7958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s-ES" dirty="0" err="1" smtClean="0"/>
              <a:t>Tengo</a:t>
            </a:r>
            <a:r>
              <a:rPr lang="en-GB" altLang="es-ES" dirty="0" smtClean="0"/>
              <a:t> 125 €</a:t>
            </a:r>
            <a:endParaRPr lang="en-GB" altLang="es-ES" dirty="0"/>
          </a:p>
        </p:txBody>
      </p:sp>
      <p:sp>
        <p:nvSpPr>
          <p:cNvPr id="17" name="AutoShape 10"/>
          <p:cNvSpPr>
            <a:spLocks noChangeArrowheads="1"/>
          </p:cNvSpPr>
          <p:nvPr/>
        </p:nvSpPr>
        <p:spPr bwMode="auto">
          <a:xfrm>
            <a:off x="6519022" y="4520888"/>
            <a:ext cx="2830513" cy="682625"/>
          </a:xfrm>
          <a:prstGeom prst="wedgeEllipseCallout">
            <a:avLst>
              <a:gd name="adj1" fmla="val -76079"/>
              <a:gd name="adj2" fmla="val 1441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s-ES" dirty="0" err="1" smtClean="0"/>
              <a:t>Tengo</a:t>
            </a:r>
            <a:r>
              <a:rPr lang="en-GB" altLang="es-ES" dirty="0" smtClean="0"/>
              <a:t> 100 €</a:t>
            </a:r>
            <a:endParaRPr lang="en-GB" altLang="es-ES" dirty="0"/>
          </a:p>
        </p:txBody>
      </p:sp>
      <p:sp>
        <p:nvSpPr>
          <p:cNvPr id="18" name="AutoShape 11"/>
          <p:cNvSpPr>
            <a:spLocks noChangeArrowheads="1"/>
          </p:cNvSpPr>
          <p:nvPr/>
        </p:nvSpPr>
        <p:spPr bwMode="auto">
          <a:xfrm>
            <a:off x="1633725" y="5342979"/>
            <a:ext cx="2889250" cy="1190625"/>
          </a:xfrm>
          <a:prstGeom prst="wedgeEllipseCallout">
            <a:avLst>
              <a:gd name="adj1" fmla="val 65657"/>
              <a:gd name="adj2" fmla="val -80134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GB" altLang="es-ES" dirty="0" err="1" smtClean="0">
                <a:solidFill>
                  <a:srgbClr val="800000"/>
                </a:solidFill>
              </a:rPr>
              <a:t>Tengo</a:t>
            </a:r>
            <a:r>
              <a:rPr lang="en-GB" altLang="es-ES" dirty="0" smtClean="0">
                <a:solidFill>
                  <a:srgbClr val="800000"/>
                </a:solidFill>
              </a:rPr>
              <a:t> el 125% </a:t>
            </a:r>
            <a:r>
              <a:rPr lang="en-GB" altLang="es-ES" dirty="0" err="1" smtClean="0">
                <a:solidFill>
                  <a:srgbClr val="800000"/>
                </a:solidFill>
              </a:rPr>
              <a:t>respecto</a:t>
            </a:r>
            <a:r>
              <a:rPr lang="en-GB" altLang="es-ES" dirty="0" smtClean="0">
                <a:solidFill>
                  <a:srgbClr val="800000"/>
                </a:solidFill>
              </a:rPr>
              <a:t> a </a:t>
            </a:r>
            <a:r>
              <a:rPr lang="en-GB" altLang="es-ES" dirty="0" err="1" smtClean="0">
                <a:solidFill>
                  <a:srgbClr val="800000"/>
                </a:solidFill>
              </a:rPr>
              <a:t>ti</a:t>
            </a:r>
            <a:endParaRPr lang="en-GB" altLang="es-ES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8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 animBg="1" autoUpdateAnimBg="0"/>
      <p:bldP spid="13" grpId="0" animBg="1" autoUpdateAnimBg="0"/>
      <p:bldP spid="14" grpId="0" animBg="1" autoUpdateAnimBg="0"/>
      <p:bldP spid="16" grpId="0" animBg="1" autoUpdateAnimBg="0"/>
      <p:bldP spid="17" grpId="0" animBg="1" autoUpdateAnimBg="0"/>
      <p:bldP spid="1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18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188928" y="352824"/>
            <a:ext cx="8979877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rgbClr val="FFC000"/>
                </a:solidFill>
              </a:rPr>
              <a:t>Ejercicio</a:t>
            </a:r>
            <a:r>
              <a:rPr lang="en-GB" altLang="es-ES" dirty="0">
                <a:solidFill>
                  <a:srgbClr val="FFC000"/>
                </a:solidFill>
              </a:rPr>
              <a:t>: </a:t>
            </a:r>
          </a:p>
          <a:p>
            <a:r>
              <a:rPr lang="en-GB" altLang="es-ES" dirty="0" err="1">
                <a:solidFill>
                  <a:srgbClr val="FFC000"/>
                </a:solidFill>
              </a:rPr>
              <a:t>Consideremos</a:t>
            </a:r>
            <a:r>
              <a:rPr lang="en-GB" altLang="es-ES" dirty="0">
                <a:solidFill>
                  <a:srgbClr val="FFC000"/>
                </a:solidFill>
              </a:rPr>
              <a:t> los </a:t>
            </a:r>
            <a:r>
              <a:rPr lang="en-GB" altLang="es-ES" dirty="0" err="1">
                <a:solidFill>
                  <a:srgbClr val="FFC000"/>
                </a:solidFill>
              </a:rPr>
              <a:t>números</a:t>
            </a:r>
            <a:r>
              <a:rPr lang="en-GB" altLang="es-ES" dirty="0">
                <a:solidFill>
                  <a:srgbClr val="FFC000"/>
                </a:solidFill>
              </a:rPr>
              <a:t> del 1 al 100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818" y="1713633"/>
            <a:ext cx="4859338" cy="481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575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19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119910" y="459196"/>
            <a:ext cx="9662882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rgbClr val="FFC000"/>
                </a:solidFill>
              </a:rPr>
              <a:t>Ejercicio</a:t>
            </a:r>
            <a:r>
              <a:rPr lang="en-GB" altLang="es-ES" dirty="0">
                <a:solidFill>
                  <a:srgbClr val="FFC000"/>
                </a:solidFill>
              </a:rPr>
              <a:t>: </a:t>
            </a:r>
          </a:p>
          <a:p>
            <a:r>
              <a:rPr lang="en-GB" altLang="es-ES" dirty="0" err="1">
                <a:solidFill>
                  <a:srgbClr val="FFC000"/>
                </a:solidFill>
              </a:rPr>
              <a:t>Consideremos</a:t>
            </a:r>
            <a:r>
              <a:rPr lang="en-GB" altLang="es-ES" dirty="0">
                <a:solidFill>
                  <a:srgbClr val="FFC000"/>
                </a:solidFill>
              </a:rPr>
              <a:t> los </a:t>
            </a:r>
            <a:r>
              <a:rPr lang="en-GB" altLang="es-ES" dirty="0" err="1">
                <a:solidFill>
                  <a:srgbClr val="FFC000"/>
                </a:solidFill>
              </a:rPr>
              <a:t>números</a:t>
            </a:r>
            <a:r>
              <a:rPr lang="en-GB" altLang="es-ES" dirty="0">
                <a:solidFill>
                  <a:srgbClr val="FFC000"/>
                </a:solidFill>
              </a:rPr>
              <a:t> del 1 al 100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119910" y="2206585"/>
            <a:ext cx="657180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smtClean="0">
                <a:solidFill>
                  <a:schemeClr val="folHlink"/>
                </a:solidFill>
              </a:rPr>
              <a:t>¿</a:t>
            </a:r>
            <a:r>
              <a:rPr lang="en-GB" altLang="es-ES" dirty="0" err="1" smtClean="0">
                <a:solidFill>
                  <a:schemeClr val="folHlink"/>
                </a:solidFill>
              </a:rPr>
              <a:t>Qué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proporción</a:t>
            </a:r>
            <a:r>
              <a:rPr lang="en-GB" altLang="es-ES" dirty="0" smtClean="0">
                <a:solidFill>
                  <a:schemeClr val="folHlink"/>
                </a:solidFill>
              </a:rPr>
              <a:t> de </a:t>
            </a:r>
            <a:r>
              <a:rPr lang="en-GB" altLang="es-ES" dirty="0" err="1" smtClean="0">
                <a:solidFill>
                  <a:schemeClr val="folHlink"/>
                </a:solidFill>
              </a:rPr>
              <a:t>números</a:t>
            </a:r>
            <a:r>
              <a:rPr lang="en-GB" altLang="es-ES" dirty="0" smtClean="0">
                <a:solidFill>
                  <a:schemeClr val="folHlink"/>
                </a:solidFill>
              </a:rPr>
              <a:t>:</a:t>
            </a:r>
            <a:endParaRPr lang="en-GB" altLang="es-ES" dirty="0">
              <a:solidFill>
                <a:schemeClr val="folHlink"/>
              </a:solidFill>
            </a:endParaRPr>
          </a:p>
          <a:p>
            <a:pPr eaLnBrk="1" hangingPunct="1"/>
            <a:r>
              <a:rPr lang="en-GB" altLang="es-ES" dirty="0" smtClean="0">
                <a:solidFill>
                  <a:schemeClr val="tx2"/>
                </a:solidFill>
              </a:rPr>
              <a:t>Son </a:t>
            </a:r>
            <a:r>
              <a:rPr lang="en-GB" altLang="es-ES" dirty="0" err="1" smtClean="0">
                <a:solidFill>
                  <a:schemeClr val="tx2"/>
                </a:solidFill>
              </a:rPr>
              <a:t>impares</a:t>
            </a:r>
            <a:r>
              <a:rPr lang="en-GB" altLang="es-ES" dirty="0" smtClean="0">
                <a:solidFill>
                  <a:schemeClr val="tx2"/>
                </a:solidFill>
              </a:rPr>
              <a:t>?</a:t>
            </a:r>
            <a:endParaRPr lang="en-GB" altLang="es-ES" dirty="0">
              <a:solidFill>
                <a:schemeClr val="tx2"/>
              </a:solidFill>
            </a:endParaRPr>
          </a:p>
          <a:p>
            <a:pPr eaLnBrk="1" hangingPunct="1"/>
            <a:r>
              <a:rPr lang="en-GB" altLang="es-ES" dirty="0" smtClean="0">
                <a:solidFill>
                  <a:schemeClr val="tx2"/>
                </a:solidFill>
              </a:rPr>
              <a:t>Se </a:t>
            </a:r>
            <a:r>
              <a:rPr lang="en-GB" altLang="es-ES" dirty="0" err="1" smtClean="0">
                <a:solidFill>
                  <a:schemeClr val="tx2"/>
                </a:solidFill>
              </a:rPr>
              <a:t>encuentran</a:t>
            </a:r>
            <a:r>
              <a:rPr lang="en-GB" altLang="es-ES" dirty="0" smtClean="0">
                <a:solidFill>
                  <a:schemeClr val="tx2"/>
                </a:solidFill>
              </a:rPr>
              <a:t> entre 33 y 54 (sin </a:t>
            </a:r>
            <a:r>
              <a:rPr lang="en-GB" altLang="es-ES" dirty="0" err="1" smtClean="0">
                <a:solidFill>
                  <a:schemeClr val="tx2"/>
                </a:solidFill>
              </a:rPr>
              <a:t>incluirlos</a:t>
            </a:r>
            <a:r>
              <a:rPr lang="en-GB" altLang="es-ES" dirty="0" smtClean="0">
                <a:solidFill>
                  <a:schemeClr val="tx2"/>
                </a:solidFill>
              </a:rPr>
              <a:t> a </a:t>
            </a:r>
            <a:r>
              <a:rPr lang="en-GB" altLang="es-ES" dirty="0" err="1" smtClean="0">
                <a:solidFill>
                  <a:schemeClr val="tx2"/>
                </a:solidFill>
              </a:rPr>
              <a:t>estos</a:t>
            </a:r>
            <a:r>
              <a:rPr lang="en-GB" altLang="es-ES" dirty="0" smtClean="0">
                <a:solidFill>
                  <a:schemeClr val="tx2"/>
                </a:solidFill>
              </a:rPr>
              <a:t>)?</a:t>
            </a:r>
            <a:endParaRPr lang="en-GB" altLang="es-ES" dirty="0">
              <a:solidFill>
                <a:schemeClr val="tx2"/>
              </a:solidFill>
            </a:endParaRPr>
          </a:p>
          <a:p>
            <a:pPr eaLnBrk="1" hangingPunct="1"/>
            <a:r>
              <a:rPr lang="en-GB" altLang="es-ES" dirty="0" err="1" smtClean="0">
                <a:solidFill>
                  <a:schemeClr val="tx2"/>
                </a:solidFill>
              </a:rPr>
              <a:t>Contienen</a:t>
            </a:r>
            <a:r>
              <a:rPr lang="en-GB" altLang="es-ES" dirty="0" smtClean="0">
                <a:solidFill>
                  <a:schemeClr val="tx2"/>
                </a:solidFill>
              </a:rPr>
              <a:t> el </a:t>
            </a:r>
            <a:r>
              <a:rPr lang="en-GB" altLang="es-ES" dirty="0" err="1" smtClean="0">
                <a:solidFill>
                  <a:schemeClr val="tx2"/>
                </a:solidFill>
              </a:rPr>
              <a:t>número</a:t>
            </a:r>
            <a:r>
              <a:rPr lang="en-GB" altLang="es-ES" dirty="0" smtClean="0">
                <a:solidFill>
                  <a:schemeClr val="tx2"/>
                </a:solidFill>
              </a:rPr>
              <a:t> 3?</a:t>
            </a:r>
            <a:endParaRPr lang="en-GB" altLang="es-ES" dirty="0">
              <a:solidFill>
                <a:schemeClr val="tx2"/>
              </a:solidFill>
            </a:endParaRPr>
          </a:p>
          <a:p>
            <a:pPr eaLnBrk="1" hangingPunct="1"/>
            <a:r>
              <a:rPr lang="en-GB" altLang="es-ES" dirty="0" smtClean="0">
                <a:solidFill>
                  <a:schemeClr val="tx2"/>
                </a:solidFill>
              </a:rPr>
              <a:t>Son </a:t>
            </a:r>
            <a:r>
              <a:rPr lang="en-GB" altLang="es-ES" dirty="0" err="1" smtClean="0">
                <a:solidFill>
                  <a:schemeClr val="tx2"/>
                </a:solidFill>
              </a:rPr>
              <a:t>números</a:t>
            </a:r>
            <a:r>
              <a:rPr lang="en-GB" altLang="es-ES" dirty="0" smtClean="0">
                <a:solidFill>
                  <a:schemeClr val="tx2"/>
                </a:solidFill>
              </a:rPr>
              <a:t> </a:t>
            </a:r>
            <a:r>
              <a:rPr lang="en-GB" altLang="es-ES" dirty="0" err="1" smtClean="0">
                <a:solidFill>
                  <a:schemeClr val="tx2"/>
                </a:solidFill>
              </a:rPr>
              <a:t>primos</a:t>
            </a:r>
            <a:r>
              <a:rPr lang="en-GB" altLang="es-ES" dirty="0" smtClean="0">
                <a:solidFill>
                  <a:schemeClr val="tx2"/>
                </a:solidFill>
              </a:rPr>
              <a:t>?</a:t>
            </a:r>
            <a:endParaRPr lang="en-GB" altLang="es-ES" dirty="0">
              <a:solidFill>
                <a:schemeClr val="tx2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7866666" y="2642957"/>
            <a:ext cx="3135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800000"/>
                </a:solidFill>
              </a:rPr>
              <a:t>1 </a:t>
            </a:r>
            <a:r>
              <a:rPr lang="en-GB" altLang="es-ES" sz="2000" dirty="0" smtClean="0">
                <a:solidFill>
                  <a:srgbClr val="800000"/>
                </a:solidFill>
              </a:rPr>
              <a:t>de </a:t>
            </a:r>
            <a:r>
              <a:rPr lang="en-GB" altLang="es-ES" sz="2000" dirty="0" err="1" smtClean="0">
                <a:solidFill>
                  <a:srgbClr val="800000"/>
                </a:solidFill>
              </a:rPr>
              <a:t>cada</a:t>
            </a:r>
            <a:r>
              <a:rPr lang="en-GB" altLang="es-ES" sz="2000" dirty="0" smtClean="0">
                <a:solidFill>
                  <a:srgbClr val="800000"/>
                </a:solidFill>
              </a:rPr>
              <a:t> 2</a:t>
            </a:r>
            <a:r>
              <a:rPr lang="en-GB" altLang="es-ES" sz="2000" dirty="0">
                <a:solidFill>
                  <a:srgbClr val="800000"/>
                </a:solidFill>
              </a:rPr>
              <a:t>,  ½ , </a:t>
            </a:r>
            <a:r>
              <a:rPr lang="en-GB" altLang="es-ES" sz="2000" dirty="0" smtClean="0">
                <a:solidFill>
                  <a:srgbClr val="800000"/>
                </a:solidFill>
              </a:rPr>
              <a:t>o </a:t>
            </a:r>
            <a:r>
              <a:rPr lang="en-GB" altLang="es-ES" sz="2000" dirty="0">
                <a:solidFill>
                  <a:srgbClr val="800000"/>
                </a:solidFill>
              </a:rPr>
              <a:t>50%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7852379" y="3230332"/>
            <a:ext cx="3484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800000"/>
                </a:solidFill>
              </a:rPr>
              <a:t>20 </a:t>
            </a:r>
            <a:r>
              <a:rPr lang="en-GB" altLang="es-ES" sz="2000" dirty="0" smtClean="0">
                <a:solidFill>
                  <a:srgbClr val="800000"/>
                </a:solidFill>
              </a:rPr>
              <a:t>de </a:t>
            </a:r>
            <a:r>
              <a:rPr lang="en-GB" altLang="es-ES" sz="2000" dirty="0" err="1" smtClean="0">
                <a:solidFill>
                  <a:srgbClr val="800000"/>
                </a:solidFill>
              </a:rPr>
              <a:t>cada</a:t>
            </a:r>
            <a:r>
              <a:rPr lang="en-GB" altLang="es-ES" sz="2000" dirty="0" smtClean="0">
                <a:solidFill>
                  <a:srgbClr val="800000"/>
                </a:solidFill>
              </a:rPr>
              <a:t> 100</a:t>
            </a:r>
            <a:r>
              <a:rPr lang="en-GB" altLang="es-ES" sz="2000" dirty="0">
                <a:solidFill>
                  <a:srgbClr val="800000"/>
                </a:solidFill>
              </a:rPr>
              <a:t>, </a:t>
            </a:r>
            <a:r>
              <a:rPr lang="en-GB" altLang="es-ES" sz="2000" baseline="30000" dirty="0">
                <a:solidFill>
                  <a:srgbClr val="800000"/>
                </a:solidFill>
              </a:rPr>
              <a:t>1</a:t>
            </a:r>
            <a:r>
              <a:rPr lang="en-GB" altLang="es-ES" sz="2000" dirty="0">
                <a:solidFill>
                  <a:srgbClr val="800000"/>
                </a:solidFill>
              </a:rPr>
              <a:t>/</a:t>
            </a:r>
            <a:r>
              <a:rPr lang="en-GB" altLang="es-ES" sz="2000" baseline="-25000" dirty="0">
                <a:solidFill>
                  <a:srgbClr val="800000"/>
                </a:solidFill>
              </a:rPr>
              <a:t>5</a:t>
            </a:r>
            <a:r>
              <a:rPr lang="en-GB" altLang="es-ES" sz="2000" dirty="0">
                <a:solidFill>
                  <a:srgbClr val="800000"/>
                </a:solidFill>
              </a:rPr>
              <a:t> , </a:t>
            </a:r>
            <a:r>
              <a:rPr lang="en-GB" altLang="es-ES" sz="2000" dirty="0" smtClean="0">
                <a:solidFill>
                  <a:srgbClr val="800000"/>
                </a:solidFill>
              </a:rPr>
              <a:t>o </a:t>
            </a:r>
            <a:r>
              <a:rPr lang="en-GB" altLang="es-ES" sz="2000" dirty="0">
                <a:solidFill>
                  <a:srgbClr val="800000"/>
                </a:solidFill>
              </a:rPr>
              <a:t>20%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7852379" y="3744682"/>
            <a:ext cx="3484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800000"/>
                </a:solidFill>
              </a:rPr>
              <a:t>19 </a:t>
            </a:r>
            <a:r>
              <a:rPr lang="en-GB" altLang="es-ES" sz="2000" dirty="0" smtClean="0">
                <a:solidFill>
                  <a:srgbClr val="800000"/>
                </a:solidFill>
              </a:rPr>
              <a:t>de cada100</a:t>
            </a:r>
            <a:r>
              <a:rPr lang="en-GB" altLang="es-ES" sz="2000" dirty="0">
                <a:solidFill>
                  <a:srgbClr val="800000"/>
                </a:solidFill>
              </a:rPr>
              <a:t>, </a:t>
            </a:r>
            <a:r>
              <a:rPr lang="en-GB" altLang="es-ES" sz="2000" baseline="30000" dirty="0">
                <a:solidFill>
                  <a:srgbClr val="800000"/>
                </a:solidFill>
              </a:rPr>
              <a:t>19</a:t>
            </a:r>
            <a:r>
              <a:rPr lang="en-GB" altLang="es-ES" sz="2000" dirty="0">
                <a:solidFill>
                  <a:srgbClr val="800000"/>
                </a:solidFill>
              </a:rPr>
              <a:t>/</a:t>
            </a:r>
            <a:r>
              <a:rPr lang="en-GB" altLang="es-ES" sz="2000" baseline="-25000" dirty="0">
                <a:solidFill>
                  <a:srgbClr val="800000"/>
                </a:solidFill>
              </a:rPr>
              <a:t>100</a:t>
            </a:r>
            <a:r>
              <a:rPr lang="en-GB" altLang="es-ES" sz="2000" dirty="0">
                <a:solidFill>
                  <a:srgbClr val="800000"/>
                </a:solidFill>
              </a:rPr>
              <a:t> , </a:t>
            </a:r>
            <a:r>
              <a:rPr lang="en-GB" altLang="es-ES" sz="2000" dirty="0" smtClean="0">
                <a:solidFill>
                  <a:srgbClr val="800000"/>
                </a:solidFill>
              </a:rPr>
              <a:t>o 19</a:t>
            </a:r>
            <a:r>
              <a:rPr lang="en-GB" altLang="es-ES" sz="2000" dirty="0">
                <a:solidFill>
                  <a:srgbClr val="800000"/>
                </a:solidFill>
              </a:rPr>
              <a:t>%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7852379" y="4325707"/>
            <a:ext cx="3484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800000"/>
                </a:solidFill>
              </a:rPr>
              <a:t>25 </a:t>
            </a:r>
            <a:r>
              <a:rPr lang="en-GB" altLang="es-ES" sz="2000" dirty="0" smtClean="0">
                <a:solidFill>
                  <a:srgbClr val="800000"/>
                </a:solidFill>
              </a:rPr>
              <a:t>de cada100</a:t>
            </a:r>
            <a:r>
              <a:rPr lang="en-GB" altLang="es-ES" sz="2000" dirty="0">
                <a:solidFill>
                  <a:srgbClr val="800000"/>
                </a:solidFill>
              </a:rPr>
              <a:t>, </a:t>
            </a:r>
            <a:r>
              <a:rPr lang="en-GB" altLang="es-ES" sz="2000" baseline="30000" dirty="0">
                <a:solidFill>
                  <a:srgbClr val="800000"/>
                </a:solidFill>
              </a:rPr>
              <a:t>1</a:t>
            </a:r>
            <a:r>
              <a:rPr lang="en-GB" altLang="es-ES" sz="2000" dirty="0">
                <a:solidFill>
                  <a:srgbClr val="800000"/>
                </a:solidFill>
              </a:rPr>
              <a:t>/</a:t>
            </a:r>
            <a:r>
              <a:rPr lang="en-GB" altLang="es-ES" sz="2000" baseline="-25000" dirty="0">
                <a:solidFill>
                  <a:srgbClr val="800000"/>
                </a:solidFill>
              </a:rPr>
              <a:t>4</a:t>
            </a:r>
            <a:r>
              <a:rPr lang="en-GB" altLang="es-ES" sz="2000" dirty="0">
                <a:solidFill>
                  <a:srgbClr val="800000"/>
                </a:solidFill>
              </a:rPr>
              <a:t> , </a:t>
            </a:r>
            <a:r>
              <a:rPr lang="en-GB" altLang="es-ES" sz="2000" dirty="0" smtClean="0">
                <a:solidFill>
                  <a:srgbClr val="800000"/>
                </a:solidFill>
              </a:rPr>
              <a:t>o </a:t>
            </a:r>
            <a:r>
              <a:rPr lang="en-GB" altLang="es-ES" sz="2000" dirty="0">
                <a:solidFill>
                  <a:srgbClr val="800000"/>
                </a:solidFill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353356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2" grpId="0" autoUpdateAnimBg="0"/>
      <p:bldP spid="13" grpId="0" autoUpdateAnimBg="0"/>
      <p:bldP spid="14" grpId="0" autoUpdateAnimBg="0"/>
      <p:bldP spid="15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20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066800" y="381000"/>
            <a:ext cx="9504312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>
                <a:solidFill>
                  <a:srgbClr val="FFC000"/>
                </a:solidFill>
              </a:rPr>
              <a:t>Ejercicio</a:t>
            </a:r>
            <a:r>
              <a:rPr lang="en-GB" altLang="es-ES" dirty="0">
                <a:solidFill>
                  <a:srgbClr val="FFC000"/>
                </a:solidFill>
              </a:rPr>
              <a:t>: </a:t>
            </a:r>
          </a:p>
          <a:p>
            <a:r>
              <a:rPr lang="en-GB" altLang="es-ES" dirty="0" err="1">
                <a:solidFill>
                  <a:srgbClr val="FFC000"/>
                </a:solidFill>
              </a:rPr>
              <a:t>Consideremos</a:t>
            </a:r>
            <a:r>
              <a:rPr lang="en-GB" altLang="es-ES" dirty="0">
                <a:solidFill>
                  <a:srgbClr val="FFC000"/>
                </a:solidFill>
              </a:rPr>
              <a:t> los </a:t>
            </a:r>
            <a:r>
              <a:rPr lang="en-GB" altLang="es-ES" dirty="0" err="1">
                <a:solidFill>
                  <a:srgbClr val="FFC000"/>
                </a:solidFill>
              </a:rPr>
              <a:t>números</a:t>
            </a:r>
            <a:r>
              <a:rPr lang="en-GB" altLang="es-ES" dirty="0">
                <a:solidFill>
                  <a:srgbClr val="FFC000"/>
                </a:solidFill>
              </a:rPr>
              <a:t> del 1 al 100</a:t>
            </a: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089025" y="2162175"/>
            <a:ext cx="589121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smtClean="0">
                <a:solidFill>
                  <a:schemeClr val="folHlink"/>
                </a:solidFill>
              </a:rPr>
              <a:t>¿</a:t>
            </a:r>
            <a:r>
              <a:rPr lang="en-GB" altLang="es-ES" dirty="0" err="1" smtClean="0">
                <a:solidFill>
                  <a:schemeClr val="folHlink"/>
                </a:solidFill>
              </a:rPr>
              <a:t>Cuál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es</a:t>
            </a:r>
            <a:r>
              <a:rPr lang="en-GB" altLang="es-ES" dirty="0" smtClean="0">
                <a:solidFill>
                  <a:schemeClr val="folHlink"/>
                </a:solidFill>
              </a:rPr>
              <a:t> el ratio de:</a:t>
            </a:r>
            <a:endParaRPr lang="en-GB" altLang="es-ES" dirty="0">
              <a:solidFill>
                <a:schemeClr val="folHlink"/>
              </a:solidFill>
            </a:endParaRPr>
          </a:p>
          <a:p>
            <a:pPr eaLnBrk="1" hangingPunct="1"/>
            <a:r>
              <a:rPr lang="en-GB" altLang="es-ES" dirty="0" err="1" smtClean="0">
                <a:solidFill>
                  <a:schemeClr val="tx2"/>
                </a:solidFill>
              </a:rPr>
              <a:t>Números</a:t>
            </a:r>
            <a:r>
              <a:rPr lang="en-GB" altLang="es-ES" dirty="0" smtClean="0">
                <a:solidFill>
                  <a:schemeClr val="tx2"/>
                </a:solidFill>
              </a:rPr>
              <a:t> </a:t>
            </a:r>
            <a:r>
              <a:rPr lang="en-GB" altLang="es-ES" dirty="0" err="1" smtClean="0">
                <a:solidFill>
                  <a:schemeClr val="tx2"/>
                </a:solidFill>
              </a:rPr>
              <a:t>impares</a:t>
            </a:r>
            <a:r>
              <a:rPr lang="en-GB" altLang="es-ES" dirty="0" smtClean="0">
                <a:solidFill>
                  <a:schemeClr val="tx2"/>
                </a:solidFill>
              </a:rPr>
              <a:t> </a:t>
            </a:r>
            <a:r>
              <a:rPr lang="en-GB" altLang="es-ES" dirty="0" err="1" smtClean="0">
                <a:solidFill>
                  <a:schemeClr val="tx2"/>
                </a:solidFill>
              </a:rPr>
              <a:t>respecto</a:t>
            </a:r>
            <a:r>
              <a:rPr lang="en-GB" altLang="es-ES" dirty="0" smtClean="0">
                <a:solidFill>
                  <a:schemeClr val="tx2"/>
                </a:solidFill>
              </a:rPr>
              <a:t> a pares?</a:t>
            </a:r>
            <a:endParaRPr lang="en-GB" altLang="es-ES" dirty="0">
              <a:solidFill>
                <a:schemeClr val="tx2"/>
              </a:solidFill>
            </a:endParaRPr>
          </a:p>
          <a:p>
            <a:pPr eaLnBrk="1" hangingPunct="1"/>
            <a:r>
              <a:rPr lang="en-GB" altLang="es-ES" dirty="0" err="1" smtClean="0">
                <a:solidFill>
                  <a:schemeClr val="tx2"/>
                </a:solidFill>
              </a:rPr>
              <a:t>Múltiplos</a:t>
            </a:r>
            <a:r>
              <a:rPr lang="en-GB" altLang="es-ES" dirty="0" smtClean="0">
                <a:solidFill>
                  <a:schemeClr val="tx2"/>
                </a:solidFill>
              </a:rPr>
              <a:t> de 5 </a:t>
            </a:r>
            <a:r>
              <a:rPr lang="en-GB" altLang="es-ES" dirty="0" err="1" smtClean="0">
                <a:solidFill>
                  <a:schemeClr val="tx2"/>
                </a:solidFill>
              </a:rPr>
              <a:t>respecto</a:t>
            </a:r>
            <a:r>
              <a:rPr lang="en-GB" altLang="es-ES" dirty="0" smtClean="0">
                <a:solidFill>
                  <a:schemeClr val="tx2"/>
                </a:solidFill>
              </a:rPr>
              <a:t> a </a:t>
            </a:r>
            <a:r>
              <a:rPr lang="en-GB" altLang="es-ES" dirty="0" err="1" smtClean="0">
                <a:solidFill>
                  <a:schemeClr val="tx2"/>
                </a:solidFill>
              </a:rPr>
              <a:t>múltiplos</a:t>
            </a:r>
            <a:r>
              <a:rPr lang="en-GB" altLang="es-ES" dirty="0" smtClean="0">
                <a:solidFill>
                  <a:schemeClr val="tx2"/>
                </a:solidFill>
              </a:rPr>
              <a:t> de 4?</a:t>
            </a:r>
            <a:endParaRPr lang="en-GB" altLang="es-ES" dirty="0">
              <a:solidFill>
                <a:schemeClr val="tx2"/>
              </a:solidFill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8323729" y="2855106"/>
            <a:ext cx="25811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800000"/>
                </a:solidFill>
              </a:rPr>
              <a:t>50 </a:t>
            </a:r>
            <a:r>
              <a:rPr lang="en-GB" altLang="es-ES" sz="2000" dirty="0" err="1" smtClean="0">
                <a:solidFill>
                  <a:srgbClr val="800000"/>
                </a:solidFill>
              </a:rPr>
              <a:t>frente</a:t>
            </a:r>
            <a:r>
              <a:rPr lang="en-GB" altLang="es-ES" sz="2000" dirty="0" smtClean="0">
                <a:solidFill>
                  <a:srgbClr val="800000"/>
                </a:solidFill>
              </a:rPr>
              <a:t> a  </a:t>
            </a:r>
            <a:r>
              <a:rPr lang="en-GB" altLang="es-ES" sz="2000" dirty="0">
                <a:solidFill>
                  <a:srgbClr val="800000"/>
                </a:solidFill>
              </a:rPr>
              <a:t>50, </a:t>
            </a:r>
            <a:r>
              <a:rPr lang="en-GB" altLang="es-ES" sz="2000" dirty="0" smtClean="0">
                <a:solidFill>
                  <a:srgbClr val="800000"/>
                </a:solidFill>
              </a:rPr>
              <a:t>o </a:t>
            </a:r>
            <a:r>
              <a:rPr lang="en-GB" altLang="es-ES" sz="2000" dirty="0">
                <a:solidFill>
                  <a:srgbClr val="800000"/>
                </a:solidFill>
              </a:rPr>
              <a:t>1:1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8323729" y="3369456"/>
            <a:ext cx="272722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 dirty="0">
                <a:solidFill>
                  <a:srgbClr val="800000"/>
                </a:solidFill>
              </a:rPr>
              <a:t>20 </a:t>
            </a:r>
            <a:r>
              <a:rPr lang="en-GB" altLang="es-ES" sz="2000" dirty="0" err="1" smtClean="0">
                <a:solidFill>
                  <a:srgbClr val="800000"/>
                </a:solidFill>
              </a:rPr>
              <a:t>frente</a:t>
            </a:r>
            <a:r>
              <a:rPr lang="en-GB" altLang="es-ES" sz="2000" dirty="0" smtClean="0">
                <a:solidFill>
                  <a:srgbClr val="800000"/>
                </a:solidFill>
              </a:rPr>
              <a:t> a </a:t>
            </a:r>
            <a:r>
              <a:rPr lang="en-GB" altLang="es-ES" sz="2000" dirty="0">
                <a:solidFill>
                  <a:srgbClr val="800000"/>
                </a:solidFill>
              </a:rPr>
              <a:t>25 , </a:t>
            </a:r>
            <a:r>
              <a:rPr lang="en-GB" altLang="es-ES" sz="2000" dirty="0" smtClean="0">
                <a:solidFill>
                  <a:srgbClr val="800000"/>
                </a:solidFill>
              </a:rPr>
              <a:t>o </a:t>
            </a:r>
            <a:r>
              <a:rPr lang="en-GB" altLang="es-ES" sz="2000" dirty="0">
                <a:solidFill>
                  <a:srgbClr val="800000"/>
                </a:solidFill>
              </a:rPr>
              <a:t>4:5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1096820" y="4131536"/>
            <a:ext cx="85995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>
                <a:solidFill>
                  <a:schemeClr val="folHlink"/>
                </a:solidFill>
              </a:rPr>
              <a:t>¿</a:t>
            </a:r>
            <a:r>
              <a:rPr lang="en-GB" altLang="es-ES" dirty="0" err="1">
                <a:solidFill>
                  <a:schemeClr val="folHlink"/>
                </a:solidFill>
              </a:rPr>
              <a:t>Qué</a:t>
            </a:r>
            <a:r>
              <a:rPr lang="en-GB" altLang="es-ES" dirty="0">
                <a:solidFill>
                  <a:schemeClr val="folHlink"/>
                </a:solidFill>
              </a:rPr>
              <a:t> </a:t>
            </a:r>
            <a:r>
              <a:rPr lang="en-GB" altLang="es-ES" dirty="0" err="1">
                <a:solidFill>
                  <a:schemeClr val="folHlink"/>
                </a:solidFill>
              </a:rPr>
              <a:t>porcenaje</a:t>
            </a:r>
            <a:r>
              <a:rPr lang="en-GB" altLang="es-ES" dirty="0">
                <a:solidFill>
                  <a:schemeClr val="folHlink"/>
                </a:solidFill>
              </a:rPr>
              <a:t> de </a:t>
            </a:r>
            <a:r>
              <a:rPr lang="en-GB" altLang="es-ES" dirty="0" err="1">
                <a:solidFill>
                  <a:schemeClr val="folHlink"/>
                </a:solidFill>
              </a:rPr>
              <a:t>números</a:t>
            </a:r>
            <a:r>
              <a:rPr lang="en-GB" altLang="es-ES" dirty="0">
                <a:solidFill>
                  <a:schemeClr val="folHlink"/>
                </a:solidFill>
              </a:rPr>
              <a:t> </a:t>
            </a:r>
            <a:r>
              <a:rPr lang="en-GB" altLang="es-ES" dirty="0" err="1">
                <a:solidFill>
                  <a:schemeClr val="folHlink"/>
                </a:solidFill>
              </a:rPr>
              <a:t>tiene</a:t>
            </a:r>
            <a:r>
              <a:rPr lang="en-GB" altLang="es-ES" dirty="0">
                <a:solidFill>
                  <a:schemeClr val="folHlink"/>
                </a:solidFill>
              </a:rPr>
              <a:t> </a:t>
            </a:r>
            <a:r>
              <a:rPr lang="en-GB" altLang="es-ES" dirty="0" err="1">
                <a:solidFill>
                  <a:schemeClr val="folHlink"/>
                </a:solidFill>
              </a:rPr>
              <a:t>solamente</a:t>
            </a:r>
            <a:r>
              <a:rPr lang="en-GB" altLang="es-ES" dirty="0">
                <a:solidFill>
                  <a:schemeClr val="folHlink"/>
                </a:solidFill>
              </a:rPr>
              <a:t> </a:t>
            </a:r>
            <a:r>
              <a:rPr lang="en-GB" altLang="es-ES" dirty="0" err="1">
                <a:solidFill>
                  <a:schemeClr val="folHlink"/>
                </a:solidFill>
              </a:rPr>
              <a:t>números</a:t>
            </a:r>
            <a:r>
              <a:rPr lang="en-GB" altLang="es-ES" dirty="0">
                <a:solidFill>
                  <a:schemeClr val="folHlink"/>
                </a:solidFill>
              </a:rPr>
              <a:t> </a:t>
            </a:r>
            <a:r>
              <a:rPr lang="en-GB" altLang="es-ES" dirty="0" err="1">
                <a:solidFill>
                  <a:schemeClr val="folHlink"/>
                </a:solidFill>
              </a:rPr>
              <a:t>impares</a:t>
            </a:r>
            <a:r>
              <a:rPr lang="en-GB" altLang="es-ES" dirty="0">
                <a:solidFill>
                  <a:schemeClr val="folHlink"/>
                </a:solidFill>
              </a:rPr>
              <a:t>?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9094216" y="4297361"/>
            <a:ext cx="942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000">
                <a:solidFill>
                  <a:srgbClr val="800000"/>
                </a:solidFill>
              </a:rPr>
              <a:t>30%</a:t>
            </a:r>
          </a:p>
        </p:txBody>
      </p:sp>
    </p:spTree>
    <p:extLst>
      <p:ext uri="{BB962C8B-B14F-4D97-AF65-F5344CB8AC3E}">
        <p14:creationId xmlns:p14="http://schemas.microsoft.com/office/powerpoint/2010/main" val="226958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21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48510" y="381000"/>
            <a:ext cx="10283196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s-ES" dirty="0" err="1" smtClean="0">
                <a:solidFill>
                  <a:srgbClr val="FFC000"/>
                </a:solidFill>
              </a:rPr>
              <a:t>Ejercicio</a:t>
            </a:r>
            <a:r>
              <a:rPr lang="en-GB" altLang="es-ES" dirty="0" smtClean="0">
                <a:solidFill>
                  <a:srgbClr val="FFC000"/>
                </a:solidFill>
              </a:rPr>
              <a:t>: </a:t>
            </a:r>
            <a:r>
              <a:rPr lang="en-GB" altLang="es-ES" dirty="0" err="1" smtClean="0">
                <a:solidFill>
                  <a:srgbClr val="FFC000"/>
                </a:solidFill>
              </a:rPr>
              <a:t>Cálculo</a:t>
            </a:r>
            <a:r>
              <a:rPr lang="en-GB" altLang="es-ES" dirty="0" smtClean="0">
                <a:solidFill>
                  <a:srgbClr val="FFC000"/>
                </a:solidFill>
              </a:rPr>
              <a:t> del IVA</a:t>
            </a:r>
            <a:endParaRPr lang="en-GB" altLang="es-ES" dirty="0">
              <a:solidFill>
                <a:srgbClr val="FFC000"/>
              </a:solidFill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281262" y="1603375"/>
            <a:ext cx="999287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 smtClean="0">
                <a:solidFill>
                  <a:schemeClr val="folHlink"/>
                </a:solidFill>
              </a:rPr>
              <a:t>¿</a:t>
            </a:r>
            <a:r>
              <a:rPr lang="en-GB" altLang="es-ES" dirty="0" err="1" smtClean="0">
                <a:solidFill>
                  <a:schemeClr val="folHlink"/>
                </a:solidFill>
              </a:rPr>
              <a:t>Cómo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podemos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calcular</a:t>
            </a:r>
            <a:r>
              <a:rPr lang="en-GB" altLang="es-ES" dirty="0" smtClean="0">
                <a:solidFill>
                  <a:schemeClr val="folHlink"/>
                </a:solidFill>
              </a:rPr>
              <a:t> el IVA sin </a:t>
            </a:r>
            <a:r>
              <a:rPr lang="en-GB" altLang="es-ES" dirty="0" err="1" smtClean="0">
                <a:solidFill>
                  <a:schemeClr val="folHlink"/>
                </a:solidFill>
              </a:rPr>
              <a:t>calculadora</a:t>
            </a:r>
            <a:r>
              <a:rPr lang="en-GB" altLang="es-ES" dirty="0" smtClean="0">
                <a:solidFill>
                  <a:schemeClr val="folHlink"/>
                </a:solidFill>
              </a:rPr>
              <a:t>?</a:t>
            </a:r>
            <a:endParaRPr lang="en-GB" altLang="es-ES" dirty="0">
              <a:solidFill>
                <a:schemeClr val="folHlink"/>
              </a:solidFill>
            </a:endParaRPr>
          </a:p>
          <a:p>
            <a:pPr eaLnBrk="1" hangingPunct="1"/>
            <a:r>
              <a:rPr lang="en-GB" altLang="es-ES" dirty="0" err="1" smtClean="0">
                <a:solidFill>
                  <a:schemeClr val="tx2"/>
                </a:solidFill>
              </a:rPr>
              <a:t>Supongamos</a:t>
            </a:r>
            <a:r>
              <a:rPr lang="en-GB" altLang="es-ES" dirty="0" smtClean="0">
                <a:solidFill>
                  <a:schemeClr val="tx2"/>
                </a:solidFill>
              </a:rPr>
              <a:t> </a:t>
            </a:r>
            <a:r>
              <a:rPr lang="en-GB" altLang="es-ES" dirty="0" err="1" smtClean="0">
                <a:solidFill>
                  <a:schemeClr val="tx2"/>
                </a:solidFill>
              </a:rPr>
              <a:t>que</a:t>
            </a:r>
            <a:r>
              <a:rPr lang="en-GB" altLang="es-ES" dirty="0" smtClean="0">
                <a:solidFill>
                  <a:schemeClr val="tx2"/>
                </a:solidFill>
              </a:rPr>
              <a:t> el </a:t>
            </a:r>
            <a:r>
              <a:rPr lang="en-GB" altLang="es-ES" dirty="0" err="1" smtClean="0">
                <a:solidFill>
                  <a:schemeClr val="tx2"/>
                </a:solidFill>
              </a:rPr>
              <a:t>precio</a:t>
            </a:r>
            <a:r>
              <a:rPr lang="en-GB" altLang="es-ES" dirty="0" smtClean="0">
                <a:solidFill>
                  <a:schemeClr val="tx2"/>
                </a:solidFill>
              </a:rPr>
              <a:t> de los </a:t>
            </a:r>
            <a:r>
              <a:rPr lang="en-GB" altLang="es-ES" dirty="0" err="1" smtClean="0">
                <a:solidFill>
                  <a:schemeClr val="tx2"/>
                </a:solidFill>
              </a:rPr>
              <a:t>libros</a:t>
            </a:r>
            <a:r>
              <a:rPr lang="en-GB" altLang="es-ES" dirty="0" smtClean="0">
                <a:solidFill>
                  <a:schemeClr val="tx2"/>
                </a:solidFill>
              </a:rPr>
              <a:t> de </a:t>
            </a:r>
            <a:r>
              <a:rPr lang="en-GB" altLang="es-ES" dirty="0" err="1" smtClean="0">
                <a:solidFill>
                  <a:schemeClr val="tx2"/>
                </a:solidFill>
              </a:rPr>
              <a:t>texto</a:t>
            </a:r>
            <a:r>
              <a:rPr lang="en-GB" altLang="es-ES" dirty="0" smtClean="0">
                <a:solidFill>
                  <a:schemeClr val="tx2"/>
                </a:solidFill>
              </a:rPr>
              <a:t> (sin IVA) </a:t>
            </a:r>
            <a:r>
              <a:rPr lang="en-GB" altLang="es-ES" dirty="0" err="1" smtClean="0">
                <a:solidFill>
                  <a:schemeClr val="tx2"/>
                </a:solidFill>
              </a:rPr>
              <a:t>asciende</a:t>
            </a:r>
            <a:r>
              <a:rPr lang="en-GB" altLang="es-ES" dirty="0" smtClean="0">
                <a:solidFill>
                  <a:schemeClr val="tx2"/>
                </a:solidFill>
              </a:rPr>
              <a:t> a 120 euros y </a:t>
            </a:r>
            <a:r>
              <a:rPr lang="en-GB" altLang="es-ES" dirty="0" err="1" smtClean="0">
                <a:solidFill>
                  <a:schemeClr val="tx2"/>
                </a:solidFill>
              </a:rPr>
              <a:t>que</a:t>
            </a:r>
            <a:r>
              <a:rPr lang="en-GB" altLang="es-ES" dirty="0" smtClean="0">
                <a:solidFill>
                  <a:schemeClr val="tx2"/>
                </a:solidFill>
              </a:rPr>
              <a:t> el IVA </a:t>
            </a:r>
            <a:r>
              <a:rPr lang="en-GB" altLang="es-ES" dirty="0" err="1" smtClean="0">
                <a:solidFill>
                  <a:schemeClr val="tx2"/>
                </a:solidFill>
              </a:rPr>
              <a:t>asciende</a:t>
            </a:r>
            <a:r>
              <a:rPr lang="en-GB" altLang="es-ES" dirty="0" smtClean="0">
                <a:solidFill>
                  <a:schemeClr val="tx2"/>
                </a:solidFill>
              </a:rPr>
              <a:t> al </a:t>
            </a:r>
            <a:r>
              <a:rPr lang="en-GB" altLang="es-ES" b="1" dirty="0" smtClean="0">
                <a:solidFill>
                  <a:schemeClr val="tx2"/>
                </a:solidFill>
              </a:rPr>
              <a:t>17,5%.</a:t>
            </a:r>
            <a:endParaRPr lang="en-GB" altLang="es-ES" b="1" dirty="0">
              <a:solidFill>
                <a:schemeClr val="tx2"/>
              </a:solidFill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427885" y="3556000"/>
            <a:ext cx="7562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>
                <a:solidFill>
                  <a:schemeClr val="folHlink"/>
                </a:solidFill>
              </a:rPr>
              <a:t>17</a:t>
            </a:r>
            <a:r>
              <a:rPr lang="en-GB" altLang="es-ES" baseline="30000" dirty="0">
                <a:solidFill>
                  <a:schemeClr val="folHlink"/>
                </a:solidFill>
              </a:rPr>
              <a:t>1</a:t>
            </a:r>
            <a:r>
              <a:rPr lang="en-GB" altLang="es-ES" dirty="0">
                <a:solidFill>
                  <a:schemeClr val="folHlink"/>
                </a:solidFill>
              </a:rPr>
              <a:t>/</a:t>
            </a:r>
            <a:r>
              <a:rPr lang="en-GB" altLang="es-ES" baseline="-25000" dirty="0">
                <a:solidFill>
                  <a:schemeClr val="folHlink"/>
                </a:solidFill>
              </a:rPr>
              <a:t>2</a:t>
            </a:r>
            <a:r>
              <a:rPr lang="en-GB" altLang="es-ES" dirty="0">
                <a:solidFill>
                  <a:schemeClr val="folHlink"/>
                </a:solidFill>
              </a:rPr>
              <a:t>% = 10% + 5% + 2</a:t>
            </a:r>
            <a:r>
              <a:rPr lang="en-GB" altLang="es-ES" baseline="30000" dirty="0">
                <a:solidFill>
                  <a:schemeClr val="folHlink"/>
                </a:solidFill>
              </a:rPr>
              <a:t>1</a:t>
            </a:r>
            <a:r>
              <a:rPr lang="en-GB" altLang="es-ES" dirty="0">
                <a:solidFill>
                  <a:schemeClr val="folHlink"/>
                </a:solidFill>
              </a:rPr>
              <a:t>/</a:t>
            </a:r>
            <a:r>
              <a:rPr lang="en-GB" altLang="es-ES" baseline="-25000" dirty="0">
                <a:solidFill>
                  <a:schemeClr val="folHlink"/>
                </a:solidFill>
              </a:rPr>
              <a:t>2</a:t>
            </a:r>
            <a:r>
              <a:rPr lang="en-GB" altLang="es-ES" dirty="0">
                <a:solidFill>
                  <a:schemeClr val="folHlink"/>
                </a:solidFill>
              </a:rPr>
              <a:t>% … </a:t>
            </a:r>
            <a:r>
              <a:rPr lang="en-GB" altLang="es-ES" dirty="0" smtClean="0">
                <a:solidFill>
                  <a:schemeClr val="folHlink"/>
                </a:solidFill>
              </a:rPr>
              <a:t>¿Y </a:t>
            </a:r>
            <a:r>
              <a:rPr lang="en-GB" altLang="es-ES" dirty="0" err="1" smtClean="0">
                <a:solidFill>
                  <a:schemeClr val="folHlink"/>
                </a:solidFill>
              </a:rPr>
              <a:t>cómo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nos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ayuda</a:t>
            </a:r>
            <a:r>
              <a:rPr lang="en-GB" altLang="es-ES" dirty="0" smtClean="0">
                <a:solidFill>
                  <a:schemeClr val="folHlink"/>
                </a:solidFill>
              </a:rPr>
              <a:t> </a:t>
            </a:r>
            <a:r>
              <a:rPr lang="en-GB" altLang="es-ES" dirty="0" err="1" smtClean="0">
                <a:solidFill>
                  <a:schemeClr val="folHlink"/>
                </a:solidFill>
              </a:rPr>
              <a:t>esto</a:t>
            </a:r>
            <a:r>
              <a:rPr lang="en-GB" altLang="es-ES" dirty="0" smtClean="0">
                <a:solidFill>
                  <a:schemeClr val="folHlink"/>
                </a:solidFill>
              </a:rPr>
              <a:t>?</a:t>
            </a:r>
            <a:endParaRPr lang="en-GB" altLang="es-ES" dirty="0">
              <a:solidFill>
                <a:schemeClr val="folHlink"/>
              </a:solidFill>
            </a:endParaRP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661373" y="4441825"/>
            <a:ext cx="3616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/>
              <a:t>10%     </a:t>
            </a:r>
            <a:r>
              <a:rPr lang="en-GB" altLang="es-ES" dirty="0" smtClean="0"/>
              <a:t>de 120 €= 12 € </a:t>
            </a:r>
            <a:endParaRPr lang="en-GB" altLang="es-ES" dirty="0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6465023" y="4005263"/>
            <a:ext cx="41674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1800" i="1" dirty="0">
                <a:solidFill>
                  <a:srgbClr val="CC3300"/>
                </a:solidFill>
              </a:rPr>
              <a:t>10% </a:t>
            </a:r>
            <a:r>
              <a:rPr lang="en-GB" altLang="es-ES" sz="1800" i="1" dirty="0" err="1" smtClean="0">
                <a:solidFill>
                  <a:srgbClr val="CC3300"/>
                </a:solidFill>
              </a:rPr>
              <a:t>es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 lo </a:t>
            </a:r>
            <a:r>
              <a:rPr lang="en-GB" altLang="es-ES" sz="1800" i="1" dirty="0" err="1" smtClean="0">
                <a:solidFill>
                  <a:srgbClr val="CC3300"/>
                </a:solidFill>
              </a:rPr>
              <a:t>mismo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 </a:t>
            </a:r>
            <a:r>
              <a:rPr lang="en-GB" altLang="es-ES" sz="1800" i="1" dirty="0" err="1" smtClean="0">
                <a:solidFill>
                  <a:srgbClr val="CC3300"/>
                </a:solidFill>
              </a:rPr>
              <a:t>que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 </a:t>
            </a:r>
            <a:r>
              <a:rPr lang="en-GB" altLang="es-ES" sz="1800" i="1" baseline="30000" dirty="0" smtClean="0">
                <a:solidFill>
                  <a:srgbClr val="CC3300"/>
                </a:solidFill>
              </a:rPr>
              <a:t>1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/</a:t>
            </a:r>
            <a:r>
              <a:rPr lang="en-GB" altLang="es-ES" sz="1800" i="1" baseline="-25000" dirty="0" smtClean="0">
                <a:solidFill>
                  <a:srgbClr val="CC3300"/>
                </a:solidFill>
              </a:rPr>
              <a:t>10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 divider entre 10</a:t>
            </a:r>
            <a:endParaRPr lang="en-GB" altLang="es-ES" sz="1800" i="1" dirty="0">
              <a:solidFill>
                <a:srgbClr val="CC3300"/>
              </a:solidFill>
            </a:endParaRP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2829648" y="4927600"/>
            <a:ext cx="351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/>
              <a:t>5% </a:t>
            </a:r>
            <a:r>
              <a:rPr lang="en-GB" altLang="es-ES" dirty="0" smtClean="0"/>
              <a:t>    de </a:t>
            </a:r>
            <a:r>
              <a:rPr lang="en-GB" altLang="es-ES" dirty="0"/>
              <a:t>120 € </a:t>
            </a:r>
            <a:r>
              <a:rPr lang="en-GB" altLang="es-ES" dirty="0" smtClean="0"/>
              <a:t>= 6 </a:t>
            </a:r>
            <a:r>
              <a:rPr lang="en-GB" altLang="es-ES" dirty="0"/>
              <a:t>€</a:t>
            </a:r>
            <a:r>
              <a:rPr lang="en-GB" altLang="es-ES" dirty="0" smtClean="0"/>
              <a:t> </a:t>
            </a:r>
            <a:endParaRPr lang="en-GB" altLang="es-ES" dirty="0"/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2809010" y="5443538"/>
            <a:ext cx="3165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s-ES" dirty="0"/>
              <a:t>2</a:t>
            </a:r>
            <a:r>
              <a:rPr lang="en-GB" altLang="es-ES" baseline="30000" dirty="0"/>
              <a:t>1</a:t>
            </a:r>
            <a:r>
              <a:rPr lang="en-GB" altLang="es-ES" dirty="0"/>
              <a:t>/</a:t>
            </a:r>
            <a:r>
              <a:rPr lang="en-GB" altLang="es-ES" baseline="-25000" dirty="0"/>
              <a:t>2</a:t>
            </a:r>
            <a:r>
              <a:rPr lang="en-GB" altLang="es-ES" dirty="0"/>
              <a:t>% </a:t>
            </a:r>
            <a:r>
              <a:rPr lang="en-GB" altLang="es-ES" dirty="0" smtClean="0"/>
              <a:t> de </a:t>
            </a:r>
            <a:r>
              <a:rPr lang="en-GB" altLang="es-ES" dirty="0"/>
              <a:t>120 € </a:t>
            </a:r>
            <a:r>
              <a:rPr lang="en-GB" altLang="es-ES" dirty="0" smtClean="0"/>
              <a:t>= 3 </a:t>
            </a:r>
            <a:r>
              <a:rPr lang="en-GB" altLang="es-ES" dirty="0"/>
              <a:t>€</a:t>
            </a:r>
            <a:r>
              <a:rPr lang="en-GB" altLang="es-ES" dirty="0" smtClean="0"/>
              <a:t> </a:t>
            </a:r>
            <a:endParaRPr lang="en-GB" altLang="es-ES" dirty="0"/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2647085" y="5965825"/>
            <a:ext cx="10017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>
            <a:off x="4977535" y="5930900"/>
            <a:ext cx="654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2662960" y="5965825"/>
            <a:ext cx="3409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dirty="0">
                <a:solidFill>
                  <a:srgbClr val="800000"/>
                </a:solidFill>
              </a:rPr>
              <a:t>17</a:t>
            </a:r>
            <a:r>
              <a:rPr lang="en-GB" altLang="es-ES" baseline="30000" dirty="0">
                <a:solidFill>
                  <a:srgbClr val="800000"/>
                </a:solidFill>
              </a:rPr>
              <a:t>1</a:t>
            </a:r>
            <a:r>
              <a:rPr lang="en-GB" altLang="es-ES" dirty="0">
                <a:solidFill>
                  <a:srgbClr val="800000"/>
                </a:solidFill>
              </a:rPr>
              <a:t>/</a:t>
            </a:r>
            <a:r>
              <a:rPr lang="en-GB" altLang="es-ES" baseline="-25000" dirty="0">
                <a:solidFill>
                  <a:srgbClr val="800000"/>
                </a:solidFill>
              </a:rPr>
              <a:t>2</a:t>
            </a:r>
            <a:r>
              <a:rPr lang="en-GB" altLang="es-ES" dirty="0">
                <a:solidFill>
                  <a:srgbClr val="800000"/>
                </a:solidFill>
              </a:rPr>
              <a:t>%                </a:t>
            </a:r>
            <a:r>
              <a:rPr lang="en-GB" altLang="es-ES" dirty="0"/>
              <a:t>=</a:t>
            </a:r>
            <a:r>
              <a:rPr lang="en-GB" altLang="es-ES" dirty="0">
                <a:solidFill>
                  <a:srgbClr val="800000"/>
                </a:solidFill>
              </a:rPr>
              <a:t> </a:t>
            </a:r>
            <a:r>
              <a:rPr lang="en-GB" altLang="es-ES" dirty="0" smtClean="0">
                <a:solidFill>
                  <a:srgbClr val="800000"/>
                </a:solidFill>
              </a:rPr>
              <a:t> 21 €</a:t>
            </a:r>
            <a:endParaRPr lang="en-GB" altLang="es-ES" dirty="0">
              <a:solidFill>
                <a:srgbClr val="800000"/>
              </a:solidFill>
            </a:endParaRPr>
          </a:p>
        </p:txBody>
      </p:sp>
      <p:sp>
        <p:nvSpPr>
          <p:cNvPr id="20" name="AutoShape 12"/>
          <p:cNvSpPr>
            <a:spLocks noChangeArrowheads="1"/>
          </p:cNvSpPr>
          <p:nvPr/>
        </p:nvSpPr>
        <p:spPr bwMode="auto">
          <a:xfrm>
            <a:off x="2280373" y="4606925"/>
            <a:ext cx="338137" cy="576263"/>
          </a:xfrm>
          <a:prstGeom prst="curvedRightArrow">
            <a:avLst>
              <a:gd name="adj1" fmla="val 34085"/>
              <a:gd name="adj2" fmla="val 68169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21" name="AutoShape 13"/>
          <p:cNvSpPr>
            <a:spLocks noChangeArrowheads="1"/>
          </p:cNvSpPr>
          <p:nvPr/>
        </p:nvSpPr>
        <p:spPr bwMode="auto">
          <a:xfrm>
            <a:off x="2272435" y="5222875"/>
            <a:ext cx="338138" cy="576263"/>
          </a:xfrm>
          <a:prstGeom prst="curvedRightArrow">
            <a:avLst>
              <a:gd name="adj1" fmla="val 34084"/>
              <a:gd name="adj2" fmla="val 68169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22" name="AutoShape 14"/>
          <p:cNvSpPr>
            <a:spLocks noChangeArrowheads="1"/>
          </p:cNvSpPr>
          <p:nvPr/>
        </p:nvSpPr>
        <p:spPr bwMode="auto">
          <a:xfrm flipH="1">
            <a:off x="5734772" y="5241131"/>
            <a:ext cx="338138" cy="576263"/>
          </a:xfrm>
          <a:prstGeom prst="curvedRightArrow">
            <a:avLst>
              <a:gd name="adj1" fmla="val 34084"/>
              <a:gd name="adj2" fmla="val 68169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23" name="AutoShape 15"/>
          <p:cNvSpPr>
            <a:spLocks noChangeArrowheads="1"/>
          </p:cNvSpPr>
          <p:nvPr/>
        </p:nvSpPr>
        <p:spPr bwMode="auto">
          <a:xfrm flipH="1">
            <a:off x="5722866" y="4629150"/>
            <a:ext cx="338138" cy="576263"/>
          </a:xfrm>
          <a:prstGeom prst="curvedRightArrow">
            <a:avLst>
              <a:gd name="adj1" fmla="val 34084"/>
              <a:gd name="adj2" fmla="val 68169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1516785" y="4629150"/>
            <a:ext cx="650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en-GB" altLang="es-ES" sz="2800">
                <a:sym typeface="Symbol" panose="05050102010706020507" pitchFamily="18" charset="2"/>
              </a:rPr>
              <a:t> </a:t>
            </a:r>
            <a:r>
              <a:rPr lang="en-GB" altLang="es-ES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1524723" y="5216525"/>
            <a:ext cx="6508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en-GB" altLang="es-ES" sz="2800">
                <a:sym typeface="Symbol" panose="05050102010706020507" pitchFamily="18" charset="2"/>
              </a:rPr>
              <a:t> </a:t>
            </a:r>
            <a:r>
              <a:rPr lang="en-GB" altLang="es-ES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6135289" y="4604783"/>
            <a:ext cx="650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800" dirty="0">
                <a:sym typeface="Symbol" panose="05050102010706020507" pitchFamily="18" charset="2"/>
              </a:rPr>
              <a:t> </a:t>
            </a:r>
            <a:r>
              <a:rPr lang="en-GB" altLang="es-ES" dirty="0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6135289" y="5154613"/>
            <a:ext cx="650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2800" dirty="0">
                <a:sym typeface="Symbol" panose="05050102010706020507" pitchFamily="18" charset="2"/>
              </a:rPr>
              <a:t> </a:t>
            </a:r>
            <a:r>
              <a:rPr lang="en-GB" altLang="es-ES" dirty="0"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 flipV="1">
            <a:off x="3402735" y="4179888"/>
            <a:ext cx="3048000" cy="276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s-ES"/>
          </a:p>
        </p:txBody>
      </p:sp>
      <p:sp>
        <p:nvSpPr>
          <p:cNvPr id="29" name="Text Box 6"/>
          <p:cNvSpPr txBox="1">
            <a:spLocks noChangeArrowheads="1"/>
          </p:cNvSpPr>
          <p:nvPr/>
        </p:nvSpPr>
        <p:spPr bwMode="auto">
          <a:xfrm>
            <a:off x="6135289" y="5926833"/>
            <a:ext cx="416748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s-ES" sz="1800" i="1" dirty="0" smtClean="0">
                <a:solidFill>
                  <a:srgbClr val="CC3300"/>
                </a:solidFill>
              </a:rPr>
              <a:t>Hay </a:t>
            </a:r>
            <a:r>
              <a:rPr lang="en-GB" altLang="es-ES" sz="1800" i="1" dirty="0" err="1" smtClean="0">
                <a:solidFill>
                  <a:srgbClr val="CC3300"/>
                </a:solidFill>
              </a:rPr>
              <a:t>que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 </a:t>
            </a:r>
            <a:r>
              <a:rPr lang="en-GB" altLang="es-ES" sz="1800" i="1" dirty="0" err="1" smtClean="0">
                <a:solidFill>
                  <a:srgbClr val="CC3300"/>
                </a:solidFill>
              </a:rPr>
              <a:t>pagar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 21 € en </a:t>
            </a:r>
            <a:r>
              <a:rPr lang="en-GB" altLang="es-ES" sz="1800" i="1" dirty="0" err="1" smtClean="0">
                <a:solidFill>
                  <a:srgbClr val="CC3300"/>
                </a:solidFill>
              </a:rPr>
              <a:t>concepto</a:t>
            </a:r>
            <a:r>
              <a:rPr lang="en-GB" altLang="es-ES" sz="1800" i="1" dirty="0" smtClean="0">
                <a:solidFill>
                  <a:srgbClr val="CC3300"/>
                </a:solidFill>
              </a:rPr>
              <a:t> de IVA</a:t>
            </a:r>
            <a:endParaRPr lang="en-GB" altLang="es-ES" sz="1800" i="1" dirty="0">
              <a:solidFill>
                <a:srgbClr val="CC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28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nimBg="1"/>
      <p:bldP spid="18" grpId="0" animBg="1"/>
      <p:bldP spid="19" grpId="0" autoUpdateAnimBg="0"/>
      <p:bldP spid="24" grpId="0" autoUpdateAnimBg="0"/>
      <p:bldP spid="25" grpId="0" autoUpdateAnimBg="0"/>
      <p:bldP spid="26" grpId="0" autoUpdateAnimBg="0"/>
      <p:bldP spid="27" grpId="0" autoUpdateAnimBg="0"/>
      <p:bldP spid="28" grpId="0" animBg="1"/>
      <p:bldP spid="29" grpId="0" autoUpdateAnimBg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926</Words>
  <Application>Microsoft Office PowerPoint</Application>
  <PresentationFormat>Panorámica</PresentationFormat>
  <Paragraphs>204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0" baseType="lpstr">
      <vt:lpstr>Arial</vt:lpstr>
      <vt:lpstr>AvantGarde</vt:lpstr>
      <vt:lpstr>Calibri</vt:lpstr>
      <vt:lpstr>Calibri Light</vt:lpstr>
      <vt:lpstr>Symbol</vt:lpstr>
      <vt:lpstr>Times New Roman</vt:lpstr>
      <vt:lpstr>Verdana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Matilde Lafuente</dc:creator>
  <cp:lastModifiedBy>Cristina Vilaplana Prieto</cp:lastModifiedBy>
  <cp:revision>110</cp:revision>
  <dcterms:created xsi:type="dcterms:W3CDTF">2017-01-18T18:04:43Z</dcterms:created>
  <dcterms:modified xsi:type="dcterms:W3CDTF">2017-09-05T16:42:59Z</dcterms:modified>
</cp:coreProperties>
</file>